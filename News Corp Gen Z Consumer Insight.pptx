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8288000" cy="10287000"/>
  <p:notesSz cx="6858000" cy="9144000"/>
  <p:embeddedFontLst>
    <p:embeddedFont>
      <p:font typeface="Futura" panose="020B0602020204020303" pitchFamily="34" charset="-79"/>
      <p:regular r:id="rId23"/>
    </p:embeddedFont>
    <p:embeddedFont>
      <p:font typeface="Futura Bold" panose="020B0602020204020303" pitchFamily="34" charset="-79"/>
      <p:regular r:id="rId24"/>
      <p:italic r:id="rId25"/>
      <p:boldItalic r:id="rId26"/>
    </p:embeddedFont>
    <p:embeddedFont>
      <p:font typeface="Garet" pitchFamily="2" charset="77"/>
      <p:regular r:id="rId27"/>
    </p:embeddedFont>
    <p:embeddedFont>
      <p:font typeface="Garet Bold" pitchFamily="2" charset="77"/>
      <p:regular r:id="rId28"/>
      <p:bold r:id="rId29"/>
    </p:embeddedFont>
    <p:embeddedFont>
      <p:font typeface="HK Grotesk" pitchFamily="2" charset="77"/>
      <p:regular r:id="rId30"/>
    </p:embeddedFont>
    <p:embeddedFont>
      <p:font typeface="Inter" panose="020B0502030000000004" pitchFamily="34" charset="0"/>
      <p:regular r:id="rId31"/>
    </p:embeddedFont>
    <p:embeddedFont>
      <p:font typeface="Inter Bold" panose="020B0802030000000004" pitchFamily="34" charset="0"/>
      <p:regular r:id="rId32"/>
      <p:bold r:id="rId33"/>
    </p:embeddedFont>
    <p:embeddedFont>
      <p:font typeface="Inter Italics" panose="020B0502030000000004" pitchFamily="34" charset="0"/>
      <p:regular r:id="rId34"/>
      <p:italic r:id="rId35"/>
    </p:embeddedFont>
    <p:embeddedFont>
      <p:font typeface="Kitchakan Bold" pitchFamily="2" charset="-34"/>
      <p:regular r:id="rId36"/>
      <p:bold r:id="rId37"/>
    </p:embeddedFont>
    <p:embeddedFont>
      <p:font typeface="Telegraf" pitchFamily="2" charset="77"/>
      <p:regular r:id="rId3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4451" autoAdjust="0"/>
    <p:restoredTop sz="84789" autoAdjust="0"/>
  </p:normalViewPr>
  <p:slideViewPr>
    <p:cSldViewPr>
      <p:cViewPr varScale="1">
        <p:scale>
          <a:sx n="69" d="100"/>
          <a:sy n="69" d="100"/>
        </p:scale>
        <p:origin x="256" y="20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4.fntdata"/><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font" Target="fonts/font12.fntdata"/><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7.fntdata"/><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2.fntdata"/><Relationship Id="rId32" Type="http://schemas.openxmlformats.org/officeDocument/2006/relationships/font" Target="fonts/font10.fntdata"/><Relationship Id="rId37" Type="http://schemas.openxmlformats.org/officeDocument/2006/relationships/font" Target="fonts/font15.fntdata"/><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1.fntdata"/><Relationship Id="rId28" Type="http://schemas.openxmlformats.org/officeDocument/2006/relationships/font" Target="fonts/font6.fntdata"/><Relationship Id="rId36" Type="http://schemas.openxmlformats.org/officeDocument/2006/relationships/font" Target="fonts/font14.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9.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font" Target="fonts/font5.fntdata"/><Relationship Id="rId30" Type="http://schemas.openxmlformats.org/officeDocument/2006/relationships/font" Target="fonts/font8.fntdata"/><Relationship Id="rId35" Type="http://schemas.openxmlformats.org/officeDocument/2006/relationships/font" Target="fonts/font13.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3.fntdata"/><Relationship Id="rId33" Type="http://schemas.openxmlformats.org/officeDocument/2006/relationships/font" Target="fonts/font11.fntdata"/><Relationship Id="rId38"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0DA7FD4-6778-384C-A22D-E501B9850ADE}" type="datetimeFigureOut">
              <a:rPr lang="en-US" smtClean="0"/>
              <a:t>10/15/25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E02BF0A-1278-9247-8DDC-12B40AC7664C}" type="slidenum">
              <a:rPr lang="en-US" smtClean="0"/>
              <a:t>‹#›</a:t>
            </a:fld>
            <a:endParaRPr lang="en-US"/>
          </a:p>
        </p:txBody>
      </p:sp>
    </p:spTree>
    <p:extLst>
      <p:ext uri="{BB962C8B-B14F-4D97-AF65-F5344CB8AC3E}">
        <p14:creationId xmlns:p14="http://schemas.microsoft.com/office/powerpoint/2010/main" val="30231950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Hello Everyone. I want to start with a quote from a 22-year-old survey respondent: 'I wish news apps would do what Spotify does—actually learn what I care about.' This simple statement encapsulates our core problem: </a:t>
            </a:r>
            <a:r>
              <a:rPr lang="en-US" b="1" i="0" u="none" strike="noStrike" dirty="0">
                <a:solidFill>
                  <a:srgbClr val="000000"/>
                </a:solidFill>
                <a:effectLst/>
                <a:latin typeface="Times New Roman" panose="02020603050405020304" pitchFamily="18" charset="0"/>
                <a:cs typeface="Times New Roman" panose="02020603050405020304" pitchFamily="18" charset="0"/>
              </a:rPr>
              <a:t>Gen Z is accustomed to personalization magic, but they feel news apps are giving them a generic experience.</a:t>
            </a:r>
            <a:r>
              <a:rPr lang="en-US" b="0" i="0" u="none" strike="noStrike" dirty="0">
                <a:solidFill>
                  <a:srgbClr val="000000"/>
                </a:solidFill>
                <a:effectLst/>
                <a:latin typeface="Times New Roman" panose="02020603050405020304" pitchFamily="18" charset="0"/>
                <a:cs typeface="Times New Roman" panose="02020603050405020304" pitchFamily="18" charset="0"/>
              </a:rPr>
              <a:t> We are here today to resolve that gap.</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1</a:t>
            </a:fld>
            <a:endParaRPr lang="en-US"/>
          </a:p>
        </p:txBody>
      </p:sp>
    </p:spTree>
    <p:extLst>
      <p:ext uri="{BB962C8B-B14F-4D97-AF65-F5344CB8AC3E}">
        <p14:creationId xmlns:p14="http://schemas.microsoft.com/office/powerpoint/2010/main" val="157737658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i="0" u="none" strike="noStrike" dirty="0">
                <a:solidFill>
                  <a:srgbClr val="000000"/>
                </a:solidFill>
                <a:effectLst/>
                <a:latin typeface="Times New Roman" panose="02020603050405020304" pitchFamily="18" charset="0"/>
                <a:cs typeface="Times New Roman" panose="02020603050405020304" pitchFamily="18" charset="0"/>
              </a:rPr>
              <a:t>Note:  next few slides will cover Act 1 of three phase presentation on consumer insight.</a:t>
            </a:r>
          </a:p>
          <a:p>
            <a:pPr marL="171450" indent="-171450">
              <a:buFont typeface="Arial" panose="020B0604020202020204" pitchFamily="34" charset="0"/>
              <a:buChar char="•"/>
            </a:pPr>
            <a:r>
              <a:rPr lang="en-US" b="1" i="0" u="none" strike="noStrike" dirty="0">
                <a:solidFill>
                  <a:srgbClr val="000000"/>
                </a:solidFill>
                <a:effectLst/>
                <a:latin typeface="Times New Roman" panose="02020603050405020304" pitchFamily="18" charset="0"/>
                <a:cs typeface="Times New Roman" panose="02020603050405020304" pitchFamily="18" charset="0"/>
              </a:rPr>
              <a:t>ACT 1: The User Problem (The Setup)</a:t>
            </a:r>
          </a:p>
          <a:p>
            <a:pPr marL="0" indent="0">
              <a:buFont typeface="Arial" panose="020B0604020202020204" pitchFamily="34" charset="0"/>
              <a:buNone/>
            </a:pP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marL="0" indent="0">
              <a:buFont typeface="Arial" panose="020B0604020202020204" pitchFamily="34" charset="0"/>
              <a:buNone/>
            </a:pPr>
            <a:r>
              <a:rPr lang="en-US" b="0" i="0" u="none" strike="noStrike" dirty="0">
                <a:solidFill>
                  <a:srgbClr val="000000"/>
                </a:solidFill>
                <a:effectLst/>
                <a:latin typeface="Times New Roman" panose="02020603050405020304" pitchFamily="18" charset="0"/>
                <a:cs typeface="Times New Roman" panose="02020603050405020304" pitchFamily="18" charset="0"/>
              </a:rPr>
              <a:t>Our research confirms we have an immediate problem, defined by five major frictions: </a:t>
            </a:r>
            <a:r>
              <a:rPr lang="en-US" b="1" i="0" u="none" strike="noStrike" dirty="0">
                <a:solidFill>
                  <a:srgbClr val="000000"/>
                </a:solidFill>
                <a:effectLst/>
                <a:latin typeface="Times New Roman" panose="02020603050405020304" pitchFamily="18" charset="0"/>
                <a:cs typeface="Times New Roman" panose="02020603050405020304" pitchFamily="18" charset="0"/>
              </a:rPr>
              <a:t>1. Ineffective Personalization.</a:t>
            </a:r>
            <a:r>
              <a:rPr lang="en-US" b="0" i="0" u="none" strike="noStrike" dirty="0">
                <a:solidFill>
                  <a:srgbClr val="000000"/>
                </a:solidFill>
                <a:effectLst/>
                <a:latin typeface="Times New Roman" panose="02020603050405020304" pitchFamily="18" charset="0"/>
                <a:cs typeface="Times New Roman" panose="02020603050405020304" pitchFamily="18" charset="0"/>
              </a:rPr>
              <a:t> A stunning </a:t>
            </a:r>
            <a:r>
              <a:rPr lang="en-US" b="1" i="0" u="none" strike="noStrike" dirty="0">
                <a:solidFill>
                  <a:srgbClr val="000000"/>
                </a:solidFill>
                <a:effectLst/>
                <a:latin typeface="Times New Roman" panose="02020603050405020304" pitchFamily="18" charset="0"/>
                <a:cs typeface="Times New Roman" panose="02020603050405020304" pitchFamily="18" charset="0"/>
              </a:rPr>
              <a:t>26%</a:t>
            </a:r>
            <a:r>
              <a:rPr lang="en-US" b="0" i="0" u="none" strike="noStrike" dirty="0">
                <a:solidFill>
                  <a:srgbClr val="000000"/>
                </a:solidFill>
                <a:effectLst/>
                <a:latin typeface="Times New Roman" panose="02020603050405020304" pitchFamily="18" charset="0"/>
                <a:cs typeface="Times New Roman" panose="02020603050405020304" pitchFamily="18" charset="0"/>
              </a:rPr>
              <a:t> of Gen Z users report they </a:t>
            </a:r>
            <a:r>
              <a:rPr lang="en-US" b="1" i="0" u="none" strike="noStrike" dirty="0">
                <a:solidFill>
                  <a:srgbClr val="000000"/>
                </a:solidFill>
                <a:effectLst/>
                <a:latin typeface="Times New Roman" panose="02020603050405020304" pitchFamily="18" charset="0"/>
                <a:cs typeface="Times New Roman" panose="02020603050405020304" pitchFamily="18" charset="0"/>
              </a:rPr>
              <a:t>never notice</a:t>
            </a:r>
            <a:r>
              <a:rPr lang="en-US" b="0" i="0" u="none" strike="noStrike" dirty="0">
                <a:solidFill>
                  <a:srgbClr val="000000"/>
                </a:solidFill>
                <a:effectLst/>
                <a:latin typeface="Times New Roman" panose="02020603050405020304" pitchFamily="18" charset="0"/>
                <a:cs typeface="Times New Roman" panose="02020603050405020304" pitchFamily="18" charset="0"/>
              </a:rPr>
              <a:t> or use personalized features. </a:t>
            </a:r>
            <a:r>
              <a:rPr lang="en-US" b="1" i="0" u="none" strike="noStrike" dirty="0">
                <a:solidFill>
                  <a:srgbClr val="000000"/>
                </a:solidFill>
                <a:effectLst/>
                <a:latin typeface="Times New Roman" panose="02020603050405020304" pitchFamily="18" charset="0"/>
                <a:cs typeface="Times New Roman" panose="02020603050405020304" pitchFamily="18" charset="0"/>
              </a:rPr>
              <a:t>2. The Trust Crisis.</a:t>
            </a:r>
            <a:r>
              <a:rPr lang="en-US" b="0" i="0" u="none" strike="noStrike" dirty="0">
                <a:solidFill>
                  <a:srgbClr val="000000"/>
                </a:solidFill>
                <a:effectLst/>
                <a:latin typeface="Times New Roman" panose="02020603050405020304" pitchFamily="18" charset="0"/>
                <a:cs typeface="Times New Roman" panose="02020603050405020304" pitchFamily="18" charset="0"/>
              </a:rPr>
              <a:t> They are highly skeptical, leading to a </a:t>
            </a:r>
            <a:r>
              <a:rPr lang="en-US" b="1" i="0" u="none" strike="noStrike" dirty="0">
                <a:solidFill>
                  <a:srgbClr val="000000"/>
                </a:solidFill>
                <a:effectLst/>
                <a:latin typeface="Times New Roman" panose="02020603050405020304" pitchFamily="18" charset="0"/>
                <a:cs typeface="Times New Roman" panose="02020603050405020304" pitchFamily="18" charset="0"/>
              </a:rPr>
              <a:t>42% trust deficit</a:t>
            </a:r>
            <a:r>
              <a:rPr lang="en-US" b="0" i="0" u="none" strike="noStrike" dirty="0">
                <a:solidFill>
                  <a:srgbClr val="000000"/>
                </a:solidFill>
                <a:effectLst/>
                <a:latin typeface="Times New Roman" panose="02020603050405020304" pitchFamily="18" charset="0"/>
                <a:cs typeface="Times New Roman" panose="02020603050405020304" pitchFamily="18" charset="0"/>
              </a:rPr>
              <a:t> in news apps using their data responsibly. </a:t>
            </a:r>
            <a:r>
              <a:rPr lang="en-US" b="1" i="0" u="none" strike="noStrike" dirty="0">
                <a:solidFill>
                  <a:srgbClr val="000000"/>
                </a:solidFill>
                <a:effectLst/>
                <a:latin typeface="Times New Roman" panose="02020603050405020304" pitchFamily="18" charset="0"/>
                <a:cs typeface="Times New Roman" panose="02020603050405020304" pitchFamily="18" charset="0"/>
              </a:rPr>
              <a:t>3. Lack of Transparency.</a:t>
            </a:r>
            <a:r>
              <a:rPr lang="en-US" b="0" i="0" u="none" strike="noStrike" dirty="0">
                <a:solidFill>
                  <a:srgbClr val="000000"/>
                </a:solidFill>
                <a:effectLst/>
                <a:latin typeface="Times New Roman" panose="02020603050405020304" pitchFamily="18" charset="0"/>
                <a:cs typeface="Times New Roman" panose="02020603050405020304" pitchFamily="18" charset="0"/>
              </a:rPr>
              <a:t> They want to know </a:t>
            </a:r>
            <a:r>
              <a:rPr lang="en-US" b="0" i="1" u="none" strike="noStrike" dirty="0">
                <a:solidFill>
                  <a:srgbClr val="000000"/>
                </a:solidFill>
                <a:effectLst/>
                <a:latin typeface="Times New Roman" panose="02020603050405020304" pitchFamily="18" charset="0"/>
                <a:cs typeface="Times New Roman" panose="02020603050405020304" pitchFamily="18" charset="0"/>
              </a:rPr>
              <a:t>why</a:t>
            </a:r>
            <a:r>
              <a:rPr lang="en-US" b="0" i="0" u="none" strike="noStrike" dirty="0">
                <a:solidFill>
                  <a:srgbClr val="000000"/>
                </a:solidFill>
                <a:effectLst/>
                <a:latin typeface="Times New Roman" panose="02020603050405020304" pitchFamily="18" charset="0"/>
                <a:cs typeface="Times New Roman" panose="02020603050405020304" pitchFamily="18" charset="0"/>
              </a:rPr>
              <a:t> they see a story—</a:t>
            </a:r>
            <a:r>
              <a:rPr lang="en-US" b="1" i="0" u="none" strike="noStrike" dirty="0">
                <a:solidFill>
                  <a:srgbClr val="000000"/>
                </a:solidFill>
                <a:effectLst/>
                <a:latin typeface="Times New Roman" panose="02020603050405020304" pitchFamily="18" charset="0"/>
                <a:cs typeface="Times New Roman" panose="02020603050405020304" pitchFamily="18" charset="0"/>
              </a:rPr>
              <a:t>79%</a:t>
            </a:r>
            <a:r>
              <a:rPr lang="en-US" b="0" i="0" u="none" strike="noStrike" dirty="0">
                <a:solidFill>
                  <a:srgbClr val="000000"/>
                </a:solidFill>
                <a:effectLst/>
                <a:latin typeface="Times New Roman" panose="02020603050405020304" pitchFamily="18" charset="0"/>
                <a:cs typeface="Times New Roman" panose="02020603050405020304" pitchFamily="18" charset="0"/>
              </a:rPr>
              <a:t> say this is important. We are losing the attention and the trust of a generation that values digital relevance above all else.</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2</a:t>
            </a:fld>
            <a:endParaRPr lang="en-US"/>
          </a:p>
        </p:txBody>
      </p:sp>
    </p:spTree>
    <p:extLst>
      <p:ext uri="{BB962C8B-B14F-4D97-AF65-F5344CB8AC3E}">
        <p14:creationId xmlns:p14="http://schemas.microsoft.com/office/powerpoint/2010/main" val="38483937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To understand the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why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behind the numbers, we met four personas.</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3</a:t>
            </a:fld>
            <a:endParaRPr lang="en-US"/>
          </a:p>
        </p:txBody>
      </p:sp>
    </p:spTree>
    <p:extLst>
      <p:ext uri="{BB962C8B-B14F-4D97-AF65-F5344CB8AC3E}">
        <p14:creationId xmlns:p14="http://schemas.microsoft.com/office/powerpoint/2010/main" val="287157303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0" i="0" u="none" strike="noStrike" dirty="0">
                <a:solidFill>
                  <a:srgbClr val="000000"/>
                </a:solidFill>
                <a:effectLst/>
                <a:latin typeface="Times New Roman" panose="02020603050405020304" pitchFamily="18" charset="0"/>
                <a:cs typeface="Times New Roman" panose="02020603050405020304" pitchFamily="18" charset="0"/>
              </a:rPr>
              <a:t>Our audience is young (majority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18-24 students</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and their news default is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Social Media (89%)</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with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YouTube</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and </a:t>
            </a:r>
            <a:r>
              <a:rPr lang="en-US" sz="1800" b="1" i="0" u="none" strike="noStrike" dirty="0">
                <a:solidFill>
                  <a:srgbClr val="000000"/>
                </a:solidFill>
                <a:effectLst/>
                <a:latin typeface="Times New Roman" panose="02020603050405020304" pitchFamily="18" charset="0"/>
                <a:cs typeface="Times New Roman" panose="02020603050405020304" pitchFamily="18" charset="0"/>
              </a:rPr>
              <a:t>Instagram</a:t>
            </a:r>
            <a:r>
              <a:rPr lang="en-US" sz="1800" b="0" i="0" u="none" strike="noStrike" dirty="0">
                <a:solidFill>
                  <a:srgbClr val="000000"/>
                </a:solidFill>
                <a:effectLst/>
                <a:latin typeface="Times New Roman" panose="02020603050405020304" pitchFamily="18" charset="0"/>
                <a:cs typeface="Times New Roman" panose="02020603050405020304" pitchFamily="18" charset="0"/>
              </a:rPr>
              <a:t> being their top platforms overall. They are power-users of highly personalized entertainment, making our failure to deliver relevant news even more glaring.</a:t>
            </a:r>
            <a:endParaRPr lang="en-US" sz="1800" dirty="0">
              <a:latin typeface="Times New Roman" panose="02020603050405020304" pitchFamily="18"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4</a:t>
            </a:fld>
            <a:endParaRPr lang="en-US"/>
          </a:p>
        </p:txBody>
      </p:sp>
    </p:spTree>
    <p:extLst>
      <p:ext uri="{BB962C8B-B14F-4D97-AF65-F5344CB8AC3E}">
        <p14:creationId xmlns:p14="http://schemas.microsoft.com/office/powerpoint/2010/main" val="100558725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SzPts val="1000"/>
              <a:buFont typeface="Symbol" pitchFamily="2" charset="2"/>
              <a:buNone/>
              <a:tabLst>
                <a:tab pos="457200" algn="l"/>
              </a:tabLs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Jerry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skeptic</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who fears the 'filter bubble' and demands less bias and more fairness.</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5</a:t>
            </a:fld>
            <a:endParaRPr lang="en-US"/>
          </a:p>
        </p:txBody>
      </p:sp>
    </p:spTree>
    <p:extLst>
      <p:ext uri="{BB962C8B-B14F-4D97-AF65-F5344CB8AC3E}">
        <p14:creationId xmlns:p14="http://schemas.microsoft.com/office/powerpoint/2010/main" val="40913757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SzPts val="1000"/>
              <a:buFont typeface="Symbol" pitchFamily="2" charset="2"/>
              <a:buNone/>
              <a:tabLst>
                <a:tab pos="457200" algn="l"/>
              </a:tabLs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Alice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pragmatist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who trusts her favorite content creators more than the app itself.</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6</a:t>
            </a:fld>
            <a:endParaRPr lang="en-US"/>
          </a:p>
        </p:txBody>
      </p:sp>
    </p:spTree>
    <p:extLst>
      <p:ext uri="{BB962C8B-B14F-4D97-AF65-F5344CB8AC3E}">
        <p14:creationId xmlns:p14="http://schemas.microsoft.com/office/powerpoint/2010/main" val="298233011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SzPts val="1000"/>
              <a:buFont typeface="Symbol" pitchFamily="2" charset="2"/>
              <a:buNone/>
              <a:tabLst>
                <a:tab pos="457200" algn="l"/>
              </a:tabLs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Derek</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critical thinker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with zero trust, demanding full transparency on data use.</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7</a:t>
            </a:fld>
            <a:endParaRPr lang="en-US"/>
          </a:p>
        </p:txBody>
      </p:sp>
    </p:spTree>
    <p:extLst>
      <p:ext uri="{BB962C8B-B14F-4D97-AF65-F5344CB8AC3E}">
        <p14:creationId xmlns:p14="http://schemas.microsoft.com/office/powerpoint/2010/main" val="156055026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spcBef>
                <a:spcPts val="0"/>
              </a:spcBef>
              <a:spcAft>
                <a:spcPts val="0"/>
              </a:spcAft>
              <a:buSzPts val="1000"/>
              <a:buFont typeface="Symbol" pitchFamily="2" charset="2"/>
              <a:buNone/>
              <a:tabLst>
                <a:tab pos="457200" algn="l"/>
              </a:tabLs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Janice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power user</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who wants to personalize everything—not just topics, but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length, format, and tone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pPr marL="0" marR="0">
              <a:spcBef>
                <a:spcPts val="0"/>
              </a:spcBef>
              <a:spcAft>
                <a:spcPts val="0"/>
              </a:spcAft>
            </a:pPr>
            <a:endParaRPr lang="en-US" sz="1800" b="1"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The common thread for all four personas:</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t>
            </a: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They all reject the passive, generic feed.</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8</a:t>
            </a:fld>
            <a:endParaRPr lang="en-US"/>
          </a:p>
        </p:txBody>
      </p:sp>
    </p:spTree>
    <p:extLst>
      <p:ext uri="{BB962C8B-B14F-4D97-AF65-F5344CB8AC3E}">
        <p14:creationId xmlns:p14="http://schemas.microsoft.com/office/powerpoint/2010/main" val="30114812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ACT 2: Evidence from Data (The Investigation)</a:t>
            </a:r>
          </a:p>
          <a:p>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r>
              <a:rPr lang="en-US" b="0" i="0" u="none" strike="noStrike" dirty="0">
                <a:solidFill>
                  <a:srgbClr val="000000"/>
                </a:solidFill>
                <a:effectLst/>
                <a:latin typeface="Times New Roman" panose="02020603050405020304" pitchFamily="18" charset="0"/>
                <a:cs typeface="Times New Roman" panose="02020603050405020304" pitchFamily="18" charset="0"/>
              </a:rPr>
              <a:t>We collected </a:t>
            </a:r>
            <a:r>
              <a:rPr lang="en-US" b="1" i="0" u="none" strike="noStrike" dirty="0">
                <a:solidFill>
                  <a:srgbClr val="000000"/>
                </a:solidFill>
                <a:effectLst/>
                <a:latin typeface="Times New Roman" panose="02020603050405020304" pitchFamily="18" charset="0"/>
                <a:cs typeface="Times New Roman" panose="02020603050405020304" pitchFamily="18" charset="0"/>
              </a:rPr>
              <a:t>20 responses</a:t>
            </a:r>
            <a:r>
              <a:rPr lang="en-US" b="0" i="0" u="none" strike="noStrike" dirty="0">
                <a:solidFill>
                  <a:srgbClr val="000000"/>
                </a:solidFill>
                <a:effectLst/>
                <a:latin typeface="Times New Roman" panose="02020603050405020304" pitchFamily="18" charset="0"/>
                <a:cs typeface="Times New Roman" panose="02020603050405020304" pitchFamily="18" charset="0"/>
              </a:rPr>
              <a:t> from the target demographic (18-29) focusing on their awareness, trust, and preferences regarding AI features.</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9</a:t>
            </a:fld>
            <a:endParaRPr lang="en-US"/>
          </a:p>
        </p:txBody>
      </p:sp>
    </p:spTree>
    <p:extLst>
      <p:ext uri="{BB962C8B-B14F-4D97-AF65-F5344CB8AC3E}">
        <p14:creationId xmlns:p14="http://schemas.microsoft.com/office/powerpoint/2010/main" val="155492082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u="none" strike="noStrike" dirty="0">
                <a:solidFill>
                  <a:srgbClr val="000000"/>
                </a:solidFill>
                <a:effectLst/>
                <a:latin typeface="Times New Roman" panose="02020603050405020304" pitchFamily="18" charset="0"/>
                <a:cs typeface="Times New Roman" panose="02020603050405020304" pitchFamily="18" charset="0"/>
              </a:rPr>
              <a:t>This slide shows the paradox: </a:t>
            </a:r>
            <a:r>
              <a:rPr lang="en-US" b="1" i="0" u="none" strike="noStrike" dirty="0">
                <a:solidFill>
                  <a:srgbClr val="000000"/>
                </a:solidFill>
                <a:effectLst/>
                <a:latin typeface="Times New Roman" panose="02020603050405020304" pitchFamily="18" charset="0"/>
                <a:cs typeface="Times New Roman" panose="02020603050405020304" pitchFamily="18" charset="0"/>
              </a:rPr>
              <a:t>65% of users see</a:t>
            </a:r>
            <a:r>
              <a:rPr lang="en-US" b="0" i="0" u="none" strike="noStrike" dirty="0">
                <a:solidFill>
                  <a:srgbClr val="000000"/>
                </a:solidFill>
                <a:effectLst/>
                <a:latin typeface="Times New Roman" panose="02020603050405020304" pitchFamily="18" charset="0"/>
                <a:cs typeface="Times New Roman" panose="02020603050405020304" pitchFamily="18" charset="0"/>
              </a:rPr>
              <a:t> personalized features 'Always' or 'Often,' yet </a:t>
            </a:r>
            <a:r>
              <a:rPr lang="en-US" b="1" i="0" u="none" strike="noStrike" dirty="0">
                <a:solidFill>
                  <a:srgbClr val="000000"/>
                </a:solidFill>
                <a:effectLst/>
                <a:latin typeface="Times New Roman" panose="02020603050405020304" pitchFamily="18" charset="0"/>
                <a:cs typeface="Times New Roman" panose="02020603050405020304" pitchFamily="18" charset="0"/>
              </a:rPr>
              <a:t>25% report they never notice them</a:t>
            </a:r>
            <a:r>
              <a:rPr lang="en-US" b="0" i="0" u="none" strike="noStrike" dirty="0">
                <a:solidFill>
                  <a:srgbClr val="000000"/>
                </a:solidFill>
                <a:effectLst/>
                <a:latin typeface="Times New Roman" panose="02020603050405020304" pitchFamily="18" charset="0"/>
                <a:cs typeface="Times New Roman" panose="02020603050405020304" pitchFamily="18" charset="0"/>
              </a:rPr>
              <a:t>. </a:t>
            </a:r>
          </a:p>
          <a:p>
            <a:r>
              <a:rPr lang="en-US" b="0" i="0" u="none" strike="noStrike" dirty="0">
                <a:solidFill>
                  <a:srgbClr val="000000"/>
                </a:solidFill>
                <a:effectLst/>
                <a:latin typeface="Times New Roman" panose="02020603050405020304" pitchFamily="18" charset="0"/>
                <a:cs typeface="Times New Roman" panose="02020603050405020304" pitchFamily="18" charset="0"/>
              </a:rPr>
              <a:t>This confirms our personalization is </a:t>
            </a:r>
            <a:r>
              <a:rPr lang="en-US" b="1" i="0" u="none" strike="noStrike" dirty="0">
                <a:solidFill>
                  <a:srgbClr val="000000"/>
                </a:solidFill>
                <a:effectLst/>
                <a:latin typeface="Times New Roman" panose="02020603050405020304" pitchFamily="18" charset="0"/>
                <a:cs typeface="Times New Roman" panose="02020603050405020304" pitchFamily="18" charset="0"/>
              </a:rPr>
              <a:t>invisible or ineffective</a:t>
            </a:r>
            <a:r>
              <a:rPr lang="en-US" b="0" i="0" u="none" strike="noStrike" dirty="0">
                <a:solidFill>
                  <a:srgbClr val="000000"/>
                </a:solidFill>
                <a:effectLst/>
                <a:latin typeface="Times New Roman" panose="02020603050405020304" pitchFamily="18" charset="0"/>
                <a:cs typeface="Times New Roman" panose="02020603050405020304" pitchFamily="18" charset="0"/>
              </a:rPr>
              <a:t>. We are investing in features users aren't even aware of.</a:t>
            </a:r>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10</a:t>
            </a:fld>
            <a:endParaRPr lang="en-US"/>
          </a:p>
        </p:txBody>
      </p:sp>
    </p:spTree>
    <p:extLst>
      <p:ext uri="{BB962C8B-B14F-4D97-AF65-F5344CB8AC3E}">
        <p14:creationId xmlns:p14="http://schemas.microsoft.com/office/powerpoint/2010/main" val="34147253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When we asked users how they actually prefer their personalization to work, we found something surprising that validates our shift toward control.</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Nearly </a:t>
            </a:r>
            <a:r>
              <a:rPr lang="en-US" b="1" i="0" u="none" strike="noStrike" dirty="0">
                <a:solidFill>
                  <a:srgbClr val="000000"/>
                </a:solidFill>
                <a:effectLst/>
                <a:latin typeface="Times New Roman" panose="02020603050405020304" pitchFamily="18" charset="0"/>
                <a:cs typeface="Times New Roman" panose="02020603050405020304" pitchFamily="18" charset="0"/>
              </a:rPr>
              <a:t>half of our audience—45%—prefers to manually set</a:t>
            </a:r>
            <a:r>
              <a:rPr lang="en-US" b="0" i="0" u="none" strike="noStrike" dirty="0">
                <a:solidFill>
                  <a:srgbClr val="000000"/>
                </a:solidFill>
                <a:effectLst/>
                <a:latin typeface="Times New Roman" panose="02020603050405020304" pitchFamily="18" charset="0"/>
                <a:cs typeface="Times New Roman" panose="02020603050405020304" pitchFamily="18" charset="0"/>
              </a:rPr>
              <a:t> their own topics or sources. They want to be the editor-in-chief of their own feed. This is a clear signal that current passive, algorithmic-only systems are failing.</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Contrast that with the </a:t>
            </a:r>
            <a:r>
              <a:rPr lang="en-US" b="1" i="0" u="none" strike="noStrike" dirty="0">
                <a:solidFill>
                  <a:srgbClr val="000000"/>
                </a:solidFill>
                <a:effectLst/>
                <a:latin typeface="Times New Roman" panose="02020603050405020304" pitchFamily="18" charset="0"/>
                <a:cs typeface="Times New Roman" panose="02020603050405020304" pitchFamily="18" charset="0"/>
              </a:rPr>
              <a:t>30% who favor the app learning and auto-adjusting</a:t>
            </a:r>
            <a:r>
              <a:rPr lang="en-US" b="0" i="0" u="none" strike="noStrike" dirty="0">
                <a:solidFill>
                  <a:srgbClr val="000000"/>
                </a:solidFill>
                <a:effectLst/>
                <a:latin typeface="Times New Roman" panose="02020603050405020304" pitchFamily="18" charset="0"/>
                <a:cs typeface="Times New Roman" panose="02020603050405020304" pitchFamily="18" charset="0"/>
              </a:rPr>
              <a:t> from their behavior. This group trusts the algorithm, but it's the minority.</a:t>
            </a: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The remainder, </a:t>
            </a:r>
            <a:r>
              <a:rPr lang="en-US" b="1" i="0" u="none" strike="noStrike" dirty="0">
                <a:solidFill>
                  <a:srgbClr val="000000"/>
                </a:solidFill>
                <a:effectLst/>
                <a:latin typeface="Times New Roman" panose="02020603050405020304" pitchFamily="18" charset="0"/>
                <a:cs typeface="Times New Roman" panose="02020603050405020304" pitchFamily="18" charset="0"/>
              </a:rPr>
              <a:t>25%, want a mix of both.</a:t>
            </a:r>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l"/>
            <a:endParaRPr lang="en-US" b="0" i="0" u="none" strike="noStrike" dirty="0">
              <a:solidFill>
                <a:srgbClr val="000000"/>
              </a:solidFill>
              <a:effectLst/>
              <a:latin typeface="Times New Roman" panose="02020603050405020304" pitchFamily="18" charset="0"/>
              <a:cs typeface="Times New Roman" panose="02020603050405020304" pitchFamily="18" charset="0"/>
            </a:endParaRPr>
          </a:p>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This data proves that Gen Z </a:t>
            </a:r>
            <a:r>
              <a:rPr lang="en-US" b="1" i="0" u="none" strike="noStrike" dirty="0">
                <a:solidFill>
                  <a:srgbClr val="000000"/>
                </a:solidFill>
                <a:effectLst/>
                <a:latin typeface="Times New Roman" panose="02020603050405020304" pitchFamily="18" charset="0"/>
                <a:cs typeface="Times New Roman" panose="02020603050405020304" pitchFamily="18" charset="0"/>
              </a:rPr>
              <a:t>rejects the black box</a:t>
            </a:r>
            <a:r>
              <a:rPr lang="en-US" b="0" i="0" u="none" strike="noStrike" dirty="0">
                <a:solidFill>
                  <a:srgbClr val="000000"/>
                </a:solidFill>
                <a:effectLst/>
                <a:latin typeface="Times New Roman" panose="02020603050405020304" pitchFamily="18" charset="0"/>
                <a:cs typeface="Times New Roman" panose="02020603050405020304" pitchFamily="18" charset="0"/>
              </a:rPr>
              <a:t> approach. They want a </a:t>
            </a:r>
            <a:r>
              <a:rPr lang="en-US" b="1" i="0" u="none" strike="noStrike" dirty="0">
                <a:solidFill>
                  <a:srgbClr val="000000"/>
                </a:solidFill>
                <a:effectLst/>
                <a:latin typeface="Times New Roman" panose="02020603050405020304" pitchFamily="18" charset="0"/>
                <a:cs typeface="Times New Roman" panose="02020603050405020304" pitchFamily="18" charset="0"/>
              </a:rPr>
              <a:t>co-piloted experience</a:t>
            </a:r>
            <a:r>
              <a:rPr lang="en-US" b="0" i="0" u="none" strike="noStrike" dirty="0">
                <a:solidFill>
                  <a:srgbClr val="000000"/>
                </a:solidFill>
                <a:effectLst/>
                <a:latin typeface="Times New Roman" panose="02020603050405020304" pitchFamily="18" charset="0"/>
                <a:cs typeface="Times New Roman" panose="02020603050405020304" pitchFamily="18" charset="0"/>
              </a:rPr>
              <a:t> where they maintain control, actively inputting their preferences,</a:t>
            </a:r>
          </a:p>
          <a:p>
            <a:pPr algn="l"/>
            <a:r>
              <a:rPr lang="en-US" b="0" i="0" u="none" strike="noStrike" dirty="0">
                <a:solidFill>
                  <a:srgbClr val="000000"/>
                </a:solidFill>
                <a:effectLst/>
                <a:latin typeface="Times New Roman" panose="02020603050405020304" pitchFamily="18" charset="0"/>
                <a:cs typeface="Times New Roman" panose="02020603050405020304" pitchFamily="18" charset="0"/>
              </a:rPr>
              <a:t> while the AI does the heavy lifting in the background. Our product must reflect this desire for manual authority.</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11</a:t>
            </a:fld>
            <a:endParaRPr lang="en-US"/>
          </a:p>
        </p:txBody>
      </p:sp>
    </p:spTree>
    <p:extLst>
      <p:ext uri="{BB962C8B-B14F-4D97-AF65-F5344CB8AC3E}">
        <p14:creationId xmlns:p14="http://schemas.microsoft.com/office/powerpoint/2010/main" val="20737198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The skepticism is real. While </a:t>
            </a:r>
            <a:r>
              <a:rPr lang="en-US" sz="1800" b="1" dirty="0">
                <a:effectLst/>
                <a:latin typeface="Aptos" panose="020B0004020202020204" pitchFamily="34" charset="0"/>
                <a:ea typeface="Aptos" panose="020B0004020202020204" pitchFamily="34" charset="0"/>
                <a:cs typeface="Times New Roman" panose="02020603050405020304" pitchFamily="18" charset="0"/>
              </a:rPr>
              <a:t>75%</a:t>
            </a:r>
            <a:r>
              <a:rPr lang="en-US" sz="1800" dirty="0">
                <a:effectLst/>
                <a:latin typeface="Aptos" panose="020B0004020202020204" pitchFamily="34" charset="0"/>
                <a:ea typeface="Aptos" panose="020B0004020202020204" pitchFamily="34" charset="0"/>
                <a:cs typeface="Times New Roman" panose="02020603050405020304" pitchFamily="18" charset="0"/>
              </a:rPr>
              <a:t> of users know algorithms drive their news, </a:t>
            </a:r>
            <a:r>
              <a:rPr lang="en-US" sz="1800" b="1" dirty="0">
                <a:effectLst/>
                <a:latin typeface="Aptos" panose="020B0004020202020204" pitchFamily="34" charset="0"/>
                <a:ea typeface="Aptos" panose="020B0004020202020204" pitchFamily="34" charset="0"/>
                <a:cs typeface="Times New Roman" panose="02020603050405020304" pitchFamily="18" charset="0"/>
              </a:rPr>
              <a:t>50%</a:t>
            </a:r>
            <a:r>
              <a:rPr lang="en-US" sz="1800" dirty="0">
                <a:effectLst/>
                <a:latin typeface="Aptos" panose="020B0004020202020204" pitchFamily="34" charset="0"/>
                <a:ea typeface="Aptos" panose="020B0004020202020204" pitchFamily="34" charset="0"/>
                <a:cs typeface="Times New Roman" panose="02020603050405020304" pitchFamily="18" charset="0"/>
              </a:rPr>
              <a:t> place low or no trust in our ability to use their data responsibly. </a:t>
            </a:r>
          </a:p>
          <a:p>
            <a:r>
              <a:rPr lang="en-US" sz="1800" dirty="0">
                <a:effectLst/>
                <a:latin typeface="Aptos" panose="020B0004020202020204" pitchFamily="34" charset="0"/>
                <a:ea typeface="Aptos" panose="020B0004020202020204" pitchFamily="34" charset="0"/>
                <a:cs typeface="Times New Roman" panose="02020603050405020304" pitchFamily="18" charset="0"/>
              </a:rPr>
              <a:t>We are operating in a </a:t>
            </a:r>
            <a:r>
              <a:rPr lang="en-US" sz="1800" b="1" dirty="0">
                <a:effectLst/>
                <a:latin typeface="Aptos" panose="020B0004020202020204" pitchFamily="34" charset="0"/>
                <a:ea typeface="Aptos" panose="020B0004020202020204" pitchFamily="34" charset="0"/>
                <a:cs typeface="Times New Roman" panose="02020603050405020304" pitchFamily="18" charset="0"/>
              </a:rPr>
              <a:t>trust crisis</a:t>
            </a:r>
            <a:r>
              <a:rPr lang="en-US" sz="1800" dirty="0">
                <a:effectLst/>
                <a:latin typeface="Aptos" panose="020B0004020202020204" pitchFamily="34" charset="0"/>
                <a:ea typeface="Aptos" panose="020B0004020202020204" pitchFamily="34" charset="0"/>
                <a:cs typeface="Times New Roman" panose="02020603050405020304" pitchFamily="18" charset="0"/>
              </a:rPr>
              <a:t> built on opacity.</a:t>
            </a:r>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12</a:t>
            </a:fld>
            <a:endParaRPr lang="en-US"/>
          </a:p>
        </p:txBody>
      </p:sp>
    </p:spTree>
    <p:extLst>
      <p:ext uri="{BB962C8B-B14F-4D97-AF65-F5344CB8AC3E}">
        <p14:creationId xmlns:p14="http://schemas.microsoft.com/office/powerpoint/2010/main" val="34801795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Our data confirms two critical problems: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distrust and invisibility.</a:t>
            </a: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First,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User Problem:</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Gen Z distrusts the current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'black box'</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approach. Over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50% have low trust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and crucially,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26% of users never even notice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the personalization we're building. </a:t>
            </a: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features are ineffective because they are invisible.</a:t>
            </a: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But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Core Insight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offers a way forward: Users are demanding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granular, functional control</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They don't just want us to pick topics; they want control over the </a:t>
            </a:r>
            <a:r>
              <a:rPr lang="en-US" sz="1800" i="1" kern="100" dirty="0">
                <a:effectLst/>
                <a:latin typeface="Times New Roman" panose="02020603050405020304" pitchFamily="18" charset="0"/>
                <a:ea typeface="Aptos" panose="020B0004020202020204" pitchFamily="34" charset="0"/>
                <a:cs typeface="Times New Roman" panose="02020603050405020304" pitchFamily="18" charset="0"/>
              </a:rPr>
              <a:t>delivery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of the news, specifically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article length</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and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media format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This is the key to creating a truly useful news product.</a:t>
            </a: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Therefore, our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Goal</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to launch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AI Dimensional Personalization</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This means our AI will shift its focus entirely.</a:t>
            </a: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Adapting feeds based on the critical factors of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Location, Length/Depth, and Format priority</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(Photo/Video). </a:t>
            </a: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This is how we provide functional value that Gen Z expects from all their digital platforms.</a:t>
            </a: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endParaRPr lang="en-US" sz="1800" kern="100" dirty="0">
              <a:effectLst/>
              <a:latin typeface="Times New Roman" panose="02020603050405020304" pitchFamily="18" charset="0"/>
              <a:ea typeface="Aptos" panose="020B0004020202020204" pitchFamily="34" charset="0"/>
              <a:cs typeface="Times New Roman" panose="02020603050405020304" pitchFamily="18" charset="0"/>
            </a:endParaRP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Next Step</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is clear: We must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prototype and test</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these controls immediately. </a:t>
            </a:r>
          </a:p>
          <a:p>
            <a:pPr marL="0" marR="0">
              <a:spcBef>
                <a:spcPts val="0"/>
              </a:spcBef>
              <a:spcAft>
                <a:spcPts val="0"/>
              </a:spcAft>
            </a:pP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We will measure success by eliminating the user pain points: reducing the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26% 'Never Notice'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 score and actively increasing our overall </a:t>
            </a:r>
            <a:r>
              <a:rPr lang="en-US" sz="1800" b="1" kern="100" dirty="0">
                <a:effectLst/>
                <a:latin typeface="Times New Roman" panose="02020603050405020304" pitchFamily="18" charset="0"/>
                <a:ea typeface="Aptos" panose="020B0004020202020204" pitchFamily="34" charset="0"/>
                <a:cs typeface="Times New Roman" panose="02020603050405020304" pitchFamily="18" charset="0"/>
              </a:rPr>
              <a:t>Trust Score</a:t>
            </a:r>
            <a:r>
              <a:rPr lang="en-US" sz="1800" kern="100" dirty="0">
                <a:effectLst/>
                <a:latin typeface="Times New Roman" panose="02020603050405020304" pitchFamily="18" charset="0"/>
                <a:ea typeface="Aptos" panose="020B0004020202020204" pitchFamily="34" charset="0"/>
                <a:cs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13</a:t>
            </a:fld>
            <a:endParaRPr lang="en-US"/>
          </a:p>
        </p:txBody>
      </p:sp>
    </p:spTree>
    <p:extLst>
      <p:ext uri="{BB962C8B-B14F-4D97-AF65-F5344CB8AC3E}">
        <p14:creationId xmlns:p14="http://schemas.microsoft.com/office/powerpoint/2010/main" val="134022997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Aptos" panose="020B0004020202020204" pitchFamily="34" charset="0"/>
                <a:cs typeface="Times New Roman" panose="02020603050405020304" pitchFamily="18" charset="0"/>
              </a:rPr>
              <a:t>This brings us to our hypothesis: The AI model must pivot from merely choosing </a:t>
            </a:r>
            <a:r>
              <a:rPr lang="en-US" sz="1800" b="1" dirty="0">
                <a:effectLst/>
                <a:latin typeface="Times New Roman" panose="02020603050405020304" pitchFamily="18" charset="0"/>
                <a:ea typeface="Aptos" panose="020B0004020202020204" pitchFamily="34" charset="0"/>
                <a:cs typeface="Times New Roman" panose="02020603050405020304" pitchFamily="18" charset="0"/>
              </a:rPr>
              <a:t>'What topics?'</a:t>
            </a:r>
            <a:r>
              <a:rPr lang="en-US" sz="1800" dirty="0">
                <a:effectLst/>
                <a:latin typeface="Times New Roman" panose="02020603050405020304" pitchFamily="18" charset="0"/>
                <a:ea typeface="Aptos" panose="020B0004020202020204" pitchFamily="34" charset="0"/>
                <a:cs typeface="Times New Roman" panose="02020603050405020304" pitchFamily="18" charset="0"/>
              </a:rPr>
              <a:t> to delivering </a:t>
            </a:r>
            <a:r>
              <a:rPr lang="en-US" sz="1800" b="1" dirty="0">
                <a:effectLst/>
                <a:latin typeface="Times New Roman" panose="02020603050405020304" pitchFamily="18" charset="0"/>
                <a:ea typeface="Aptos" panose="020B0004020202020204" pitchFamily="34" charset="0"/>
                <a:cs typeface="Times New Roman" panose="02020603050405020304" pitchFamily="18" charset="0"/>
              </a:rPr>
              <a:t>'How, where, and when’</a:t>
            </a:r>
            <a:r>
              <a:rPr lang="en-US" sz="1800" dirty="0">
                <a:effectLst/>
                <a:latin typeface="Times New Roman" panose="02020603050405020304" pitchFamily="18" charset="0"/>
                <a:ea typeface="Aptos" panose="020B0004020202020204" pitchFamily="34" charset="0"/>
                <a:cs typeface="Times New Roman" panose="02020603050405020304" pitchFamily="18" charset="0"/>
              </a:rPr>
              <a:t>. </a:t>
            </a:r>
          </a:p>
          <a:p>
            <a:r>
              <a:rPr lang="en-US" sz="1800" dirty="0">
                <a:effectLst/>
                <a:latin typeface="Times New Roman" panose="02020603050405020304" pitchFamily="18" charset="0"/>
                <a:ea typeface="Aptos" panose="020B0004020202020204" pitchFamily="34" charset="0"/>
                <a:cs typeface="Times New Roman" panose="02020603050405020304" pitchFamily="18" charset="0"/>
              </a:rPr>
              <a:t>We will implement </a:t>
            </a:r>
            <a:r>
              <a:rPr lang="en-US" sz="1800" b="1" dirty="0">
                <a:effectLst/>
                <a:latin typeface="Times New Roman" panose="02020603050405020304" pitchFamily="18" charset="0"/>
                <a:ea typeface="Aptos" panose="020B0004020202020204" pitchFamily="34" charset="0"/>
                <a:cs typeface="Times New Roman" panose="02020603050405020304" pitchFamily="18" charset="0"/>
              </a:rPr>
              <a:t>AI Dimensional Personalization</a:t>
            </a:r>
            <a:r>
              <a:rPr lang="en-US" sz="1800" dirty="0">
                <a:effectLst/>
                <a:latin typeface="Times New Roman" panose="02020603050405020304" pitchFamily="18" charset="0"/>
                <a:ea typeface="Aptos" panose="020B0004020202020204" pitchFamily="34" charset="0"/>
                <a:cs typeface="Times New Roman" panose="02020603050405020304" pitchFamily="18" charset="0"/>
              </a:rPr>
              <a:t>—adapting news feeds based on </a:t>
            </a:r>
            <a:r>
              <a:rPr lang="en-US" sz="1800" b="1" dirty="0">
                <a:effectLst/>
                <a:latin typeface="Times New Roman" panose="02020603050405020304" pitchFamily="18" charset="0"/>
                <a:ea typeface="Aptos" panose="020B0004020202020204" pitchFamily="34" charset="0"/>
                <a:cs typeface="Times New Roman" panose="02020603050405020304" pitchFamily="18" charset="0"/>
              </a:rPr>
              <a:t>Location, Length/Depth, and Format</a:t>
            </a:r>
            <a:r>
              <a:rPr lang="en-US" sz="1800" dirty="0">
                <a:effectLst/>
                <a:latin typeface="Times New Roman" panose="02020603050405020304" pitchFamily="18" charset="0"/>
                <a:ea typeface="Aptos" panose="020B0004020202020204" pitchFamily="34" charset="0"/>
                <a:cs typeface="Times New Roman" panose="02020603050405020304" pitchFamily="18" charset="0"/>
              </a:rPr>
              <a:t>—to transform the black box into a </a:t>
            </a:r>
            <a:r>
              <a:rPr lang="en-US" sz="1800" b="1" dirty="0">
                <a:effectLst/>
                <a:latin typeface="Times New Roman" panose="02020603050405020304" pitchFamily="18" charset="0"/>
                <a:ea typeface="Aptos" panose="020B0004020202020204" pitchFamily="34" charset="0"/>
                <a:cs typeface="Times New Roman" panose="02020603050405020304" pitchFamily="18" charset="0"/>
              </a:rPr>
              <a:t>trustworthy co-pilot</a:t>
            </a:r>
            <a:r>
              <a:rPr lang="en-US" sz="1800" dirty="0">
                <a:effectLst/>
                <a:latin typeface="Aptos" panose="020B0004020202020204" pitchFamily="34" charset="0"/>
                <a:ea typeface="Aptos" panose="020B0004020202020204" pitchFamily="34" charset="0"/>
                <a:cs typeface="Times New Roman" panose="02020603050405020304" pitchFamily="18" charset="0"/>
              </a:rPr>
              <a:t>.</a:t>
            </a:r>
            <a:r>
              <a:rPr lang="en-US" dirty="0">
                <a:effectLst/>
              </a:rPr>
              <a:t> </a:t>
            </a:r>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14</a:t>
            </a:fld>
            <a:endParaRPr lang="en-US"/>
          </a:p>
        </p:txBody>
      </p:sp>
    </p:spTree>
    <p:extLst>
      <p:ext uri="{BB962C8B-B14F-4D97-AF65-F5344CB8AC3E}">
        <p14:creationId xmlns:p14="http://schemas.microsoft.com/office/powerpoint/2010/main" val="156551136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Times New Roman" panose="02020603050405020304" pitchFamily="18" charset="0"/>
                <a:ea typeface="Aptos" panose="020B0004020202020204" pitchFamily="34" charset="0"/>
                <a:cs typeface="Times New Roman" panose="02020603050405020304" pitchFamily="18" charset="0"/>
              </a:rPr>
              <a:t>Our vision is clear: Implement transparent, user-controlled personalization that gives Gen Z the algorithmic relevance they expect, paired with the editorial credibility they need.</a:t>
            </a:r>
          </a:p>
          <a:p>
            <a:r>
              <a:rPr lang="en-US" sz="1800" dirty="0">
                <a:effectLst/>
                <a:latin typeface="Times New Roman" panose="02020603050405020304" pitchFamily="18" charset="0"/>
                <a:ea typeface="Aptos" panose="020B0004020202020204" pitchFamily="34" charset="0"/>
                <a:cs typeface="Times New Roman" panose="02020603050405020304" pitchFamily="18" charset="0"/>
              </a:rPr>
              <a:t> We are focusing on three high-impact design fixes that directly resolve the core user friction points.</a:t>
            </a:r>
            <a:r>
              <a:rPr lang="en-US" dirty="0">
                <a:effectLst/>
                <a:latin typeface="Times New Roman" panose="02020603050405020304" pitchFamily="18" charset="0"/>
                <a:cs typeface="Times New Roman" panose="02020603050405020304" pitchFamily="18" charset="0"/>
              </a:rPr>
              <a:t> </a:t>
            </a:r>
          </a:p>
          <a:p>
            <a:endParaRPr lang="en-US" dirty="0">
              <a:effectLst/>
              <a:latin typeface="Times New Roman" panose="02020603050405020304" pitchFamily="18" charset="0"/>
              <a:cs typeface="Times New Roman" panose="02020603050405020304" pitchFamily="18" charset="0"/>
            </a:endParaRPr>
          </a:p>
          <a:p>
            <a:pPr marL="0" marR="0">
              <a:spcBef>
                <a:spcPts val="0"/>
              </a:spcBef>
              <a:spcAft>
                <a:spcPts val="0"/>
              </a:spcAft>
            </a:pP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We are targeting three major friction points with three core fixes:</a:t>
            </a:r>
          </a:p>
          <a:p>
            <a:pPr marL="342900" marR="0" lvl="0" indent="-342900">
              <a:spcBef>
                <a:spcPts val="0"/>
              </a:spcBef>
              <a:spcAft>
                <a:spcPts val="0"/>
              </a:spcAft>
              <a:buFont typeface="+mj-lt"/>
              <a:buAutoNum type="arabicPeriod"/>
              <a:tabLst>
                <a:tab pos="4572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Friction: Invisibility &amp; Trust.</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Users don't know </a:t>
            </a:r>
            <a:r>
              <a:rPr lang="en-US" sz="1200" i="1" kern="100" dirty="0">
                <a:effectLst/>
                <a:latin typeface="Times New Roman" panose="02020603050405020304" pitchFamily="18" charset="0"/>
                <a:ea typeface="Aptos" panose="020B0004020202020204" pitchFamily="34" charset="0"/>
                <a:cs typeface="Times New Roman" panose="02020603050405020304" pitchFamily="18" charset="0"/>
              </a:rPr>
              <a:t>why</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they see what they see.</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Design Fix: The Transparency X-Ray.</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A clickable icon that shows the AI’s reasoning (e.g., 'Recommended because you follow Tech News').</a:t>
            </a:r>
          </a:p>
          <a:p>
            <a:pPr marL="342900" marR="0" lvl="0" indent="-342900">
              <a:spcBef>
                <a:spcPts val="0"/>
              </a:spcBef>
              <a:spcAft>
                <a:spcPts val="0"/>
              </a:spcAft>
              <a:buFont typeface="+mj-lt"/>
              <a:buAutoNum type="arabicPeriod"/>
              <a:tabLst>
                <a:tab pos="4572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Friction: Time &amp; Depth.</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Users waste time clicking long articles when they only want a summary.</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Design Fix: Length Toggles.</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Persistent toggles (e.g., 'Brief' / 'In-Depth') that use AI to instantly filter content to match their attention span.</a:t>
            </a:r>
          </a:p>
          <a:p>
            <a:pPr marL="342900" marR="0" lvl="0" indent="-342900">
              <a:spcBef>
                <a:spcPts val="0"/>
              </a:spcBef>
              <a:spcAft>
                <a:spcPts val="0"/>
              </a:spcAft>
              <a:buFont typeface="+mj-lt"/>
              <a:buAutoNum type="arabicPeriod"/>
              <a:tabLst>
                <a:tab pos="4572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Friction: Media &amp; Context.</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Users prefer video or audio but are stuck with a default text feed.</a:t>
            </a:r>
          </a:p>
          <a:p>
            <a:pPr marL="742950" marR="0" lvl="1" indent="-285750">
              <a:spcBef>
                <a:spcPts val="0"/>
              </a:spcBef>
              <a:spcAft>
                <a:spcPts val="0"/>
              </a:spcAft>
              <a:buSzPts val="1000"/>
              <a:buFont typeface="Courier New" panose="02070309020205020404" pitchFamily="49" charset="0"/>
              <a:buChar char="o"/>
              <a:tabLst>
                <a:tab pos="914400" algn="l"/>
              </a:tabLst>
            </a:pPr>
            <a:r>
              <a:rPr lang="en-US" sz="1200" b="1" kern="100" dirty="0">
                <a:effectLst/>
                <a:latin typeface="Times New Roman" panose="02020603050405020304" pitchFamily="18" charset="0"/>
                <a:ea typeface="Aptos" panose="020B0004020202020204" pitchFamily="34" charset="0"/>
                <a:cs typeface="Times New Roman" panose="02020603050405020304" pitchFamily="18" charset="0"/>
              </a:rPr>
              <a:t>Design Fix: Format Prioritization.</a:t>
            </a:r>
            <a:r>
              <a:rPr lang="en-US" sz="1200" kern="100" dirty="0">
                <a:effectLst/>
                <a:latin typeface="Times New Roman" panose="02020603050405020304" pitchFamily="18" charset="0"/>
                <a:ea typeface="Aptos" panose="020B0004020202020204" pitchFamily="34" charset="0"/>
                <a:cs typeface="Times New Roman" panose="02020603050405020304" pitchFamily="18" charset="0"/>
              </a:rPr>
              <a:t> A simple setting that tells the AI to elevate video or photo content in the feed.</a:t>
            </a:r>
          </a:p>
          <a:p>
            <a:endParaRPr lang="en-US" dirty="0">
              <a:latin typeface="Times New Roman" panose="02020603050405020304" pitchFamily="18" charset="0"/>
              <a:cs typeface="Times New Roman" panose="02020603050405020304" pitchFamily="18" charset="0"/>
            </a:endParaRPr>
          </a:p>
        </p:txBody>
      </p:sp>
      <p:sp>
        <p:nvSpPr>
          <p:cNvPr id="4" name="Slide Number Placeholder 3"/>
          <p:cNvSpPr>
            <a:spLocks noGrp="1"/>
          </p:cNvSpPr>
          <p:nvPr>
            <p:ph type="sldNum" sz="quarter" idx="5"/>
          </p:nvPr>
        </p:nvSpPr>
        <p:spPr/>
        <p:txBody>
          <a:bodyPr/>
          <a:lstStyle/>
          <a:p>
            <a:fld id="{FE02BF0A-1278-9247-8DDC-12B40AC7664C}" type="slidenum">
              <a:rPr lang="en-US" smtClean="0"/>
              <a:t>15</a:t>
            </a:fld>
            <a:endParaRPr lang="en-US"/>
          </a:p>
        </p:txBody>
      </p:sp>
    </p:spTree>
    <p:extLst>
      <p:ext uri="{BB962C8B-B14F-4D97-AF65-F5344CB8AC3E}">
        <p14:creationId xmlns:p14="http://schemas.microsoft.com/office/powerpoint/2010/main" val="6545536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a:spcBef>
                <a:spcPts val="0"/>
              </a:spcBef>
              <a:spcAft>
                <a:spcPts val="0"/>
              </a:spcAf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This isn't just a design exercise; it's a measurable product strategy.</a:t>
            </a:r>
          </a:p>
          <a:p>
            <a:pPr marL="0" marR="0" lvl="0" indent="0">
              <a:spcBef>
                <a:spcPts val="0"/>
              </a:spcBef>
              <a:spcAft>
                <a:spcPts val="0"/>
              </a:spcAft>
              <a:buSzPts val="1000"/>
              <a:buFont typeface="Symbol" pitchFamily="2" charset="2"/>
              <a:buNone/>
              <a:tabLst>
                <a:tab pos="457200" algn="l"/>
              </a:tabLst>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measure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Transparency X-Ray</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we will track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User Trust Score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16</a:t>
            </a:fld>
            <a:endParaRPr lang="en-US"/>
          </a:p>
        </p:txBody>
      </p:sp>
    </p:spTree>
    <p:extLst>
      <p:ext uri="{BB962C8B-B14F-4D97-AF65-F5344CB8AC3E}">
        <p14:creationId xmlns:p14="http://schemas.microsoft.com/office/powerpoint/2010/main" val="394414820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measure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Format Prioritization</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we will track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Engagement Rate on Preferred Format</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targeting a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10% higher CTR</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on video/photo content.</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17</a:t>
            </a:fld>
            <a:endParaRPr lang="en-US"/>
          </a:p>
        </p:txBody>
      </p:sp>
    </p:spTree>
    <p:extLst>
      <p:ext uri="{BB962C8B-B14F-4D97-AF65-F5344CB8AC3E}">
        <p14:creationId xmlns:p14="http://schemas.microsoft.com/office/powerpoint/2010/main" val="32035142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kern="100" dirty="0">
                <a:effectLst/>
                <a:latin typeface="Aptos" panose="020B0004020202020204" pitchFamily="34" charset="0"/>
                <a:ea typeface="Aptos" panose="020B0004020202020204" pitchFamily="34" charset="0"/>
                <a:cs typeface="Times New Roman" panose="02020603050405020304" pitchFamily="18" charset="0"/>
              </a:rPr>
              <a:t>To measure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Length Toggles</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we will use analytics to track the </a:t>
            </a:r>
            <a:r>
              <a:rPr lang="en-US" sz="1800" b="1" kern="100" dirty="0">
                <a:effectLst/>
                <a:latin typeface="Aptos" panose="020B0004020202020204" pitchFamily="34" charset="0"/>
                <a:ea typeface="Aptos" panose="020B0004020202020204" pitchFamily="34" charset="0"/>
                <a:cs typeface="Times New Roman" panose="02020603050405020304" pitchFamily="18" charset="0"/>
              </a:rPr>
              <a:t>App Exit Rate</a:t>
            </a:r>
            <a:r>
              <a:rPr lang="en-US" sz="1800" kern="100" dirty="0">
                <a:effectLst/>
                <a:latin typeface="Aptos" panose="020B0004020202020204" pitchFamily="34" charset="0"/>
                <a:ea typeface="Aptos" panose="020B0004020202020204" pitchFamily="34" charset="0"/>
                <a:cs typeface="Times New Roman" panose="02020603050405020304" pitchFamily="18" charset="0"/>
              </a:rPr>
              <a:t> after using the filter—lower exits mean higher content success.</a:t>
            </a:r>
          </a:p>
          <a:p>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18</a:t>
            </a:fld>
            <a:endParaRPr lang="en-US"/>
          </a:p>
        </p:txBody>
      </p:sp>
    </p:spTree>
    <p:extLst>
      <p:ext uri="{BB962C8B-B14F-4D97-AF65-F5344CB8AC3E}">
        <p14:creationId xmlns:p14="http://schemas.microsoft.com/office/powerpoint/2010/main" val="403242706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dirty="0">
                <a:effectLst/>
                <a:latin typeface="Aptos" panose="020B0004020202020204" pitchFamily="34" charset="0"/>
                <a:ea typeface="Aptos" panose="020B0004020202020204" pitchFamily="34" charset="0"/>
                <a:cs typeface="Times New Roman" panose="02020603050405020304" pitchFamily="18" charset="0"/>
              </a:rPr>
              <a:t>To close, our project is summed up simply: </a:t>
            </a:r>
            <a:r>
              <a:rPr lang="en-US" sz="1800" b="1" dirty="0">
                <a:effectLst/>
                <a:latin typeface="Aptos" panose="020B0004020202020204" pitchFamily="34" charset="0"/>
                <a:ea typeface="Aptos" panose="020B0004020202020204" pitchFamily="34" charset="0"/>
                <a:cs typeface="Times New Roman" panose="02020603050405020304" pitchFamily="18" charset="0"/>
              </a:rPr>
              <a:t>Personalization is currently failing</a:t>
            </a:r>
            <a:r>
              <a:rPr lang="en-US" sz="1800" dirty="0">
                <a:effectLst/>
                <a:latin typeface="Aptos" panose="020B0004020202020204" pitchFamily="34" charset="0"/>
                <a:ea typeface="Aptos" panose="020B0004020202020204" pitchFamily="34" charset="0"/>
                <a:cs typeface="Times New Roman" panose="02020603050405020304" pitchFamily="18" charset="0"/>
              </a:rPr>
              <a:t>, leading to both an </a:t>
            </a:r>
            <a:r>
              <a:rPr lang="en-US" sz="1800" b="1" dirty="0">
                <a:effectLst/>
                <a:latin typeface="Aptos" panose="020B0004020202020204" pitchFamily="34" charset="0"/>
                <a:ea typeface="Aptos" panose="020B0004020202020204" pitchFamily="34" charset="0"/>
                <a:cs typeface="Times New Roman" panose="02020603050405020304" pitchFamily="18" charset="0"/>
              </a:rPr>
              <a:t>invisibility problem</a:t>
            </a:r>
            <a:r>
              <a:rPr lang="en-US" sz="1800" dirty="0">
                <a:effectLst/>
                <a:latin typeface="Aptos" panose="020B0004020202020204" pitchFamily="34" charset="0"/>
                <a:ea typeface="Aptos" panose="020B0004020202020204" pitchFamily="34" charset="0"/>
                <a:cs typeface="Times New Roman" panose="02020603050405020304" pitchFamily="18" charset="0"/>
              </a:rPr>
              <a:t> and a </a:t>
            </a:r>
            <a:r>
              <a:rPr lang="en-US" sz="1800" b="1" dirty="0">
                <a:effectLst/>
                <a:latin typeface="Aptos" panose="020B0004020202020204" pitchFamily="34" charset="0"/>
                <a:ea typeface="Aptos" panose="020B0004020202020204" pitchFamily="34" charset="0"/>
                <a:cs typeface="Times New Roman" panose="02020603050405020304" pitchFamily="18" charset="0"/>
              </a:rPr>
              <a:t>trust crisis</a:t>
            </a:r>
            <a:r>
              <a:rPr lang="en-US" sz="1800" dirty="0">
                <a:effectLst/>
                <a:latin typeface="Aptos" panose="020B0004020202020204" pitchFamily="34" charset="0"/>
                <a:ea typeface="Aptos" panose="020B0004020202020204" pitchFamily="34" charset="0"/>
                <a:cs typeface="Times New Roman" panose="02020603050405020304" pitchFamily="18" charset="0"/>
              </a:rPr>
              <a:t>.</a:t>
            </a:r>
          </a:p>
          <a:p>
            <a:r>
              <a:rPr lang="en-US" sz="1800" dirty="0">
                <a:effectLst/>
                <a:latin typeface="Aptos" panose="020B0004020202020204" pitchFamily="34" charset="0"/>
                <a:ea typeface="Aptos" panose="020B0004020202020204" pitchFamily="34" charset="0"/>
                <a:cs typeface="Times New Roman" panose="02020603050405020304" pitchFamily="18" charset="0"/>
              </a:rPr>
              <a:t> We are resolving this with </a:t>
            </a:r>
            <a:r>
              <a:rPr lang="en-US" sz="1800" b="1" dirty="0">
                <a:effectLst/>
                <a:latin typeface="Aptos" panose="020B0004020202020204" pitchFamily="34" charset="0"/>
                <a:ea typeface="Aptos" panose="020B0004020202020204" pitchFamily="34" charset="0"/>
                <a:cs typeface="Times New Roman" panose="02020603050405020304" pitchFamily="18" charset="0"/>
              </a:rPr>
              <a:t>AI Dimensional Personalization</a:t>
            </a:r>
            <a:r>
              <a:rPr lang="en-US" sz="1800" dirty="0">
                <a:effectLst/>
                <a:latin typeface="Aptos" panose="020B0004020202020204" pitchFamily="34" charset="0"/>
                <a:ea typeface="Aptos" panose="020B0004020202020204" pitchFamily="34" charset="0"/>
                <a:cs typeface="Times New Roman" panose="02020603050405020304" pitchFamily="18" charset="0"/>
              </a:rPr>
              <a:t>—a set of three key features focused on </a:t>
            </a:r>
            <a:r>
              <a:rPr lang="en-US" sz="1800" b="1" dirty="0">
                <a:effectLst/>
                <a:latin typeface="Aptos" panose="020B0004020202020204" pitchFamily="34" charset="0"/>
                <a:ea typeface="Aptos" panose="020B0004020202020204" pitchFamily="34" charset="0"/>
                <a:cs typeface="Times New Roman" panose="02020603050405020304" pitchFamily="18" charset="0"/>
              </a:rPr>
              <a:t>Transparency, Length, and Format</a:t>
            </a:r>
            <a:r>
              <a:rPr lang="en-US" sz="1800" dirty="0">
                <a:effectLst/>
                <a:latin typeface="Aptos" panose="020B0004020202020204" pitchFamily="34" charset="0"/>
                <a:ea typeface="Aptos" panose="020B0004020202020204" pitchFamily="34" charset="0"/>
                <a:cs typeface="Times New Roman" panose="02020603050405020304" pitchFamily="18" charset="0"/>
              </a:rPr>
              <a:t>. </a:t>
            </a:r>
          </a:p>
          <a:p>
            <a:r>
              <a:rPr lang="en-US" sz="1800" dirty="0">
                <a:effectLst/>
                <a:latin typeface="Aptos" panose="020B0004020202020204" pitchFamily="34" charset="0"/>
                <a:ea typeface="Aptos" panose="020B0004020202020204" pitchFamily="34" charset="0"/>
                <a:cs typeface="Times New Roman" panose="02020603050405020304" pitchFamily="18" charset="0"/>
              </a:rPr>
              <a:t>Our immediate next step is to </a:t>
            </a:r>
            <a:r>
              <a:rPr lang="en-US" sz="1800" b="1" dirty="0">
                <a:effectLst/>
                <a:latin typeface="Aptos" panose="020B0004020202020204" pitchFamily="34" charset="0"/>
                <a:ea typeface="Aptos" panose="020B0004020202020204" pitchFamily="34" charset="0"/>
                <a:cs typeface="Times New Roman" panose="02020603050405020304" pitchFamily="18" charset="0"/>
              </a:rPr>
              <a:t>prototype and test</a:t>
            </a:r>
            <a:r>
              <a:rPr lang="en-US" sz="1800" dirty="0">
                <a:effectLst/>
                <a:latin typeface="Aptos" panose="020B0004020202020204" pitchFamily="34" charset="0"/>
                <a:ea typeface="Aptos" panose="020B0004020202020204" pitchFamily="34" charset="0"/>
                <a:cs typeface="Times New Roman" panose="02020603050405020304" pitchFamily="18" charset="0"/>
              </a:rPr>
              <a:t> these solutions. </a:t>
            </a:r>
          </a:p>
          <a:p>
            <a:r>
              <a:rPr lang="en-US" sz="1800" dirty="0">
                <a:effectLst/>
                <a:latin typeface="Aptos" panose="020B0004020202020204" pitchFamily="34" charset="0"/>
                <a:ea typeface="Aptos" panose="020B0004020202020204" pitchFamily="34" charset="0"/>
                <a:cs typeface="Times New Roman" panose="02020603050405020304" pitchFamily="18" charset="0"/>
              </a:rPr>
              <a:t>By doing this, we move from being a black box to a </a:t>
            </a:r>
            <a:r>
              <a:rPr lang="en-US" sz="1800" b="1" dirty="0">
                <a:effectLst/>
                <a:latin typeface="Aptos" panose="020B0004020202020204" pitchFamily="34" charset="0"/>
                <a:ea typeface="Aptos" panose="020B0004020202020204" pitchFamily="34" charset="0"/>
                <a:cs typeface="Times New Roman" panose="02020603050405020304" pitchFamily="18" charset="0"/>
              </a:rPr>
              <a:t>trustworthy co-pilot</a:t>
            </a:r>
            <a:r>
              <a:rPr lang="en-US" sz="1800" dirty="0">
                <a:effectLst/>
                <a:latin typeface="Aptos" panose="020B0004020202020204" pitchFamily="34" charset="0"/>
                <a:ea typeface="Aptos" panose="020B0004020202020204" pitchFamily="34" charset="0"/>
                <a:cs typeface="Times New Roman" panose="02020603050405020304" pitchFamily="18" charset="0"/>
              </a:rPr>
              <a:t>, securing the next generation of news consumers.</a:t>
            </a:r>
            <a:r>
              <a:rPr lang="en-US" dirty="0">
                <a:effectLst/>
              </a:rPr>
              <a:t> </a:t>
            </a:r>
            <a:endParaRPr lang="en-US" dirty="0"/>
          </a:p>
        </p:txBody>
      </p:sp>
      <p:sp>
        <p:nvSpPr>
          <p:cNvPr id="4" name="Slide Number Placeholder 3"/>
          <p:cNvSpPr>
            <a:spLocks noGrp="1"/>
          </p:cNvSpPr>
          <p:nvPr>
            <p:ph type="sldNum" sz="quarter" idx="5"/>
          </p:nvPr>
        </p:nvSpPr>
        <p:spPr/>
        <p:txBody>
          <a:bodyPr/>
          <a:lstStyle/>
          <a:p>
            <a:fld id="{FE02BF0A-1278-9247-8DDC-12B40AC7664C}" type="slidenum">
              <a:rPr lang="en-US" smtClean="0"/>
              <a:t>19</a:t>
            </a:fld>
            <a:endParaRPr lang="en-US"/>
          </a:p>
        </p:txBody>
      </p:sp>
    </p:spTree>
    <p:extLst>
      <p:ext uri="{BB962C8B-B14F-4D97-AF65-F5344CB8AC3E}">
        <p14:creationId xmlns:p14="http://schemas.microsoft.com/office/powerpoint/2010/main" val="425609025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800">
                <a:effectLst/>
                <a:latin typeface="Aptos" panose="020B0004020202020204" pitchFamily="34" charset="0"/>
                <a:ea typeface="Aptos" panose="020B0004020202020204" pitchFamily="34" charset="0"/>
                <a:cs typeface="Times New Roman" panose="02020603050405020304" pitchFamily="18" charset="0"/>
              </a:rPr>
              <a:t>Thank you.</a:t>
            </a:r>
            <a:endParaRPr lang="en-US"/>
          </a:p>
        </p:txBody>
      </p:sp>
      <p:sp>
        <p:nvSpPr>
          <p:cNvPr id="4" name="Slide Number Placeholder 3"/>
          <p:cNvSpPr>
            <a:spLocks noGrp="1"/>
          </p:cNvSpPr>
          <p:nvPr>
            <p:ph type="sldNum" sz="quarter" idx="5"/>
          </p:nvPr>
        </p:nvSpPr>
        <p:spPr/>
        <p:txBody>
          <a:bodyPr/>
          <a:lstStyle/>
          <a:p>
            <a:fld id="{FE02BF0A-1278-9247-8DDC-12B40AC7664C}" type="slidenum">
              <a:rPr lang="en-US" smtClean="0"/>
              <a:t>20</a:t>
            </a:fld>
            <a:endParaRPr lang="en-US"/>
          </a:p>
        </p:txBody>
      </p:sp>
    </p:spTree>
    <p:extLst>
      <p:ext uri="{BB962C8B-B14F-4D97-AF65-F5344CB8AC3E}">
        <p14:creationId xmlns:p14="http://schemas.microsoft.com/office/powerpoint/2010/main" val="48818623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10/15/25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4.svg"/><Relationship Id="rId5" Type="http://schemas.openxmlformats.org/officeDocument/2006/relationships/image" Target="../media/image3.png"/><Relationship Id="rId4" Type="http://schemas.openxmlformats.org/officeDocument/2006/relationships/image" Target="../media/image2.svg"/><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8.png"/><Relationship Id="rId7"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1.svg"/><Relationship Id="rId5" Type="http://schemas.openxmlformats.org/officeDocument/2006/relationships/image" Target="../media/image10.png"/><Relationship Id="rId4" Type="http://schemas.openxmlformats.org/officeDocument/2006/relationships/image" Target="../media/image9.svg"/></Relationships>
</file>

<file path=ppt/slides/_rels/slide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jpeg"/><Relationship Id="rId7" Type="http://schemas.openxmlformats.org/officeDocument/2006/relationships/image" Target="../media/image16.pn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5.jpeg"/><Relationship Id="rId5" Type="http://schemas.openxmlformats.org/officeDocument/2006/relationships/image" Target="../media/image14.jpeg"/><Relationship Id="rId4" Type="http://schemas.openxmlformats.org/officeDocument/2006/relationships/image" Target="../media/image13.jpeg"/></Relationships>
</file>

<file path=ppt/slides/_rels/slide4.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21.svg"/><Relationship Id="rId5" Type="http://schemas.openxmlformats.org/officeDocument/2006/relationships/image" Target="../media/image20.png"/><Relationship Id="rId4" Type="http://schemas.openxmlformats.org/officeDocument/2006/relationships/image" Target="../media/image19.svg"/></Relationships>
</file>

<file path=ppt/slides/_rels/slide5.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4.sv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svg"/><Relationship Id="rId2" Type="http://schemas.openxmlformats.org/officeDocument/2006/relationships/notesSlide" Target="../notesSlides/notesSlide9.xml"/><Relationship Id="rId1" Type="http://schemas.openxmlformats.org/officeDocument/2006/relationships/slideLayout" Target="../slideLayouts/slideLayout7.xml"/><Relationship Id="rId6" Type="http://schemas.openxmlformats.org/officeDocument/2006/relationships/image" Target="../media/image25.png"/><Relationship Id="rId11" Type="http://schemas.openxmlformats.org/officeDocument/2006/relationships/image" Target="../media/image21.svg"/><Relationship Id="rId5" Type="http://schemas.openxmlformats.org/officeDocument/2006/relationships/image" Target="../media/image24.png"/><Relationship Id="rId10" Type="http://schemas.openxmlformats.org/officeDocument/2006/relationships/image" Target="../media/image20.png"/><Relationship Id="rId4" Type="http://schemas.openxmlformats.org/officeDocument/2006/relationships/image" Target="../media/image23.svg"/><Relationship Id="rId9" Type="http://schemas.openxmlformats.org/officeDocument/2006/relationships/image" Target="../media/image28.svg"/></Relationships>
</file>

<file path=ppt/slides/_rels/slide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9.png"/><Relationship Id="rId4" Type="http://schemas.openxmlformats.org/officeDocument/2006/relationships/image" Target="../media/image4.svg"/></Relationships>
</file>

<file path=ppt/slides/_rels/slide11.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4.sv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32.png"/><Relationship Id="rId4" Type="http://schemas.openxmlformats.org/officeDocument/2006/relationships/image" Target="../media/image31.png"/></Relationships>
</file>

<file path=ppt/slides/_rels/slide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svg"/></Relationships>
</file>

<file path=ppt/slides/_rels/slide13.xml.rels><?xml version="1.0" encoding="UTF-8" standalone="yes"?>
<Relationships xmlns="http://schemas.openxmlformats.org/package/2006/relationships"><Relationship Id="rId8" Type="http://schemas.openxmlformats.org/officeDocument/2006/relationships/image" Target="../media/image4.svg"/><Relationship Id="rId3" Type="http://schemas.openxmlformats.org/officeDocument/2006/relationships/image" Target="../media/image35.png"/><Relationship Id="rId7" Type="http://schemas.openxmlformats.org/officeDocument/2006/relationships/image" Target="../media/image3.png"/><Relationship Id="rId2" Type="http://schemas.openxmlformats.org/officeDocument/2006/relationships/notesSlide" Target="../notesSlides/notesSlide13.xml"/><Relationship Id="rId1" Type="http://schemas.openxmlformats.org/officeDocument/2006/relationships/slideLayout" Target="../slideLayouts/slideLayout7.xml"/><Relationship Id="rId6" Type="http://schemas.openxmlformats.org/officeDocument/2006/relationships/image" Target="../media/image38.svg"/><Relationship Id="rId5" Type="http://schemas.openxmlformats.org/officeDocument/2006/relationships/image" Target="../media/image37.png"/><Relationship Id="rId4" Type="http://schemas.openxmlformats.org/officeDocument/2006/relationships/image" Target="../media/image36.svg"/></Relationships>
</file>

<file path=ppt/slides/_rels/slide14.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39.png"/><Relationship Id="rId7" Type="http://schemas.openxmlformats.org/officeDocument/2006/relationships/image" Target="../media/image20.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42.svg"/><Relationship Id="rId5" Type="http://schemas.openxmlformats.org/officeDocument/2006/relationships/image" Target="../media/image41.png"/><Relationship Id="rId4" Type="http://schemas.openxmlformats.org/officeDocument/2006/relationships/image" Target="../media/image40.svg"/></Relationships>
</file>

<file path=ppt/slides/_rels/slide15.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7.sv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2.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8700837" y="285459"/>
            <a:ext cx="17742538" cy="8907185"/>
          </a:xfrm>
          <a:custGeom>
            <a:avLst/>
            <a:gdLst/>
            <a:ahLst/>
            <a:cxnLst/>
            <a:rect l="l" t="t" r="r" b="b"/>
            <a:pathLst>
              <a:path w="17742538" h="8907185">
                <a:moveTo>
                  <a:pt x="17742538" y="8907185"/>
                </a:moveTo>
                <a:lnTo>
                  <a:pt x="0" y="8907185"/>
                </a:lnTo>
                <a:lnTo>
                  <a:pt x="0" y="0"/>
                </a:lnTo>
                <a:lnTo>
                  <a:pt x="17742538" y="0"/>
                </a:lnTo>
                <a:lnTo>
                  <a:pt x="17742538" y="8907185"/>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6423947" y="9111262"/>
            <a:ext cx="816303" cy="204076"/>
          </a:xfrm>
          <a:custGeom>
            <a:avLst/>
            <a:gdLst/>
            <a:ahLst/>
            <a:cxnLst/>
            <a:rect l="l" t="t" r="r" b="b"/>
            <a:pathLst>
              <a:path w="816303" h="204076">
                <a:moveTo>
                  <a:pt x="0" y="0"/>
                </a:moveTo>
                <a:lnTo>
                  <a:pt x="816303" y="0"/>
                </a:lnTo>
                <a:lnTo>
                  <a:pt x="816303" y="204075"/>
                </a:lnTo>
                <a:lnTo>
                  <a:pt x="0" y="2040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4" name="Freeform 4"/>
          <p:cNvSpPr/>
          <p:nvPr/>
        </p:nvSpPr>
        <p:spPr>
          <a:xfrm>
            <a:off x="2212059" y="1586304"/>
            <a:ext cx="14418141" cy="7524958"/>
          </a:xfrm>
          <a:custGeom>
            <a:avLst/>
            <a:gdLst/>
            <a:ahLst/>
            <a:cxnLst/>
            <a:rect l="l" t="t" r="r" b="b"/>
            <a:pathLst>
              <a:path w="14418141" h="7524958">
                <a:moveTo>
                  <a:pt x="0" y="0"/>
                </a:moveTo>
                <a:lnTo>
                  <a:pt x="14418141" y="0"/>
                </a:lnTo>
                <a:lnTo>
                  <a:pt x="14418141" y="7524958"/>
                </a:lnTo>
                <a:lnTo>
                  <a:pt x="0" y="7524958"/>
                </a:lnTo>
                <a:lnTo>
                  <a:pt x="0" y="0"/>
                </a:lnTo>
                <a:close/>
              </a:path>
            </a:pathLst>
          </a:custGeom>
          <a:blipFill>
            <a:blip r:embed="rId7">
              <a:alphaModFix amt="57000"/>
            </a:blip>
            <a:stretch>
              <a:fillRect l="-12549" t="-26719" b="-158"/>
            </a:stretch>
          </a:blipFill>
        </p:spPr>
        <p:txBody>
          <a:bodyPr/>
          <a:lstStyle/>
          <a:p>
            <a:endParaRPr lang="en-US"/>
          </a:p>
        </p:txBody>
      </p:sp>
      <p:grpSp>
        <p:nvGrpSpPr>
          <p:cNvPr id="5" name="Group 5"/>
          <p:cNvGrpSpPr/>
          <p:nvPr/>
        </p:nvGrpSpPr>
        <p:grpSpPr>
          <a:xfrm>
            <a:off x="2212059" y="1586304"/>
            <a:ext cx="13863882" cy="6964159"/>
            <a:chOff x="0" y="0"/>
            <a:chExt cx="3651393" cy="1834182"/>
          </a:xfrm>
        </p:grpSpPr>
        <p:sp>
          <p:nvSpPr>
            <p:cNvPr id="6" name="Freeform 6"/>
            <p:cNvSpPr/>
            <p:nvPr/>
          </p:nvSpPr>
          <p:spPr>
            <a:xfrm>
              <a:off x="0" y="0"/>
              <a:ext cx="3651393" cy="1834182"/>
            </a:xfrm>
            <a:custGeom>
              <a:avLst/>
              <a:gdLst/>
              <a:ahLst/>
              <a:cxnLst/>
              <a:rect l="l" t="t" r="r" b="b"/>
              <a:pathLst>
                <a:path w="3651393" h="1834182">
                  <a:moveTo>
                    <a:pt x="0" y="0"/>
                  </a:moveTo>
                  <a:lnTo>
                    <a:pt x="3651393" y="0"/>
                  </a:lnTo>
                  <a:lnTo>
                    <a:pt x="3651393" y="1834182"/>
                  </a:lnTo>
                  <a:lnTo>
                    <a:pt x="0" y="1834182"/>
                  </a:lnTo>
                  <a:close/>
                </a:path>
              </a:pathLst>
            </a:custGeom>
            <a:solidFill>
              <a:srgbClr val="2E2E2E"/>
            </a:solidFill>
          </p:spPr>
          <p:txBody>
            <a:bodyPr/>
            <a:lstStyle/>
            <a:p>
              <a:endParaRPr lang="en-US"/>
            </a:p>
          </p:txBody>
        </p:sp>
        <p:sp>
          <p:nvSpPr>
            <p:cNvPr id="7" name="TextBox 7"/>
            <p:cNvSpPr txBox="1"/>
            <p:nvPr/>
          </p:nvSpPr>
          <p:spPr>
            <a:xfrm>
              <a:off x="0" y="-38100"/>
              <a:ext cx="3651393" cy="1872282"/>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a:off x="10076564" y="1586304"/>
            <a:ext cx="6025878" cy="3012939"/>
          </a:xfrm>
          <a:custGeom>
            <a:avLst/>
            <a:gdLst/>
            <a:ahLst/>
            <a:cxnLst/>
            <a:rect l="l" t="t" r="r" b="b"/>
            <a:pathLst>
              <a:path w="6025878" h="3012939">
                <a:moveTo>
                  <a:pt x="0" y="0"/>
                </a:moveTo>
                <a:lnTo>
                  <a:pt x="6025879" y="0"/>
                </a:lnTo>
                <a:lnTo>
                  <a:pt x="6025879" y="3012939"/>
                </a:lnTo>
                <a:lnTo>
                  <a:pt x="0" y="3012939"/>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9" name="Freeform 9"/>
          <p:cNvSpPr/>
          <p:nvPr/>
        </p:nvSpPr>
        <p:spPr>
          <a:xfrm rot="5400000">
            <a:off x="13766387" y="6240909"/>
            <a:ext cx="3079405" cy="1539702"/>
          </a:xfrm>
          <a:custGeom>
            <a:avLst/>
            <a:gdLst/>
            <a:ahLst/>
            <a:cxnLst/>
            <a:rect l="l" t="t" r="r" b="b"/>
            <a:pathLst>
              <a:path w="3079405" h="1539702">
                <a:moveTo>
                  <a:pt x="0" y="0"/>
                </a:moveTo>
                <a:lnTo>
                  <a:pt x="3079405" y="0"/>
                </a:lnTo>
                <a:lnTo>
                  <a:pt x="3079405" y="1539703"/>
                </a:lnTo>
                <a:lnTo>
                  <a:pt x="0" y="1539703"/>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0" name="TextBox 10"/>
          <p:cNvSpPr txBox="1"/>
          <p:nvPr/>
        </p:nvSpPr>
        <p:spPr>
          <a:xfrm>
            <a:off x="2715497" y="3103382"/>
            <a:ext cx="9970191" cy="2040118"/>
          </a:xfrm>
          <a:prstGeom prst="rect">
            <a:avLst/>
          </a:prstGeom>
        </p:spPr>
        <p:txBody>
          <a:bodyPr lIns="0" tIns="0" rIns="0" bIns="0" rtlCol="0" anchor="t">
            <a:spAutoFit/>
          </a:bodyPr>
          <a:lstStyle/>
          <a:p>
            <a:pPr algn="l">
              <a:lnSpc>
                <a:spcPts val="16702"/>
              </a:lnSpc>
            </a:pPr>
            <a:r>
              <a:rPr lang="en-US" sz="11930">
                <a:solidFill>
                  <a:srgbClr val="FFFFFF"/>
                </a:solidFill>
                <a:latin typeface="Garet"/>
                <a:ea typeface="Garet"/>
                <a:cs typeface="Garet"/>
                <a:sym typeface="Garet"/>
              </a:rPr>
              <a:t>AI</a:t>
            </a:r>
          </a:p>
        </p:txBody>
      </p:sp>
      <p:sp>
        <p:nvSpPr>
          <p:cNvPr id="11" name="TextBox 11"/>
          <p:cNvSpPr txBox="1"/>
          <p:nvPr/>
        </p:nvSpPr>
        <p:spPr>
          <a:xfrm>
            <a:off x="2715497" y="4915983"/>
            <a:ext cx="14374087" cy="1417160"/>
          </a:xfrm>
          <a:prstGeom prst="rect">
            <a:avLst/>
          </a:prstGeom>
        </p:spPr>
        <p:txBody>
          <a:bodyPr lIns="0" tIns="0" rIns="0" bIns="0" rtlCol="0" anchor="t">
            <a:spAutoFit/>
          </a:bodyPr>
          <a:lstStyle/>
          <a:p>
            <a:pPr algn="l">
              <a:lnSpc>
                <a:spcPts val="11663"/>
              </a:lnSpc>
            </a:pPr>
            <a:r>
              <a:rPr lang="en-US" sz="8331" b="1">
                <a:solidFill>
                  <a:srgbClr val="FFFFFF"/>
                </a:solidFill>
                <a:latin typeface="Garet Bold"/>
                <a:ea typeface="Garet Bold"/>
                <a:cs typeface="Garet Bold"/>
                <a:sym typeface="Garet Bold"/>
              </a:rPr>
              <a:t>PERSONALIZATION</a:t>
            </a:r>
          </a:p>
        </p:txBody>
      </p:sp>
      <p:sp>
        <p:nvSpPr>
          <p:cNvPr id="12" name="TextBox 12"/>
          <p:cNvSpPr txBox="1"/>
          <p:nvPr/>
        </p:nvSpPr>
        <p:spPr>
          <a:xfrm>
            <a:off x="2885213" y="7438227"/>
            <a:ext cx="2759191" cy="349250"/>
          </a:xfrm>
          <a:prstGeom prst="rect">
            <a:avLst/>
          </a:prstGeom>
        </p:spPr>
        <p:txBody>
          <a:bodyPr lIns="0" tIns="0" rIns="0" bIns="0" rtlCol="0" anchor="t">
            <a:spAutoFit/>
          </a:bodyPr>
          <a:lstStyle/>
          <a:p>
            <a:pPr algn="l">
              <a:lnSpc>
                <a:spcPts val="2800"/>
              </a:lnSpc>
              <a:spcBef>
                <a:spcPct val="0"/>
              </a:spcBef>
            </a:pPr>
            <a:r>
              <a:rPr lang="en-US" sz="2000">
                <a:solidFill>
                  <a:srgbClr val="FFFFFF"/>
                </a:solidFill>
                <a:latin typeface="Inter"/>
                <a:ea typeface="Inter"/>
                <a:cs typeface="Inter"/>
                <a:sym typeface="Inter"/>
              </a:rPr>
              <a:t>by Lashawn Fofung</a:t>
            </a:r>
          </a:p>
        </p:txBody>
      </p:sp>
      <p:sp>
        <p:nvSpPr>
          <p:cNvPr id="14" name="TextBox 14"/>
          <p:cNvSpPr txBox="1"/>
          <p:nvPr/>
        </p:nvSpPr>
        <p:spPr>
          <a:xfrm rot="-5400000">
            <a:off x="-1508470" y="4899472"/>
            <a:ext cx="5309893" cy="488056"/>
          </a:xfrm>
          <a:prstGeom prst="rect">
            <a:avLst/>
          </a:prstGeom>
        </p:spPr>
        <p:txBody>
          <a:bodyPr lIns="0" tIns="0" rIns="0" bIns="0" rtlCol="0" anchor="t">
            <a:spAutoFit/>
          </a:bodyPr>
          <a:lstStyle/>
          <a:p>
            <a:pPr algn="ctr">
              <a:lnSpc>
                <a:spcPts val="3838"/>
              </a:lnSpc>
            </a:pPr>
            <a:r>
              <a:rPr lang="en-US" sz="3146" spc="2111">
                <a:solidFill>
                  <a:srgbClr val="F6F6E9"/>
                </a:solidFill>
                <a:latin typeface="Garet"/>
                <a:ea typeface="Garet"/>
                <a:cs typeface="Garet"/>
                <a:sym typeface="Garet"/>
              </a:rPr>
              <a:t>GEN Z</a:t>
            </a:r>
          </a:p>
        </p:txBody>
      </p:sp>
      <p:sp>
        <p:nvSpPr>
          <p:cNvPr id="15" name="AutoShape 15"/>
          <p:cNvSpPr/>
          <p:nvPr/>
        </p:nvSpPr>
        <p:spPr>
          <a:xfrm flipV="1">
            <a:off x="1151238" y="7041730"/>
            <a:ext cx="0" cy="1532304"/>
          </a:xfrm>
          <a:prstGeom prst="line">
            <a:avLst/>
          </a:prstGeom>
          <a:ln w="19050" cap="flat">
            <a:solidFill>
              <a:srgbClr val="FFFFFF"/>
            </a:solidFill>
            <a:prstDash val="solid"/>
            <a:headEnd type="none" w="sm" len="sm"/>
            <a:tailEnd type="none" w="sm" len="sm"/>
          </a:ln>
        </p:spPr>
        <p:txBody>
          <a:bodyPr/>
          <a:lstStyle/>
          <a:p>
            <a:endParaRPr lang="en-US"/>
          </a:p>
        </p:txBody>
      </p:sp>
      <p:sp>
        <p:nvSpPr>
          <p:cNvPr id="16" name="AutoShape 16"/>
          <p:cNvSpPr/>
          <p:nvPr/>
        </p:nvSpPr>
        <p:spPr>
          <a:xfrm flipV="1">
            <a:off x="1141713" y="1712966"/>
            <a:ext cx="0" cy="1532304"/>
          </a:xfrm>
          <a:prstGeom prst="line">
            <a:avLst/>
          </a:prstGeom>
          <a:ln w="19050" cap="flat">
            <a:solidFill>
              <a:srgbClr val="FFFFFF"/>
            </a:solidFill>
            <a:prstDash val="solid"/>
            <a:headEnd type="none" w="sm" len="sm"/>
            <a:tailEnd type="none" w="sm" len="sm"/>
          </a:ln>
        </p:spPr>
        <p:txBody>
          <a:bodyPr/>
          <a:lstStyle/>
          <a:p>
            <a:endParaRPr lang="en-US"/>
          </a:p>
        </p:txBody>
      </p:sp>
      <p:sp>
        <p:nvSpPr>
          <p:cNvPr id="17" name="TextBox 17"/>
          <p:cNvSpPr txBox="1"/>
          <p:nvPr/>
        </p:nvSpPr>
        <p:spPr>
          <a:xfrm>
            <a:off x="6843803" y="6526770"/>
            <a:ext cx="4600395" cy="490855"/>
          </a:xfrm>
          <a:prstGeom prst="rect">
            <a:avLst/>
          </a:prstGeom>
        </p:spPr>
        <p:txBody>
          <a:bodyPr lIns="0" tIns="0" rIns="0" bIns="0" rtlCol="0" anchor="t">
            <a:spAutoFit/>
          </a:bodyPr>
          <a:lstStyle/>
          <a:p>
            <a:pPr algn="l">
              <a:lnSpc>
                <a:spcPts val="3919"/>
              </a:lnSpc>
              <a:spcBef>
                <a:spcPct val="0"/>
              </a:spcBef>
            </a:pPr>
            <a:r>
              <a:rPr lang="en-US" sz="2799">
                <a:solidFill>
                  <a:srgbClr val="FFFFFF"/>
                </a:solidFill>
                <a:latin typeface="Inter"/>
                <a:ea typeface="Inter"/>
                <a:cs typeface="Inter"/>
                <a:sym typeface="Inter"/>
              </a:rPr>
              <a:t>CONSUMER INSIGHT</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480956" y="4680129"/>
            <a:ext cx="11326088" cy="6157273"/>
          </a:xfrm>
          <a:custGeom>
            <a:avLst/>
            <a:gdLst/>
            <a:ahLst/>
            <a:cxnLst/>
            <a:rect l="l" t="t" r="r" b="b"/>
            <a:pathLst>
              <a:path w="11326088" h="6157273">
                <a:moveTo>
                  <a:pt x="0" y="0"/>
                </a:moveTo>
                <a:lnTo>
                  <a:pt x="11326088" y="0"/>
                </a:lnTo>
                <a:lnTo>
                  <a:pt x="11326088" y="6157274"/>
                </a:lnTo>
                <a:lnTo>
                  <a:pt x="0" y="6157274"/>
                </a:lnTo>
                <a:lnTo>
                  <a:pt x="0"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3" name="Freeform 3"/>
          <p:cNvSpPr/>
          <p:nvPr/>
        </p:nvSpPr>
        <p:spPr>
          <a:xfrm>
            <a:off x="7372250" y="6935706"/>
            <a:ext cx="3555953" cy="3151454"/>
          </a:xfrm>
          <a:custGeom>
            <a:avLst/>
            <a:gdLst/>
            <a:ahLst/>
            <a:cxnLst/>
            <a:rect l="l" t="t" r="r" b="b"/>
            <a:pathLst>
              <a:path w="4363339" h="4315739">
                <a:moveTo>
                  <a:pt x="0" y="0"/>
                </a:moveTo>
                <a:lnTo>
                  <a:pt x="4363339" y="0"/>
                </a:lnTo>
                <a:lnTo>
                  <a:pt x="4363339" y="4315739"/>
                </a:lnTo>
                <a:lnTo>
                  <a:pt x="0" y="4315739"/>
                </a:lnTo>
                <a:lnTo>
                  <a:pt x="0" y="0"/>
                </a:lnTo>
                <a:close/>
              </a:path>
            </a:pathLst>
          </a:custGeom>
          <a:blipFill>
            <a:blip r:embed="rId5">
              <a:extLst>
                <a:ext uri="{96DAC541-7B7A-43D3-8B79-37D633B846F1}">
                  <asvg:svgBlip xmlns:asvg="http://schemas.microsoft.com/office/drawing/2016/SVG/main" r:embed="rId6"/>
                </a:ext>
              </a:extLst>
            </a:blip>
            <a:stretch>
              <a:fillRect/>
            </a:stretch>
          </a:blipFill>
          <a:ln cap="sq">
            <a:noFill/>
            <a:prstDash val="solid"/>
            <a:miter/>
          </a:ln>
        </p:spPr>
        <p:txBody>
          <a:bodyPr/>
          <a:lstStyle/>
          <a:p>
            <a:endParaRPr lang="en-US"/>
          </a:p>
        </p:txBody>
      </p:sp>
      <p:grpSp>
        <p:nvGrpSpPr>
          <p:cNvPr id="4" name="Group 4"/>
          <p:cNvGrpSpPr/>
          <p:nvPr/>
        </p:nvGrpSpPr>
        <p:grpSpPr>
          <a:xfrm>
            <a:off x="0" y="0"/>
            <a:ext cx="4043828" cy="3058825"/>
            <a:chOff x="0" y="0"/>
            <a:chExt cx="1065041" cy="805617"/>
          </a:xfrm>
        </p:grpSpPr>
        <p:sp>
          <p:nvSpPr>
            <p:cNvPr id="5" name="Freeform 5"/>
            <p:cNvSpPr/>
            <p:nvPr/>
          </p:nvSpPr>
          <p:spPr>
            <a:xfrm>
              <a:off x="0" y="0"/>
              <a:ext cx="1065041" cy="805617"/>
            </a:xfrm>
            <a:custGeom>
              <a:avLst/>
              <a:gdLst/>
              <a:ahLst/>
              <a:cxnLst/>
              <a:rect l="l" t="t" r="r" b="b"/>
              <a:pathLst>
                <a:path w="1065041" h="805617">
                  <a:moveTo>
                    <a:pt x="0" y="0"/>
                  </a:moveTo>
                  <a:lnTo>
                    <a:pt x="1065041" y="0"/>
                  </a:lnTo>
                  <a:lnTo>
                    <a:pt x="1065041" y="805617"/>
                  </a:lnTo>
                  <a:lnTo>
                    <a:pt x="0" y="805617"/>
                  </a:lnTo>
                  <a:close/>
                </a:path>
              </a:pathLst>
            </a:custGeom>
            <a:solidFill>
              <a:srgbClr val="000000"/>
            </a:solidFill>
          </p:spPr>
          <p:txBody>
            <a:bodyPr/>
            <a:lstStyle/>
            <a:p>
              <a:endParaRPr lang="en-US"/>
            </a:p>
          </p:txBody>
        </p:sp>
        <p:sp>
          <p:nvSpPr>
            <p:cNvPr id="6" name="TextBox 6"/>
            <p:cNvSpPr txBox="1"/>
            <p:nvPr/>
          </p:nvSpPr>
          <p:spPr>
            <a:xfrm>
              <a:off x="0" y="-38100"/>
              <a:ext cx="1065041" cy="843717"/>
            </a:xfrm>
            <a:prstGeom prst="rect">
              <a:avLst/>
            </a:prstGeom>
          </p:spPr>
          <p:txBody>
            <a:bodyPr lIns="50800" tIns="50800" rIns="50800" bIns="50800" rtlCol="0" anchor="ctr"/>
            <a:lstStyle/>
            <a:p>
              <a:pPr algn="ctr">
                <a:lnSpc>
                  <a:spcPts val="2520"/>
                </a:lnSpc>
              </a:pPr>
              <a:endParaRPr/>
            </a:p>
          </p:txBody>
        </p:sp>
      </p:grpSp>
      <p:grpSp>
        <p:nvGrpSpPr>
          <p:cNvPr id="7" name="Group 7"/>
          <p:cNvGrpSpPr/>
          <p:nvPr/>
        </p:nvGrpSpPr>
        <p:grpSpPr>
          <a:xfrm>
            <a:off x="1248022" y="0"/>
            <a:ext cx="3066439" cy="2862887"/>
            <a:chOff x="0" y="0"/>
            <a:chExt cx="807622" cy="759321"/>
          </a:xfrm>
        </p:grpSpPr>
        <p:sp>
          <p:nvSpPr>
            <p:cNvPr id="8" name="Freeform 8"/>
            <p:cNvSpPr/>
            <p:nvPr/>
          </p:nvSpPr>
          <p:spPr>
            <a:xfrm>
              <a:off x="0" y="0"/>
              <a:ext cx="807622" cy="759321"/>
            </a:xfrm>
            <a:custGeom>
              <a:avLst/>
              <a:gdLst/>
              <a:ahLst/>
              <a:cxnLst/>
              <a:rect l="l" t="t" r="r" b="b"/>
              <a:pathLst>
                <a:path w="807622" h="759321">
                  <a:moveTo>
                    <a:pt x="0" y="0"/>
                  </a:moveTo>
                  <a:lnTo>
                    <a:pt x="807622" y="0"/>
                  </a:lnTo>
                  <a:lnTo>
                    <a:pt x="807622" y="759321"/>
                  </a:lnTo>
                  <a:lnTo>
                    <a:pt x="0" y="759321"/>
                  </a:lnTo>
                  <a:close/>
                </a:path>
              </a:pathLst>
            </a:custGeom>
            <a:solidFill>
              <a:srgbClr val="35589A"/>
            </a:solidFill>
          </p:spPr>
          <p:txBody>
            <a:bodyPr/>
            <a:lstStyle/>
            <a:p>
              <a:endParaRPr lang="en-US"/>
            </a:p>
          </p:txBody>
        </p:sp>
        <p:sp>
          <p:nvSpPr>
            <p:cNvPr id="9" name="TextBox 9"/>
            <p:cNvSpPr txBox="1"/>
            <p:nvPr/>
          </p:nvSpPr>
          <p:spPr>
            <a:xfrm>
              <a:off x="0" y="-38100"/>
              <a:ext cx="807622" cy="797421"/>
            </a:xfrm>
            <a:prstGeom prst="rect">
              <a:avLst/>
            </a:prstGeom>
          </p:spPr>
          <p:txBody>
            <a:bodyPr lIns="50800" tIns="50800" rIns="50800" bIns="50800" rtlCol="0" anchor="ctr"/>
            <a:lstStyle/>
            <a:p>
              <a:pPr algn="ctr">
                <a:lnSpc>
                  <a:spcPts val="2520"/>
                </a:lnSpc>
              </a:pPr>
              <a:endParaRPr/>
            </a:p>
          </p:txBody>
        </p:sp>
      </p:grpSp>
      <p:grpSp>
        <p:nvGrpSpPr>
          <p:cNvPr id="10" name="Group 10"/>
          <p:cNvGrpSpPr/>
          <p:nvPr/>
        </p:nvGrpSpPr>
        <p:grpSpPr>
          <a:xfrm>
            <a:off x="2114326" y="-429109"/>
            <a:ext cx="16377488" cy="2959548"/>
            <a:chOff x="0" y="-38100"/>
            <a:chExt cx="4313412" cy="772189"/>
          </a:xfrm>
        </p:grpSpPr>
        <p:sp>
          <p:nvSpPr>
            <p:cNvPr id="11" name="Freeform 11"/>
            <p:cNvSpPr/>
            <p:nvPr/>
          </p:nvSpPr>
          <p:spPr>
            <a:xfrm>
              <a:off x="0" y="69458"/>
              <a:ext cx="4313412" cy="664631"/>
            </a:xfrm>
            <a:custGeom>
              <a:avLst/>
              <a:gdLst/>
              <a:ahLst/>
              <a:cxnLst/>
              <a:rect l="l" t="t" r="r" b="b"/>
              <a:pathLst>
                <a:path w="4313412" h="734089">
                  <a:moveTo>
                    <a:pt x="0" y="0"/>
                  </a:moveTo>
                  <a:lnTo>
                    <a:pt x="4313412" y="0"/>
                  </a:lnTo>
                  <a:lnTo>
                    <a:pt x="4313412" y="734089"/>
                  </a:lnTo>
                  <a:lnTo>
                    <a:pt x="0" y="734089"/>
                  </a:lnTo>
                  <a:close/>
                </a:path>
              </a:pathLst>
            </a:custGeom>
            <a:solidFill>
              <a:srgbClr val="2E2E2E"/>
            </a:solidFill>
          </p:spPr>
          <p:txBody>
            <a:bodyPr/>
            <a:lstStyle/>
            <a:p>
              <a:endParaRPr lang="en-US"/>
            </a:p>
          </p:txBody>
        </p:sp>
        <p:sp>
          <p:nvSpPr>
            <p:cNvPr id="12" name="TextBox 12"/>
            <p:cNvSpPr txBox="1"/>
            <p:nvPr/>
          </p:nvSpPr>
          <p:spPr>
            <a:xfrm>
              <a:off x="0" y="-38100"/>
              <a:ext cx="4313412" cy="772189"/>
            </a:xfrm>
            <a:prstGeom prst="rect">
              <a:avLst/>
            </a:prstGeom>
          </p:spPr>
          <p:txBody>
            <a:bodyPr lIns="50800" tIns="50800" rIns="50800" bIns="50800" rtlCol="0" anchor="ctr"/>
            <a:lstStyle/>
            <a:p>
              <a:pPr algn="ctr">
                <a:lnSpc>
                  <a:spcPts val="2520"/>
                </a:lnSpc>
              </a:pPr>
              <a:endParaRPr/>
            </a:p>
          </p:txBody>
        </p:sp>
      </p:grpSp>
      <p:sp>
        <p:nvSpPr>
          <p:cNvPr id="13" name="TextBox 13"/>
          <p:cNvSpPr txBox="1"/>
          <p:nvPr/>
        </p:nvSpPr>
        <p:spPr>
          <a:xfrm>
            <a:off x="6401589" y="507242"/>
            <a:ext cx="4120434" cy="1120140"/>
          </a:xfrm>
          <a:prstGeom prst="rect">
            <a:avLst/>
          </a:prstGeom>
        </p:spPr>
        <p:txBody>
          <a:bodyPr lIns="0" tIns="0" rIns="0" bIns="0" rtlCol="0" anchor="t">
            <a:spAutoFit/>
          </a:bodyPr>
          <a:lstStyle/>
          <a:p>
            <a:pPr algn="l">
              <a:lnSpc>
                <a:spcPts val="7890"/>
              </a:lnSpc>
            </a:pPr>
            <a:r>
              <a:rPr lang="en-US" sz="9862" b="1" spc="-394">
                <a:solidFill>
                  <a:srgbClr val="FFFFFF"/>
                </a:solidFill>
                <a:latin typeface="Garet Bold"/>
                <a:ea typeface="Garet Bold"/>
                <a:cs typeface="Garet Bold"/>
                <a:sym typeface="Garet Bold"/>
              </a:rPr>
              <a:t>Gen Z</a:t>
            </a:r>
          </a:p>
        </p:txBody>
      </p:sp>
      <p:sp>
        <p:nvSpPr>
          <p:cNvPr id="14" name="TextBox 14"/>
          <p:cNvSpPr txBox="1"/>
          <p:nvPr/>
        </p:nvSpPr>
        <p:spPr>
          <a:xfrm>
            <a:off x="8191162" y="1549538"/>
            <a:ext cx="6276495" cy="1120140"/>
          </a:xfrm>
          <a:prstGeom prst="rect">
            <a:avLst/>
          </a:prstGeom>
        </p:spPr>
        <p:txBody>
          <a:bodyPr lIns="0" tIns="0" rIns="0" bIns="0" rtlCol="0" anchor="t">
            <a:spAutoFit/>
          </a:bodyPr>
          <a:lstStyle/>
          <a:p>
            <a:pPr algn="l">
              <a:lnSpc>
                <a:spcPts val="7890"/>
              </a:lnSpc>
            </a:pPr>
            <a:r>
              <a:rPr lang="en-US" sz="9862" b="1" spc="-394">
                <a:solidFill>
                  <a:srgbClr val="FFFFFF"/>
                </a:solidFill>
                <a:latin typeface="Garet Bold"/>
                <a:ea typeface="Garet Bold"/>
                <a:cs typeface="Garet Bold"/>
                <a:sym typeface="Garet Bold"/>
              </a:rPr>
              <a:t>Problem</a:t>
            </a:r>
          </a:p>
        </p:txBody>
      </p:sp>
      <p:sp>
        <p:nvSpPr>
          <p:cNvPr id="15" name="TextBox 15"/>
          <p:cNvSpPr txBox="1"/>
          <p:nvPr/>
        </p:nvSpPr>
        <p:spPr>
          <a:xfrm>
            <a:off x="14785853" y="6952035"/>
            <a:ext cx="2047084" cy="423770"/>
          </a:xfrm>
          <a:prstGeom prst="rect">
            <a:avLst/>
          </a:prstGeom>
        </p:spPr>
        <p:txBody>
          <a:bodyPr wrap="square" lIns="0" tIns="0" rIns="0" bIns="0" rtlCol="0" anchor="t">
            <a:spAutoFit/>
          </a:bodyPr>
          <a:lstStyle/>
          <a:p>
            <a:pPr algn="ctr">
              <a:lnSpc>
                <a:spcPts val="3600"/>
              </a:lnSpc>
              <a:spcBef>
                <a:spcPct val="0"/>
              </a:spcBef>
            </a:pPr>
            <a:r>
              <a:rPr lang="en-US" sz="2571" b="1" spc="-102" dirty="0">
                <a:solidFill>
                  <a:srgbClr val="000000"/>
                </a:solidFill>
                <a:latin typeface="Inter Bold"/>
                <a:ea typeface="Inter Bold"/>
                <a:cs typeface="Inter Bold"/>
                <a:sym typeface="Inter Bold"/>
              </a:rPr>
              <a:t>Trust Crisis</a:t>
            </a:r>
          </a:p>
        </p:txBody>
      </p:sp>
      <p:sp>
        <p:nvSpPr>
          <p:cNvPr id="16" name="TextBox 16"/>
          <p:cNvSpPr txBox="1"/>
          <p:nvPr/>
        </p:nvSpPr>
        <p:spPr>
          <a:xfrm>
            <a:off x="15014771" y="7561308"/>
            <a:ext cx="2952036" cy="2040430"/>
          </a:xfrm>
          <a:prstGeom prst="rect">
            <a:avLst/>
          </a:prstGeom>
        </p:spPr>
        <p:txBody>
          <a:bodyPr lIns="0" tIns="0" rIns="0" bIns="0" rtlCol="0" anchor="t">
            <a:spAutoFit/>
          </a:bodyPr>
          <a:lstStyle/>
          <a:p>
            <a:pPr>
              <a:lnSpc>
                <a:spcPts val="2296"/>
              </a:lnSpc>
            </a:pPr>
            <a:r>
              <a:rPr lang="en-US" sz="1640" spc="-65" dirty="0">
                <a:solidFill>
                  <a:srgbClr val="000000"/>
                </a:solidFill>
                <a:latin typeface="Inter"/>
                <a:ea typeface="Inter"/>
                <a:cs typeface="Inter"/>
                <a:sym typeface="Inter"/>
              </a:rPr>
              <a:t>A high level of distrust exists regarding data usage for personalization where 8 out of 19 respondents (42%) state they “I don’t trust them at all” or “I have little trust in them” to use their data responsibly.</a:t>
            </a:r>
          </a:p>
        </p:txBody>
      </p:sp>
      <p:sp>
        <p:nvSpPr>
          <p:cNvPr id="17" name="TextBox 17"/>
          <p:cNvSpPr txBox="1"/>
          <p:nvPr/>
        </p:nvSpPr>
        <p:spPr>
          <a:xfrm>
            <a:off x="13247965" y="4501460"/>
            <a:ext cx="3621795" cy="423770"/>
          </a:xfrm>
          <a:prstGeom prst="rect">
            <a:avLst/>
          </a:prstGeom>
        </p:spPr>
        <p:txBody>
          <a:bodyPr wrap="square" lIns="0" tIns="0" rIns="0" bIns="0" rtlCol="0" anchor="t">
            <a:spAutoFit/>
          </a:bodyPr>
          <a:lstStyle/>
          <a:p>
            <a:pPr algn="ctr">
              <a:lnSpc>
                <a:spcPts val="3600"/>
              </a:lnSpc>
              <a:spcBef>
                <a:spcPct val="0"/>
              </a:spcBef>
            </a:pPr>
            <a:r>
              <a:rPr lang="en-US" sz="2571" b="1" spc="-102" dirty="0">
                <a:solidFill>
                  <a:srgbClr val="000000"/>
                </a:solidFill>
                <a:latin typeface="Inter Bold"/>
                <a:ea typeface="Inter Bold"/>
                <a:cs typeface="Inter Bold"/>
                <a:sym typeface="Inter Bold"/>
              </a:rPr>
              <a:t>The “Filter Bubble” Fear</a:t>
            </a:r>
          </a:p>
        </p:txBody>
      </p:sp>
      <p:sp>
        <p:nvSpPr>
          <p:cNvPr id="18" name="TextBox 18"/>
          <p:cNvSpPr txBox="1"/>
          <p:nvPr/>
        </p:nvSpPr>
        <p:spPr>
          <a:xfrm>
            <a:off x="13443765" y="5156939"/>
            <a:ext cx="3815535" cy="1434025"/>
          </a:xfrm>
          <a:prstGeom prst="rect">
            <a:avLst/>
          </a:prstGeom>
        </p:spPr>
        <p:txBody>
          <a:bodyPr lIns="0" tIns="0" rIns="0" bIns="0" rtlCol="0" anchor="t">
            <a:spAutoFit/>
          </a:bodyPr>
          <a:lstStyle/>
          <a:p>
            <a:pPr algn="just">
              <a:lnSpc>
                <a:spcPts val="2296"/>
              </a:lnSpc>
              <a:spcBef>
                <a:spcPct val="0"/>
              </a:spcBef>
            </a:pPr>
            <a:r>
              <a:rPr lang="en-US" sz="1640" spc="-65">
                <a:solidFill>
                  <a:srgbClr val="000000"/>
                </a:solidFill>
                <a:latin typeface="Inter"/>
                <a:ea typeface="Inter"/>
                <a:cs typeface="Inter"/>
                <a:sym typeface="Inter"/>
              </a:rPr>
              <a:t>Users express a wish for the news apps to be “less biased” and include a “mix of varying opinions.” They also want  mix of expected content and “something I didn’t know or didn’t expect.”</a:t>
            </a:r>
          </a:p>
        </p:txBody>
      </p:sp>
      <p:sp>
        <p:nvSpPr>
          <p:cNvPr id="19" name="TextBox 19"/>
          <p:cNvSpPr txBox="1"/>
          <p:nvPr/>
        </p:nvSpPr>
        <p:spPr>
          <a:xfrm>
            <a:off x="7924800" y="2720206"/>
            <a:ext cx="3577271" cy="449025"/>
          </a:xfrm>
          <a:prstGeom prst="rect">
            <a:avLst/>
          </a:prstGeom>
        </p:spPr>
        <p:txBody>
          <a:bodyPr lIns="0" tIns="0" rIns="0" bIns="0" rtlCol="0" anchor="t">
            <a:spAutoFit/>
          </a:bodyPr>
          <a:lstStyle/>
          <a:p>
            <a:pPr algn="ctr">
              <a:lnSpc>
                <a:spcPts val="3600"/>
              </a:lnSpc>
              <a:spcBef>
                <a:spcPct val="0"/>
              </a:spcBef>
            </a:pPr>
            <a:r>
              <a:rPr lang="en-US" sz="2571" b="1" spc="-102" dirty="0">
                <a:solidFill>
                  <a:srgbClr val="000000"/>
                </a:solidFill>
                <a:latin typeface="Inter Bold"/>
                <a:ea typeface="Inter Bold"/>
                <a:cs typeface="Inter Bold"/>
                <a:sym typeface="Inter Bold"/>
              </a:rPr>
              <a:t>Lack  of Transparency</a:t>
            </a:r>
          </a:p>
        </p:txBody>
      </p:sp>
      <p:sp>
        <p:nvSpPr>
          <p:cNvPr id="20" name="TextBox 20"/>
          <p:cNvSpPr txBox="1"/>
          <p:nvPr/>
        </p:nvSpPr>
        <p:spPr>
          <a:xfrm>
            <a:off x="8065229" y="3317490"/>
            <a:ext cx="3962495" cy="1450525"/>
          </a:xfrm>
          <a:prstGeom prst="rect">
            <a:avLst/>
          </a:prstGeom>
        </p:spPr>
        <p:txBody>
          <a:bodyPr lIns="0" tIns="0" rIns="0" bIns="0" rtlCol="0" anchor="t">
            <a:spAutoFit/>
          </a:bodyPr>
          <a:lstStyle/>
          <a:p>
            <a:pPr>
              <a:lnSpc>
                <a:spcPts val="2296"/>
              </a:lnSpc>
              <a:spcBef>
                <a:spcPct val="0"/>
              </a:spcBef>
            </a:pPr>
            <a:r>
              <a:rPr lang="en-US" sz="1640" spc="-65" dirty="0">
                <a:solidFill>
                  <a:srgbClr val="000000"/>
                </a:solidFill>
                <a:latin typeface="Inter"/>
                <a:ea typeface="Inter"/>
                <a:cs typeface="Inter"/>
                <a:sym typeface="Inter"/>
              </a:rPr>
              <a:t>A desire of transparency is evident, with 15 out of 19 respondents (79%) selecting “Very important” or “Somewhat important” when asked how important it is to know why a story is being recommended.</a:t>
            </a:r>
          </a:p>
        </p:txBody>
      </p:sp>
      <p:sp>
        <p:nvSpPr>
          <p:cNvPr id="21" name="TextBox 21"/>
          <p:cNvSpPr txBox="1"/>
          <p:nvPr/>
        </p:nvSpPr>
        <p:spPr>
          <a:xfrm>
            <a:off x="1371600" y="3248592"/>
            <a:ext cx="3662490" cy="423770"/>
          </a:xfrm>
          <a:prstGeom prst="rect">
            <a:avLst/>
          </a:prstGeom>
        </p:spPr>
        <p:txBody>
          <a:bodyPr wrap="square" lIns="0" tIns="0" rIns="0" bIns="0" rtlCol="0" anchor="t">
            <a:spAutoFit/>
          </a:bodyPr>
          <a:lstStyle/>
          <a:p>
            <a:pPr algn="ctr">
              <a:lnSpc>
                <a:spcPts val="3600"/>
              </a:lnSpc>
              <a:spcBef>
                <a:spcPct val="0"/>
              </a:spcBef>
            </a:pPr>
            <a:r>
              <a:rPr lang="en-US" sz="2571" b="1" spc="-102" dirty="0">
                <a:solidFill>
                  <a:srgbClr val="000000"/>
                </a:solidFill>
                <a:latin typeface="Inter Bold"/>
                <a:ea typeface="Inter Bold"/>
                <a:cs typeface="Inter Bold"/>
                <a:sym typeface="Inter Bold"/>
              </a:rPr>
              <a:t>Preference for Control</a:t>
            </a:r>
          </a:p>
        </p:txBody>
      </p:sp>
      <p:sp>
        <p:nvSpPr>
          <p:cNvPr id="22" name="TextBox 22"/>
          <p:cNvSpPr txBox="1"/>
          <p:nvPr/>
        </p:nvSpPr>
        <p:spPr>
          <a:xfrm>
            <a:off x="1507115" y="3776303"/>
            <a:ext cx="5557989" cy="2296582"/>
          </a:xfrm>
          <a:prstGeom prst="rect">
            <a:avLst/>
          </a:prstGeom>
        </p:spPr>
        <p:txBody>
          <a:bodyPr lIns="0" tIns="0" rIns="0" bIns="0" rtlCol="0" anchor="t">
            <a:spAutoFit/>
          </a:bodyPr>
          <a:lstStyle/>
          <a:p>
            <a:pPr algn="just">
              <a:lnSpc>
                <a:spcPts val="2296"/>
              </a:lnSpc>
              <a:spcBef>
                <a:spcPct val="0"/>
              </a:spcBef>
            </a:pPr>
            <a:r>
              <a:rPr lang="en-US" sz="1640" spc="-65" dirty="0">
                <a:solidFill>
                  <a:srgbClr val="000000"/>
                </a:solidFill>
                <a:latin typeface="Inter"/>
                <a:ea typeface="Inter"/>
                <a:cs typeface="Inter"/>
                <a:sym typeface="Inter"/>
              </a:rPr>
              <a:t>When it comes to personalization, 7 out of 19 respondents (37%) prefer to "pick my own topics or sources" or rely on the system learning from their behavior ("I like the app or website to learn from my behavior"). However, the majority, 8 out of 19 (42%), want a "mix of both" or say "It depends on the app or website", indicating a need for flexible, user-controlled systems.</a:t>
            </a:r>
          </a:p>
          <a:p>
            <a:pPr algn="just">
              <a:lnSpc>
                <a:spcPts val="2296"/>
              </a:lnSpc>
              <a:spcBef>
                <a:spcPct val="0"/>
              </a:spcBef>
            </a:pPr>
            <a:endParaRPr lang="en-US" sz="1640" spc="-65" dirty="0">
              <a:solidFill>
                <a:srgbClr val="000000"/>
              </a:solidFill>
              <a:latin typeface="Inter"/>
              <a:ea typeface="Inter"/>
              <a:cs typeface="Inter"/>
              <a:sym typeface="Inter"/>
            </a:endParaRPr>
          </a:p>
        </p:txBody>
      </p:sp>
      <p:sp>
        <p:nvSpPr>
          <p:cNvPr id="23" name="TextBox 23"/>
          <p:cNvSpPr txBox="1"/>
          <p:nvPr/>
        </p:nvSpPr>
        <p:spPr>
          <a:xfrm>
            <a:off x="0" y="6698713"/>
            <a:ext cx="3014231" cy="906225"/>
          </a:xfrm>
          <a:prstGeom prst="rect">
            <a:avLst/>
          </a:prstGeom>
        </p:spPr>
        <p:txBody>
          <a:bodyPr lIns="0" tIns="0" rIns="0" bIns="0" rtlCol="0" anchor="t">
            <a:spAutoFit/>
          </a:bodyPr>
          <a:lstStyle/>
          <a:p>
            <a:pPr algn="ctr">
              <a:lnSpc>
                <a:spcPts val="3600"/>
              </a:lnSpc>
            </a:pPr>
            <a:r>
              <a:rPr lang="en-US" sz="2571" b="1" spc="-102" dirty="0">
                <a:solidFill>
                  <a:srgbClr val="000000"/>
                </a:solidFill>
                <a:latin typeface="Inter Bold"/>
                <a:ea typeface="Inter Bold"/>
                <a:cs typeface="Inter Bold"/>
                <a:sym typeface="Inter Bold"/>
              </a:rPr>
              <a:t>Ineffective</a:t>
            </a:r>
          </a:p>
          <a:p>
            <a:pPr algn="ctr">
              <a:lnSpc>
                <a:spcPts val="3600"/>
              </a:lnSpc>
              <a:spcBef>
                <a:spcPct val="0"/>
              </a:spcBef>
            </a:pPr>
            <a:r>
              <a:rPr lang="en-US" sz="2571" b="1" spc="-102" dirty="0">
                <a:solidFill>
                  <a:srgbClr val="000000"/>
                </a:solidFill>
                <a:latin typeface="Inter Bold"/>
                <a:ea typeface="Inter Bold"/>
                <a:cs typeface="Inter Bold"/>
                <a:sym typeface="Inter Bold"/>
              </a:rPr>
              <a:t>Personalization</a:t>
            </a:r>
          </a:p>
        </p:txBody>
      </p:sp>
      <p:sp>
        <p:nvSpPr>
          <p:cNvPr id="24" name="TextBox 24"/>
          <p:cNvSpPr txBox="1"/>
          <p:nvPr/>
        </p:nvSpPr>
        <p:spPr>
          <a:xfrm>
            <a:off x="362444" y="7721198"/>
            <a:ext cx="2520135" cy="2282431"/>
          </a:xfrm>
          <a:prstGeom prst="rect">
            <a:avLst/>
          </a:prstGeom>
        </p:spPr>
        <p:txBody>
          <a:bodyPr lIns="0" tIns="0" rIns="0" bIns="0" rtlCol="0" anchor="t">
            <a:spAutoFit/>
          </a:bodyPr>
          <a:lstStyle/>
          <a:p>
            <a:pPr algn="l">
              <a:lnSpc>
                <a:spcPts val="2296"/>
              </a:lnSpc>
              <a:spcBef>
                <a:spcPct val="0"/>
              </a:spcBef>
            </a:pPr>
            <a:r>
              <a:rPr lang="en-US" sz="1640" spc="-65">
                <a:solidFill>
                  <a:srgbClr val="000000"/>
                </a:solidFill>
                <a:latin typeface="Inter"/>
                <a:ea typeface="Inter"/>
                <a:cs typeface="Inter"/>
                <a:sym typeface="Inter"/>
              </a:rPr>
              <a:t>A significant portion of users report not noticing or using personalized features, with 4 out of 19 respondents (21%) saying they “Never” notice or use personalized features in news apps/websites. </a:t>
            </a:r>
          </a:p>
        </p:txBody>
      </p:sp>
      <p:sp>
        <p:nvSpPr>
          <p:cNvPr id="25" name="TextBox 25"/>
          <p:cNvSpPr txBox="1"/>
          <p:nvPr/>
        </p:nvSpPr>
        <p:spPr>
          <a:xfrm>
            <a:off x="4011975" y="8017662"/>
            <a:ext cx="807692" cy="1689502"/>
          </a:xfrm>
          <a:prstGeom prst="rect">
            <a:avLst/>
          </a:prstGeom>
        </p:spPr>
        <p:txBody>
          <a:bodyPr lIns="0" tIns="0" rIns="0" bIns="0" rtlCol="0" anchor="t">
            <a:spAutoFit/>
          </a:bodyPr>
          <a:lstStyle/>
          <a:p>
            <a:pPr algn="ctr">
              <a:lnSpc>
                <a:spcPts val="13850"/>
              </a:lnSpc>
              <a:spcBef>
                <a:spcPct val="0"/>
              </a:spcBef>
            </a:pPr>
            <a:r>
              <a:rPr lang="en-US" sz="9893" b="1" spc="-395" dirty="0">
                <a:solidFill>
                  <a:srgbClr val="FFFFFF"/>
                </a:solidFill>
                <a:latin typeface="Inter Bold"/>
                <a:ea typeface="Inter Bold"/>
                <a:cs typeface="Inter Bold"/>
                <a:sym typeface="Inter Bold"/>
              </a:rPr>
              <a:t>1</a:t>
            </a:r>
          </a:p>
        </p:txBody>
      </p:sp>
      <p:sp>
        <p:nvSpPr>
          <p:cNvPr id="26" name="TextBox 26"/>
          <p:cNvSpPr txBox="1"/>
          <p:nvPr/>
        </p:nvSpPr>
        <p:spPr>
          <a:xfrm>
            <a:off x="5774589" y="5746022"/>
            <a:ext cx="741382" cy="1689502"/>
          </a:xfrm>
          <a:prstGeom prst="rect">
            <a:avLst/>
          </a:prstGeom>
        </p:spPr>
        <p:txBody>
          <a:bodyPr lIns="0" tIns="0" rIns="0" bIns="0" rtlCol="0" anchor="t">
            <a:spAutoFit/>
          </a:bodyPr>
          <a:lstStyle/>
          <a:p>
            <a:pPr algn="ctr">
              <a:lnSpc>
                <a:spcPts val="13850"/>
              </a:lnSpc>
              <a:spcBef>
                <a:spcPct val="0"/>
              </a:spcBef>
            </a:pPr>
            <a:r>
              <a:rPr lang="en-US" sz="9893" b="1" spc="-395" dirty="0">
                <a:solidFill>
                  <a:srgbClr val="FFFFFF"/>
                </a:solidFill>
                <a:latin typeface="Inter Bold"/>
                <a:ea typeface="Inter Bold"/>
                <a:cs typeface="Inter Bold"/>
                <a:sym typeface="Inter Bold"/>
              </a:rPr>
              <a:t>2</a:t>
            </a:r>
          </a:p>
        </p:txBody>
      </p:sp>
      <p:sp>
        <p:nvSpPr>
          <p:cNvPr id="27" name="TextBox 27"/>
          <p:cNvSpPr txBox="1"/>
          <p:nvPr/>
        </p:nvSpPr>
        <p:spPr>
          <a:xfrm>
            <a:off x="8693260" y="4895367"/>
            <a:ext cx="778405" cy="1689502"/>
          </a:xfrm>
          <a:prstGeom prst="rect">
            <a:avLst/>
          </a:prstGeom>
        </p:spPr>
        <p:txBody>
          <a:bodyPr lIns="0" tIns="0" rIns="0" bIns="0" rtlCol="0" anchor="t">
            <a:spAutoFit/>
          </a:bodyPr>
          <a:lstStyle/>
          <a:p>
            <a:pPr algn="ctr">
              <a:lnSpc>
                <a:spcPts val="13850"/>
              </a:lnSpc>
              <a:spcBef>
                <a:spcPct val="0"/>
              </a:spcBef>
            </a:pPr>
            <a:r>
              <a:rPr lang="en-US" sz="9893" b="1" spc="-395" dirty="0">
                <a:solidFill>
                  <a:srgbClr val="FFFFFF"/>
                </a:solidFill>
                <a:latin typeface="Inter Bold"/>
                <a:ea typeface="Inter Bold"/>
                <a:cs typeface="Inter Bold"/>
                <a:sym typeface="Inter Bold"/>
              </a:rPr>
              <a:t>3</a:t>
            </a:r>
          </a:p>
        </p:txBody>
      </p:sp>
      <p:sp>
        <p:nvSpPr>
          <p:cNvPr id="28" name="TextBox 28"/>
          <p:cNvSpPr txBox="1"/>
          <p:nvPr/>
        </p:nvSpPr>
        <p:spPr>
          <a:xfrm>
            <a:off x="11626987" y="5848877"/>
            <a:ext cx="801474" cy="1689502"/>
          </a:xfrm>
          <a:prstGeom prst="rect">
            <a:avLst/>
          </a:prstGeom>
        </p:spPr>
        <p:txBody>
          <a:bodyPr lIns="0" tIns="0" rIns="0" bIns="0" rtlCol="0" anchor="t">
            <a:spAutoFit/>
          </a:bodyPr>
          <a:lstStyle/>
          <a:p>
            <a:pPr algn="ctr">
              <a:lnSpc>
                <a:spcPts val="13850"/>
              </a:lnSpc>
              <a:spcBef>
                <a:spcPct val="0"/>
              </a:spcBef>
            </a:pPr>
            <a:r>
              <a:rPr lang="en-US" sz="9893" b="1" spc="-395" dirty="0">
                <a:solidFill>
                  <a:srgbClr val="FFFFFF"/>
                </a:solidFill>
                <a:latin typeface="Inter Bold"/>
                <a:ea typeface="Inter Bold"/>
                <a:cs typeface="Inter Bold"/>
                <a:sym typeface="Inter Bold"/>
              </a:rPr>
              <a:t>4</a:t>
            </a:r>
          </a:p>
        </p:txBody>
      </p:sp>
      <p:sp>
        <p:nvSpPr>
          <p:cNvPr id="29" name="TextBox 29"/>
          <p:cNvSpPr txBox="1"/>
          <p:nvPr/>
        </p:nvSpPr>
        <p:spPr>
          <a:xfrm>
            <a:off x="13380459" y="8017662"/>
            <a:ext cx="895566" cy="1689502"/>
          </a:xfrm>
          <a:prstGeom prst="rect">
            <a:avLst/>
          </a:prstGeom>
        </p:spPr>
        <p:txBody>
          <a:bodyPr lIns="0" tIns="0" rIns="0" bIns="0" rtlCol="0" anchor="t">
            <a:spAutoFit/>
          </a:bodyPr>
          <a:lstStyle/>
          <a:p>
            <a:pPr algn="ctr">
              <a:lnSpc>
                <a:spcPts val="13850"/>
              </a:lnSpc>
              <a:spcBef>
                <a:spcPct val="0"/>
              </a:spcBef>
            </a:pPr>
            <a:r>
              <a:rPr lang="en-US" sz="9893" b="1" spc="-395" dirty="0">
                <a:solidFill>
                  <a:srgbClr val="FFFFFF"/>
                </a:solidFill>
                <a:latin typeface="Inter Bold"/>
                <a:ea typeface="Inter Bold"/>
                <a:cs typeface="Inter Bold"/>
                <a:sym typeface="Inter Bold"/>
              </a:rPr>
              <a:t>5</a:t>
            </a:r>
          </a:p>
        </p:txBody>
      </p:sp>
      <p:sp>
        <p:nvSpPr>
          <p:cNvPr id="30" name="Freeform 30"/>
          <p:cNvSpPr/>
          <p:nvPr/>
        </p:nvSpPr>
        <p:spPr>
          <a:xfrm>
            <a:off x="16672968" y="9838256"/>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02020"/>
        </a:solidFill>
        <a:effectLst/>
      </p:bgPr>
    </p:bg>
    <p:spTree>
      <p:nvGrpSpPr>
        <p:cNvPr id="1" name=""/>
        <p:cNvGrpSpPr/>
        <p:nvPr/>
      </p:nvGrpSpPr>
      <p:grpSpPr>
        <a:xfrm>
          <a:off x="0" y="0"/>
          <a:ext cx="0" cy="0"/>
          <a:chOff x="0" y="0"/>
          <a:chExt cx="0" cy="0"/>
        </a:xfrm>
      </p:grpSpPr>
      <p:sp>
        <p:nvSpPr>
          <p:cNvPr id="2" name="AutoShape 2"/>
          <p:cNvSpPr/>
          <p:nvPr/>
        </p:nvSpPr>
        <p:spPr>
          <a:xfrm>
            <a:off x="1028700" y="9271223"/>
            <a:ext cx="1705180" cy="0"/>
          </a:xfrm>
          <a:prstGeom prst="line">
            <a:avLst/>
          </a:prstGeom>
          <a:ln w="552450" cap="rnd">
            <a:solidFill>
              <a:srgbClr val="000000"/>
            </a:solidFill>
            <a:prstDash val="solid"/>
            <a:headEnd type="none" w="sm" len="sm"/>
            <a:tailEnd type="none" w="sm" len="sm"/>
          </a:ln>
        </p:spPr>
        <p:txBody>
          <a:bodyPr/>
          <a:lstStyle/>
          <a:p>
            <a:endParaRPr lang="en-US"/>
          </a:p>
        </p:txBody>
      </p:sp>
      <p:sp>
        <p:nvSpPr>
          <p:cNvPr id="3" name="TextBox 3"/>
          <p:cNvSpPr txBox="1"/>
          <p:nvPr/>
        </p:nvSpPr>
        <p:spPr>
          <a:xfrm>
            <a:off x="1179900" y="8974678"/>
            <a:ext cx="1402780" cy="593090"/>
          </a:xfrm>
          <a:prstGeom prst="rect">
            <a:avLst/>
          </a:prstGeom>
        </p:spPr>
        <p:txBody>
          <a:bodyPr lIns="0" tIns="0" rIns="0" bIns="0" rtlCol="0" anchor="t">
            <a:spAutoFit/>
          </a:bodyPr>
          <a:lstStyle/>
          <a:p>
            <a:pPr algn="ctr">
              <a:lnSpc>
                <a:spcPts val="4059"/>
              </a:lnSpc>
              <a:spcBef>
                <a:spcPct val="0"/>
              </a:spcBef>
            </a:pPr>
            <a:r>
              <a:rPr lang="en-US" sz="2899" b="1" spc="89" dirty="0">
                <a:solidFill>
                  <a:srgbClr val="FFFFFF"/>
                </a:solidFill>
                <a:latin typeface="Kitchakan Bold"/>
                <a:ea typeface="Kitchakan Bold"/>
                <a:cs typeface="Kitchakan Bold"/>
                <a:sym typeface="Kitchakan Bold"/>
              </a:rPr>
              <a:t>Gen Z</a:t>
            </a:r>
          </a:p>
        </p:txBody>
      </p:sp>
      <p:sp>
        <p:nvSpPr>
          <p:cNvPr id="4" name="TextBox 4"/>
          <p:cNvSpPr txBox="1"/>
          <p:nvPr/>
        </p:nvSpPr>
        <p:spPr>
          <a:xfrm>
            <a:off x="656152" y="1542341"/>
            <a:ext cx="17088238" cy="1307720"/>
          </a:xfrm>
          <a:prstGeom prst="rect">
            <a:avLst/>
          </a:prstGeom>
        </p:spPr>
        <p:txBody>
          <a:bodyPr lIns="0" tIns="0" rIns="0" bIns="0" rtlCol="0" anchor="t">
            <a:spAutoFit/>
          </a:bodyPr>
          <a:lstStyle/>
          <a:p>
            <a:pPr marL="0" lvl="0" indent="0" algn="ctr">
              <a:lnSpc>
                <a:spcPts val="9860"/>
              </a:lnSpc>
            </a:pPr>
            <a:r>
              <a:rPr lang="en-US" sz="9860" b="1">
                <a:solidFill>
                  <a:srgbClr val="FFFFFF"/>
                </a:solidFill>
                <a:latin typeface="Garet Bold"/>
                <a:ea typeface="Garet Bold"/>
                <a:cs typeface="Garet Bold"/>
                <a:sym typeface="Garet Bold"/>
              </a:rPr>
              <a:t>User Personas</a:t>
            </a:r>
          </a:p>
        </p:txBody>
      </p:sp>
      <p:grpSp>
        <p:nvGrpSpPr>
          <p:cNvPr id="5" name="Group 5"/>
          <p:cNvGrpSpPr/>
          <p:nvPr/>
        </p:nvGrpSpPr>
        <p:grpSpPr>
          <a:xfrm>
            <a:off x="1028700" y="3568465"/>
            <a:ext cx="3908390" cy="4771637"/>
            <a:chOff x="0" y="0"/>
            <a:chExt cx="5211187" cy="6362182"/>
          </a:xfrm>
        </p:grpSpPr>
        <p:pic>
          <p:nvPicPr>
            <p:cNvPr id="6" name="Picture 6"/>
            <p:cNvPicPr>
              <a:picLocks noChangeAspect="1"/>
            </p:cNvPicPr>
            <p:nvPr/>
          </p:nvPicPr>
          <p:blipFill>
            <a:blip r:embed="rId3"/>
            <a:srcRect l="17021" t="3325" r="25753" b="50040"/>
            <a:stretch>
              <a:fillRect/>
            </a:stretch>
          </p:blipFill>
          <p:spPr>
            <a:xfrm>
              <a:off x="0" y="0"/>
              <a:ext cx="5211187" cy="6362182"/>
            </a:xfrm>
            <a:prstGeom prst="rect">
              <a:avLst/>
            </a:prstGeom>
          </p:spPr>
        </p:pic>
      </p:grpSp>
      <p:grpSp>
        <p:nvGrpSpPr>
          <p:cNvPr id="7" name="Group 7"/>
          <p:cNvGrpSpPr/>
          <p:nvPr/>
        </p:nvGrpSpPr>
        <p:grpSpPr>
          <a:xfrm>
            <a:off x="13350910" y="3552544"/>
            <a:ext cx="3908390" cy="4771637"/>
            <a:chOff x="0" y="0"/>
            <a:chExt cx="5211187" cy="6362182"/>
          </a:xfrm>
        </p:grpSpPr>
        <p:pic>
          <p:nvPicPr>
            <p:cNvPr id="8" name="Picture 8"/>
            <p:cNvPicPr>
              <a:picLocks noChangeAspect="1"/>
            </p:cNvPicPr>
            <p:nvPr/>
          </p:nvPicPr>
          <p:blipFill>
            <a:blip r:embed="rId4"/>
            <a:srcRect t="6381" b="6381"/>
            <a:stretch>
              <a:fillRect/>
            </a:stretch>
          </p:blipFill>
          <p:spPr>
            <a:xfrm>
              <a:off x="0" y="0"/>
              <a:ext cx="5211187" cy="6362182"/>
            </a:xfrm>
            <a:prstGeom prst="rect">
              <a:avLst/>
            </a:prstGeom>
          </p:spPr>
        </p:pic>
      </p:grpSp>
      <p:grpSp>
        <p:nvGrpSpPr>
          <p:cNvPr id="9" name="Group 9"/>
          <p:cNvGrpSpPr/>
          <p:nvPr/>
        </p:nvGrpSpPr>
        <p:grpSpPr>
          <a:xfrm>
            <a:off x="5145592" y="3552544"/>
            <a:ext cx="3908390" cy="4771637"/>
            <a:chOff x="0" y="0"/>
            <a:chExt cx="5211187" cy="6362182"/>
          </a:xfrm>
        </p:grpSpPr>
        <p:pic>
          <p:nvPicPr>
            <p:cNvPr id="10" name="Picture 10"/>
            <p:cNvPicPr>
              <a:picLocks noChangeAspect="1"/>
            </p:cNvPicPr>
            <p:nvPr/>
          </p:nvPicPr>
          <p:blipFill>
            <a:blip r:embed="rId5"/>
            <a:srcRect l="11681" t="16011" r="16402" b="25491"/>
            <a:stretch>
              <a:fillRect/>
            </a:stretch>
          </p:blipFill>
          <p:spPr>
            <a:xfrm>
              <a:off x="0" y="0"/>
              <a:ext cx="5211187" cy="6362182"/>
            </a:xfrm>
            <a:prstGeom prst="rect">
              <a:avLst/>
            </a:prstGeom>
          </p:spPr>
        </p:pic>
      </p:grpSp>
      <p:grpSp>
        <p:nvGrpSpPr>
          <p:cNvPr id="11" name="Group 11"/>
          <p:cNvGrpSpPr/>
          <p:nvPr/>
        </p:nvGrpSpPr>
        <p:grpSpPr>
          <a:xfrm>
            <a:off x="9263532" y="3552544"/>
            <a:ext cx="3907342" cy="4755716"/>
            <a:chOff x="0" y="0"/>
            <a:chExt cx="5209789" cy="6340955"/>
          </a:xfrm>
        </p:grpSpPr>
        <p:pic>
          <p:nvPicPr>
            <p:cNvPr id="12" name="Picture 12"/>
            <p:cNvPicPr>
              <a:picLocks noChangeAspect="1"/>
            </p:cNvPicPr>
            <p:nvPr/>
          </p:nvPicPr>
          <p:blipFill>
            <a:blip r:embed="rId6"/>
            <a:srcRect l="13680" t="4151" r="8616" b="32837"/>
            <a:stretch>
              <a:fillRect/>
            </a:stretch>
          </p:blipFill>
          <p:spPr>
            <a:xfrm>
              <a:off x="0" y="0"/>
              <a:ext cx="5209789" cy="6340955"/>
            </a:xfrm>
            <a:prstGeom prst="rect">
              <a:avLst/>
            </a:prstGeom>
          </p:spPr>
        </p:pic>
      </p:grpSp>
      <p:sp>
        <p:nvSpPr>
          <p:cNvPr id="13" name="Freeform 13"/>
          <p:cNvSpPr/>
          <p:nvPr/>
        </p:nvSpPr>
        <p:spPr>
          <a:xfrm>
            <a:off x="16851149" y="9700386"/>
            <a:ext cx="816303" cy="204076"/>
          </a:xfrm>
          <a:custGeom>
            <a:avLst/>
            <a:gdLst/>
            <a:ahLst/>
            <a:cxnLst/>
            <a:rect l="l" t="t" r="r" b="b"/>
            <a:pathLst>
              <a:path w="816303" h="204076">
                <a:moveTo>
                  <a:pt x="0" y="0"/>
                </a:moveTo>
                <a:lnTo>
                  <a:pt x="816302" y="0"/>
                </a:lnTo>
                <a:lnTo>
                  <a:pt x="816302" y="204076"/>
                </a:lnTo>
                <a:lnTo>
                  <a:pt x="0" y="2040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02020"/>
        </a:solidFill>
        <a:effectLst/>
      </p:bgPr>
    </p:bg>
    <p:spTree>
      <p:nvGrpSpPr>
        <p:cNvPr id="1" name=""/>
        <p:cNvGrpSpPr/>
        <p:nvPr/>
      </p:nvGrpSpPr>
      <p:grpSpPr>
        <a:xfrm>
          <a:off x="0" y="0"/>
          <a:ext cx="0" cy="0"/>
          <a:chOff x="0" y="0"/>
          <a:chExt cx="0" cy="0"/>
        </a:xfrm>
      </p:grpSpPr>
      <p:grpSp>
        <p:nvGrpSpPr>
          <p:cNvPr id="2" name="Group 2"/>
          <p:cNvGrpSpPr/>
          <p:nvPr/>
        </p:nvGrpSpPr>
        <p:grpSpPr>
          <a:xfrm rot="-1706093">
            <a:off x="-1777609" y="4497942"/>
            <a:ext cx="22674644" cy="4359622"/>
            <a:chOff x="0" y="0"/>
            <a:chExt cx="5971923" cy="1178432"/>
          </a:xfrm>
        </p:grpSpPr>
        <p:sp>
          <p:nvSpPr>
            <p:cNvPr id="3" name="Freeform 3"/>
            <p:cNvSpPr/>
            <p:nvPr/>
          </p:nvSpPr>
          <p:spPr>
            <a:xfrm>
              <a:off x="0" y="0"/>
              <a:ext cx="5971923" cy="1178432"/>
            </a:xfrm>
            <a:custGeom>
              <a:avLst/>
              <a:gdLst/>
              <a:ahLst/>
              <a:cxnLst/>
              <a:rect l="l" t="t" r="r" b="b"/>
              <a:pathLst>
                <a:path w="5971923" h="1178432">
                  <a:moveTo>
                    <a:pt x="5971923" y="0"/>
                  </a:moveTo>
                  <a:lnTo>
                    <a:pt x="0" y="0"/>
                  </a:lnTo>
                  <a:lnTo>
                    <a:pt x="101600" y="589216"/>
                  </a:lnTo>
                  <a:lnTo>
                    <a:pt x="0" y="1178432"/>
                  </a:lnTo>
                  <a:lnTo>
                    <a:pt x="5971923" y="1178432"/>
                  </a:lnTo>
                  <a:lnTo>
                    <a:pt x="5870323" y="589216"/>
                  </a:lnTo>
                  <a:lnTo>
                    <a:pt x="5971923" y="0"/>
                  </a:lnTo>
                  <a:close/>
                </a:path>
              </a:pathLst>
            </a:custGeom>
            <a:solidFill>
              <a:srgbClr val="FFFFFF"/>
            </a:solidFill>
          </p:spPr>
          <p:txBody>
            <a:bodyPr/>
            <a:lstStyle/>
            <a:p>
              <a:endParaRPr lang="en-US"/>
            </a:p>
          </p:txBody>
        </p:sp>
        <p:sp>
          <p:nvSpPr>
            <p:cNvPr id="4" name="TextBox 4"/>
            <p:cNvSpPr txBox="1"/>
            <p:nvPr/>
          </p:nvSpPr>
          <p:spPr>
            <a:xfrm>
              <a:off x="88900" y="28575"/>
              <a:ext cx="5794123" cy="1149857"/>
            </a:xfrm>
            <a:prstGeom prst="rect">
              <a:avLst/>
            </a:prstGeom>
          </p:spPr>
          <p:txBody>
            <a:bodyPr lIns="50800" tIns="50800" rIns="50800" bIns="50800" rtlCol="0" anchor="ctr"/>
            <a:lstStyle/>
            <a:p>
              <a:pPr algn="ctr">
                <a:lnSpc>
                  <a:spcPts val="1564"/>
                </a:lnSpc>
              </a:pPr>
              <a:endParaRPr/>
            </a:p>
          </p:txBody>
        </p:sp>
      </p:grpSp>
      <p:grpSp>
        <p:nvGrpSpPr>
          <p:cNvPr id="5" name="Group 5"/>
          <p:cNvGrpSpPr/>
          <p:nvPr/>
        </p:nvGrpSpPr>
        <p:grpSpPr>
          <a:xfrm>
            <a:off x="7906923" y="2719593"/>
            <a:ext cx="2451055" cy="2451055"/>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5589A"/>
            </a:solidFill>
            <a:ln w="95250" cap="sq">
              <a:solidFill>
                <a:srgbClr val="FFF2FA"/>
              </a:solidFill>
              <a:prstDash val="solid"/>
              <a:miter/>
            </a:ln>
          </p:spPr>
          <p:txBody>
            <a:bodyPr/>
            <a:lstStyle/>
            <a:p>
              <a:endParaRPr lang="en-US"/>
            </a:p>
          </p:txBody>
        </p:sp>
        <p:sp>
          <p:nvSpPr>
            <p:cNvPr id="7" name="TextBox 7"/>
            <p:cNvSpPr txBox="1"/>
            <p:nvPr/>
          </p:nvSpPr>
          <p:spPr>
            <a:xfrm>
              <a:off x="76200" y="104775"/>
              <a:ext cx="660400" cy="631825"/>
            </a:xfrm>
            <a:prstGeom prst="rect">
              <a:avLst/>
            </a:prstGeom>
          </p:spPr>
          <p:txBody>
            <a:bodyPr lIns="50800" tIns="50800" rIns="50800" bIns="50800" rtlCol="0" anchor="ctr"/>
            <a:lstStyle/>
            <a:p>
              <a:pPr algn="ctr">
                <a:lnSpc>
                  <a:spcPts val="1564"/>
                </a:lnSpc>
              </a:pPr>
              <a:endParaRPr/>
            </a:p>
          </p:txBody>
        </p:sp>
      </p:grpSp>
      <p:grpSp>
        <p:nvGrpSpPr>
          <p:cNvPr id="8" name="Group 8"/>
          <p:cNvGrpSpPr/>
          <p:nvPr/>
        </p:nvGrpSpPr>
        <p:grpSpPr>
          <a:xfrm>
            <a:off x="3466041" y="5170649"/>
            <a:ext cx="2451055" cy="2451055"/>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5589A"/>
            </a:solidFill>
            <a:ln w="95250" cap="sq">
              <a:solidFill>
                <a:srgbClr val="FFF2FA"/>
              </a:solidFill>
              <a:prstDash val="solid"/>
              <a:miter/>
            </a:ln>
          </p:spPr>
          <p:txBody>
            <a:bodyPr/>
            <a:lstStyle/>
            <a:p>
              <a:endParaRPr lang="en-US"/>
            </a:p>
          </p:txBody>
        </p:sp>
        <p:sp>
          <p:nvSpPr>
            <p:cNvPr id="10" name="TextBox 10"/>
            <p:cNvSpPr txBox="1"/>
            <p:nvPr/>
          </p:nvSpPr>
          <p:spPr>
            <a:xfrm>
              <a:off x="76200" y="104775"/>
              <a:ext cx="660400" cy="631825"/>
            </a:xfrm>
            <a:prstGeom prst="rect">
              <a:avLst/>
            </a:prstGeom>
          </p:spPr>
          <p:txBody>
            <a:bodyPr lIns="50800" tIns="50800" rIns="50800" bIns="50800" rtlCol="0" anchor="ctr"/>
            <a:lstStyle/>
            <a:p>
              <a:pPr algn="ctr">
                <a:lnSpc>
                  <a:spcPts val="1564"/>
                </a:lnSpc>
              </a:pPr>
              <a:endParaRPr/>
            </a:p>
          </p:txBody>
        </p:sp>
      </p:grpSp>
      <p:grpSp>
        <p:nvGrpSpPr>
          <p:cNvPr id="11" name="Group 11"/>
          <p:cNvGrpSpPr/>
          <p:nvPr/>
        </p:nvGrpSpPr>
        <p:grpSpPr>
          <a:xfrm>
            <a:off x="12302196" y="268538"/>
            <a:ext cx="2451055" cy="2451055"/>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35589A"/>
            </a:solidFill>
            <a:ln w="95250" cap="sq">
              <a:solidFill>
                <a:srgbClr val="FFF2FA"/>
              </a:solidFill>
              <a:prstDash val="solid"/>
              <a:miter/>
            </a:ln>
          </p:spPr>
          <p:txBody>
            <a:bodyPr/>
            <a:lstStyle/>
            <a:p>
              <a:endParaRPr lang="en-US"/>
            </a:p>
          </p:txBody>
        </p:sp>
        <p:sp>
          <p:nvSpPr>
            <p:cNvPr id="13" name="TextBox 13"/>
            <p:cNvSpPr txBox="1"/>
            <p:nvPr/>
          </p:nvSpPr>
          <p:spPr>
            <a:xfrm>
              <a:off x="76200" y="104775"/>
              <a:ext cx="660400" cy="631825"/>
            </a:xfrm>
            <a:prstGeom prst="rect">
              <a:avLst/>
            </a:prstGeom>
          </p:spPr>
          <p:txBody>
            <a:bodyPr lIns="50800" tIns="50800" rIns="50800" bIns="50800" rtlCol="0" anchor="ctr"/>
            <a:lstStyle/>
            <a:p>
              <a:pPr algn="ctr">
                <a:lnSpc>
                  <a:spcPts val="1564"/>
                </a:lnSpc>
              </a:pPr>
              <a:endParaRPr/>
            </a:p>
          </p:txBody>
        </p:sp>
      </p:grpSp>
      <p:sp>
        <p:nvSpPr>
          <p:cNvPr id="14" name="Freeform 14"/>
          <p:cNvSpPr/>
          <p:nvPr/>
        </p:nvSpPr>
        <p:spPr>
          <a:xfrm flipH="1">
            <a:off x="13080724" y="6396177"/>
            <a:ext cx="3345054" cy="3731805"/>
          </a:xfrm>
          <a:custGeom>
            <a:avLst/>
            <a:gdLst/>
            <a:ahLst/>
            <a:cxnLst/>
            <a:rect l="l" t="t" r="r" b="b"/>
            <a:pathLst>
              <a:path w="3345054" h="3731805">
                <a:moveTo>
                  <a:pt x="3345054" y="0"/>
                </a:moveTo>
                <a:lnTo>
                  <a:pt x="0" y="0"/>
                </a:lnTo>
                <a:lnTo>
                  <a:pt x="0" y="3731805"/>
                </a:lnTo>
                <a:lnTo>
                  <a:pt x="3345054" y="3731805"/>
                </a:lnTo>
                <a:lnTo>
                  <a:pt x="3345054" y="0"/>
                </a:lnTo>
                <a:close/>
              </a:path>
            </a:pathLst>
          </a:custGeom>
          <a:blipFill>
            <a:blip r:embed="rId3">
              <a:extLst>
                <a:ext uri="{96DAC541-7B7A-43D3-8B79-37D633B846F1}">
                  <asvg:svgBlip xmlns:asvg="http://schemas.microsoft.com/office/drawing/2016/SVG/main" r:embed="rId4"/>
                </a:ext>
              </a:extLst>
            </a:blip>
            <a:stretch>
              <a:fillRect/>
            </a:stretch>
          </a:blipFill>
          <a:ln cap="sq">
            <a:noFill/>
            <a:prstDash val="solid"/>
            <a:miter/>
          </a:ln>
        </p:spPr>
        <p:txBody>
          <a:bodyPr/>
          <a:lstStyle/>
          <a:p>
            <a:endParaRPr lang="en-US"/>
          </a:p>
        </p:txBody>
      </p:sp>
      <p:sp>
        <p:nvSpPr>
          <p:cNvPr id="15" name="TextBox 15"/>
          <p:cNvSpPr txBox="1"/>
          <p:nvPr/>
        </p:nvSpPr>
        <p:spPr>
          <a:xfrm>
            <a:off x="905188" y="1143746"/>
            <a:ext cx="8227263" cy="1360090"/>
          </a:xfrm>
          <a:prstGeom prst="rect">
            <a:avLst/>
          </a:prstGeom>
        </p:spPr>
        <p:txBody>
          <a:bodyPr lIns="0" tIns="0" rIns="0" bIns="0" rtlCol="0" anchor="t">
            <a:spAutoFit/>
          </a:bodyPr>
          <a:lstStyle/>
          <a:p>
            <a:pPr algn="l">
              <a:lnSpc>
                <a:spcPts val="9418"/>
              </a:lnSpc>
            </a:pPr>
            <a:r>
              <a:rPr lang="en-US" sz="11773" b="1" spc="-470">
                <a:solidFill>
                  <a:srgbClr val="FFFFFF"/>
                </a:solidFill>
                <a:latin typeface="Garet Bold"/>
                <a:ea typeface="Garet Bold"/>
                <a:cs typeface="Garet Bold"/>
                <a:sym typeface="Garet Bold"/>
              </a:rPr>
              <a:t>Gen Z</a:t>
            </a:r>
          </a:p>
        </p:txBody>
      </p:sp>
      <p:sp>
        <p:nvSpPr>
          <p:cNvPr id="16" name="TextBox 16"/>
          <p:cNvSpPr txBox="1"/>
          <p:nvPr/>
        </p:nvSpPr>
        <p:spPr>
          <a:xfrm>
            <a:off x="905188" y="2668465"/>
            <a:ext cx="7577019" cy="1120719"/>
          </a:xfrm>
          <a:prstGeom prst="rect">
            <a:avLst/>
          </a:prstGeom>
        </p:spPr>
        <p:txBody>
          <a:bodyPr lIns="0" tIns="0" rIns="0" bIns="0" rtlCol="0" anchor="t">
            <a:spAutoFit/>
          </a:bodyPr>
          <a:lstStyle/>
          <a:p>
            <a:pPr algn="l">
              <a:lnSpc>
                <a:spcPts val="7899"/>
              </a:lnSpc>
            </a:pPr>
            <a:r>
              <a:rPr lang="en-US" sz="9873" b="1" spc="-394">
                <a:solidFill>
                  <a:srgbClr val="FFFFFF"/>
                </a:solidFill>
                <a:latin typeface="Garet Bold"/>
                <a:ea typeface="Garet Bold"/>
                <a:cs typeface="Garet Bold"/>
                <a:sym typeface="Garet Bold"/>
              </a:rPr>
              <a:t>Audience</a:t>
            </a:r>
          </a:p>
        </p:txBody>
      </p:sp>
      <p:sp>
        <p:nvSpPr>
          <p:cNvPr id="17" name="TextBox 17"/>
          <p:cNvSpPr txBox="1"/>
          <p:nvPr/>
        </p:nvSpPr>
        <p:spPr>
          <a:xfrm>
            <a:off x="12762594" y="3218046"/>
            <a:ext cx="4496706" cy="1758950"/>
          </a:xfrm>
          <a:prstGeom prst="rect">
            <a:avLst/>
          </a:prstGeom>
        </p:spPr>
        <p:txBody>
          <a:bodyPr lIns="0" tIns="0" rIns="0" bIns="0" rtlCol="0" anchor="t">
            <a:spAutoFit/>
          </a:bodyPr>
          <a:lstStyle/>
          <a:p>
            <a:pPr algn="l">
              <a:lnSpc>
                <a:spcPts val="2800"/>
              </a:lnSpc>
              <a:spcBef>
                <a:spcPct val="0"/>
              </a:spcBef>
            </a:pPr>
            <a:r>
              <a:rPr lang="en-US" sz="2000" spc="-80">
                <a:solidFill>
                  <a:srgbClr val="000000"/>
                </a:solidFill>
                <a:latin typeface="Inter"/>
                <a:ea typeface="Inter"/>
                <a:cs typeface="Inter"/>
                <a:sym typeface="Inter"/>
              </a:rPr>
              <a:t>The most-used platforms in the last 3 months are YouTube (16 out of 19, or 84%), Netflix (13 out of 19, or 68%), and Instagram (15 out of 19, or 79%).</a:t>
            </a:r>
          </a:p>
          <a:p>
            <a:pPr algn="just">
              <a:lnSpc>
                <a:spcPts val="2800"/>
              </a:lnSpc>
              <a:spcBef>
                <a:spcPct val="0"/>
              </a:spcBef>
            </a:pPr>
            <a:endParaRPr lang="en-US" sz="2000" spc="-80">
              <a:solidFill>
                <a:srgbClr val="000000"/>
              </a:solidFill>
              <a:latin typeface="Inter"/>
              <a:ea typeface="Inter"/>
              <a:cs typeface="Inter"/>
              <a:sym typeface="Inter"/>
            </a:endParaRPr>
          </a:p>
        </p:txBody>
      </p:sp>
      <p:sp>
        <p:nvSpPr>
          <p:cNvPr id="18" name="TextBox 18"/>
          <p:cNvSpPr txBox="1"/>
          <p:nvPr/>
        </p:nvSpPr>
        <p:spPr>
          <a:xfrm>
            <a:off x="8265889" y="5445854"/>
            <a:ext cx="4496706" cy="2463800"/>
          </a:xfrm>
          <a:prstGeom prst="rect">
            <a:avLst/>
          </a:prstGeom>
        </p:spPr>
        <p:txBody>
          <a:bodyPr lIns="0" tIns="0" rIns="0" bIns="0" rtlCol="0" anchor="t">
            <a:spAutoFit/>
          </a:bodyPr>
          <a:lstStyle/>
          <a:p>
            <a:pPr algn="l">
              <a:lnSpc>
                <a:spcPts val="2800"/>
              </a:lnSpc>
              <a:spcBef>
                <a:spcPct val="0"/>
              </a:spcBef>
            </a:pPr>
            <a:r>
              <a:rPr lang="en-US" sz="2000" spc="-80" dirty="0">
                <a:solidFill>
                  <a:srgbClr val="000000"/>
                </a:solidFill>
                <a:latin typeface="Inter"/>
                <a:ea typeface="Inter"/>
                <a:cs typeface="Inter"/>
                <a:sym typeface="Inter"/>
              </a:rPr>
              <a:t>News is primarily consumed via Social media (like Instagram, Reddit, TikTok, etc.) by 17 out of 19 respondents (89%). Podcasts or YouTube is the second most popular news source (10 out of 19, or 53%).</a:t>
            </a:r>
          </a:p>
          <a:p>
            <a:pPr algn="just">
              <a:lnSpc>
                <a:spcPts val="2800"/>
              </a:lnSpc>
              <a:spcBef>
                <a:spcPct val="0"/>
              </a:spcBef>
            </a:pPr>
            <a:endParaRPr lang="en-US" sz="2000" spc="-80" dirty="0">
              <a:solidFill>
                <a:srgbClr val="000000"/>
              </a:solidFill>
              <a:latin typeface="Inter"/>
              <a:ea typeface="Inter"/>
              <a:cs typeface="Inter"/>
              <a:sym typeface="Inter"/>
            </a:endParaRPr>
          </a:p>
        </p:txBody>
      </p:sp>
      <p:sp>
        <p:nvSpPr>
          <p:cNvPr id="19" name="TextBox 19"/>
          <p:cNvSpPr txBox="1"/>
          <p:nvPr/>
        </p:nvSpPr>
        <p:spPr>
          <a:xfrm>
            <a:off x="3769183" y="8079407"/>
            <a:ext cx="4496706" cy="1758950"/>
          </a:xfrm>
          <a:prstGeom prst="rect">
            <a:avLst/>
          </a:prstGeom>
        </p:spPr>
        <p:txBody>
          <a:bodyPr lIns="0" tIns="0" rIns="0" bIns="0" rtlCol="0" anchor="t">
            <a:spAutoFit/>
          </a:bodyPr>
          <a:lstStyle/>
          <a:p>
            <a:pPr algn="l">
              <a:lnSpc>
                <a:spcPts val="2800"/>
              </a:lnSpc>
              <a:spcBef>
                <a:spcPct val="0"/>
              </a:spcBef>
            </a:pPr>
            <a:r>
              <a:rPr lang="en-US" sz="2000" spc="-80">
                <a:solidFill>
                  <a:srgbClr val="000000"/>
                </a:solidFill>
                <a:latin typeface="Inter"/>
                <a:ea typeface="Inter"/>
                <a:cs typeface="Inter"/>
                <a:sym typeface="Inter"/>
              </a:rPr>
              <a:t>The vast majority of eligible respondents are in the 18-24 age group (13 out of 19, or 68%) and are currently Students (14 out of 19, or 74%).</a:t>
            </a:r>
          </a:p>
          <a:p>
            <a:pPr algn="r">
              <a:lnSpc>
                <a:spcPts val="2800"/>
              </a:lnSpc>
              <a:spcBef>
                <a:spcPct val="0"/>
              </a:spcBef>
            </a:pPr>
            <a:endParaRPr lang="en-US" sz="2000" spc="-80">
              <a:solidFill>
                <a:srgbClr val="000000"/>
              </a:solidFill>
              <a:latin typeface="Inter"/>
              <a:ea typeface="Inter"/>
              <a:cs typeface="Inter"/>
              <a:sym typeface="Inter"/>
            </a:endParaRPr>
          </a:p>
        </p:txBody>
      </p:sp>
      <p:sp>
        <p:nvSpPr>
          <p:cNvPr id="20" name="TextBox 20"/>
          <p:cNvSpPr txBox="1"/>
          <p:nvPr/>
        </p:nvSpPr>
        <p:spPr>
          <a:xfrm>
            <a:off x="3747672" y="5713650"/>
            <a:ext cx="1892052" cy="1309910"/>
          </a:xfrm>
          <a:prstGeom prst="rect">
            <a:avLst/>
          </a:prstGeom>
        </p:spPr>
        <p:txBody>
          <a:bodyPr lIns="0" tIns="0" rIns="0" bIns="0" rtlCol="0" anchor="t">
            <a:spAutoFit/>
          </a:bodyPr>
          <a:lstStyle/>
          <a:p>
            <a:pPr algn="ctr">
              <a:lnSpc>
                <a:spcPts val="3510"/>
              </a:lnSpc>
            </a:pPr>
            <a:r>
              <a:rPr lang="en-US" sz="2507" b="1" spc="-100" dirty="0">
                <a:solidFill>
                  <a:srgbClr val="FFF2FA"/>
                </a:solidFill>
                <a:latin typeface="Inter Bold"/>
                <a:ea typeface="Inter Bold"/>
                <a:cs typeface="Inter Bold"/>
                <a:sym typeface="Inter Bold"/>
              </a:rPr>
              <a:t>Age </a:t>
            </a:r>
          </a:p>
          <a:p>
            <a:pPr algn="ctr">
              <a:lnSpc>
                <a:spcPts val="3510"/>
              </a:lnSpc>
            </a:pPr>
            <a:r>
              <a:rPr lang="en-US" sz="2507" b="1" spc="-100" dirty="0">
                <a:solidFill>
                  <a:srgbClr val="FFF2FA"/>
                </a:solidFill>
                <a:latin typeface="Inter Bold"/>
                <a:ea typeface="Inter Bold"/>
                <a:cs typeface="Inter Bold"/>
                <a:sym typeface="Inter Bold"/>
              </a:rPr>
              <a:t>&amp;</a:t>
            </a:r>
          </a:p>
          <a:p>
            <a:pPr algn="ctr">
              <a:lnSpc>
                <a:spcPts val="3510"/>
              </a:lnSpc>
              <a:spcBef>
                <a:spcPct val="0"/>
              </a:spcBef>
            </a:pPr>
            <a:r>
              <a:rPr lang="en-US" sz="2507" b="1" spc="-100" dirty="0">
                <a:solidFill>
                  <a:srgbClr val="FFF2FA"/>
                </a:solidFill>
                <a:latin typeface="Inter Bold"/>
                <a:ea typeface="Inter Bold"/>
                <a:cs typeface="Inter Bold"/>
                <a:sym typeface="Inter Bold"/>
              </a:rPr>
              <a:t>Employment</a:t>
            </a:r>
          </a:p>
        </p:txBody>
      </p:sp>
      <p:sp>
        <p:nvSpPr>
          <p:cNvPr id="21" name="TextBox 21"/>
          <p:cNvSpPr txBox="1"/>
          <p:nvPr/>
        </p:nvSpPr>
        <p:spPr>
          <a:xfrm>
            <a:off x="8160321" y="3481698"/>
            <a:ext cx="1991482" cy="869696"/>
          </a:xfrm>
          <a:prstGeom prst="rect">
            <a:avLst/>
          </a:prstGeom>
        </p:spPr>
        <p:txBody>
          <a:bodyPr wrap="square" lIns="0" tIns="0" rIns="0" bIns="0" rtlCol="0" anchor="t">
            <a:spAutoFit/>
          </a:bodyPr>
          <a:lstStyle/>
          <a:p>
            <a:pPr algn="ctr">
              <a:lnSpc>
                <a:spcPts val="3514"/>
              </a:lnSpc>
            </a:pPr>
            <a:r>
              <a:rPr lang="en-US" sz="2510" b="1" spc="-100" dirty="0">
                <a:solidFill>
                  <a:srgbClr val="FFFFFF"/>
                </a:solidFill>
                <a:latin typeface="Inter Bold"/>
                <a:ea typeface="Inter Bold"/>
                <a:cs typeface="Inter Bold"/>
                <a:sym typeface="Inter Bold"/>
              </a:rPr>
              <a:t>News</a:t>
            </a:r>
          </a:p>
          <a:p>
            <a:pPr algn="ctr">
              <a:lnSpc>
                <a:spcPts val="3514"/>
              </a:lnSpc>
              <a:spcBef>
                <a:spcPct val="0"/>
              </a:spcBef>
            </a:pPr>
            <a:r>
              <a:rPr lang="en-US" sz="2510" b="1" spc="-100" dirty="0">
                <a:solidFill>
                  <a:srgbClr val="FFFFFF"/>
                </a:solidFill>
                <a:latin typeface="Inter Bold"/>
                <a:ea typeface="Inter Bold"/>
                <a:cs typeface="Inter Bold"/>
                <a:sym typeface="Inter Bold"/>
              </a:rPr>
              <a:t>Consumption</a:t>
            </a:r>
          </a:p>
        </p:txBody>
      </p:sp>
      <p:sp>
        <p:nvSpPr>
          <p:cNvPr id="22" name="TextBox 22"/>
          <p:cNvSpPr txBox="1"/>
          <p:nvPr/>
        </p:nvSpPr>
        <p:spPr>
          <a:xfrm>
            <a:off x="12820790" y="971550"/>
            <a:ext cx="1504810" cy="869696"/>
          </a:xfrm>
          <a:prstGeom prst="rect">
            <a:avLst/>
          </a:prstGeom>
        </p:spPr>
        <p:txBody>
          <a:bodyPr wrap="square" lIns="0" tIns="0" rIns="0" bIns="0" rtlCol="0" anchor="t">
            <a:spAutoFit/>
          </a:bodyPr>
          <a:lstStyle/>
          <a:p>
            <a:pPr algn="ctr">
              <a:lnSpc>
                <a:spcPts val="3514"/>
              </a:lnSpc>
            </a:pPr>
            <a:r>
              <a:rPr lang="en-US" sz="2510" b="1" spc="-100" dirty="0">
                <a:solidFill>
                  <a:srgbClr val="FFFFFF"/>
                </a:solidFill>
                <a:latin typeface="Inter Bold"/>
                <a:ea typeface="Inter Bold"/>
                <a:cs typeface="Inter Bold"/>
                <a:sym typeface="Inter Bold"/>
              </a:rPr>
              <a:t>Top</a:t>
            </a:r>
          </a:p>
          <a:p>
            <a:pPr algn="ctr">
              <a:lnSpc>
                <a:spcPts val="3514"/>
              </a:lnSpc>
              <a:spcBef>
                <a:spcPct val="0"/>
              </a:spcBef>
            </a:pPr>
            <a:r>
              <a:rPr lang="en-US" sz="2510" b="1" spc="-100" dirty="0">
                <a:solidFill>
                  <a:srgbClr val="FFFFFF"/>
                </a:solidFill>
                <a:latin typeface="Inter Bold"/>
                <a:ea typeface="Inter Bold"/>
                <a:cs typeface="Inter Bold"/>
                <a:sym typeface="Inter Bold"/>
              </a:rPr>
              <a:t>Platforms</a:t>
            </a:r>
          </a:p>
        </p:txBody>
      </p:sp>
      <p:sp>
        <p:nvSpPr>
          <p:cNvPr id="23" name="Freeform 23"/>
          <p:cNvSpPr/>
          <p:nvPr/>
        </p:nvSpPr>
        <p:spPr>
          <a:xfrm>
            <a:off x="16851149" y="9677728"/>
            <a:ext cx="816303" cy="204076"/>
          </a:xfrm>
          <a:custGeom>
            <a:avLst/>
            <a:gdLst/>
            <a:ahLst/>
            <a:cxnLst/>
            <a:rect l="l" t="t" r="r" b="b"/>
            <a:pathLst>
              <a:path w="816303" h="204076">
                <a:moveTo>
                  <a:pt x="0" y="0"/>
                </a:moveTo>
                <a:lnTo>
                  <a:pt x="816302" y="0"/>
                </a:lnTo>
                <a:lnTo>
                  <a:pt x="816302" y="204075"/>
                </a:lnTo>
                <a:lnTo>
                  <a:pt x="0" y="20407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Tree>
  </p:cSld>
  <p:clrMapOvr>
    <a:masterClrMapping/>
  </p:clrMapOvr>
  <p:transition>
    <p:wip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74455"/>
            <a:ext cx="3999790" cy="11028060"/>
            <a:chOff x="0" y="0"/>
            <a:chExt cx="2551747" cy="7035575"/>
          </a:xfrm>
        </p:grpSpPr>
        <p:sp>
          <p:nvSpPr>
            <p:cNvPr id="3" name="Freeform 3"/>
            <p:cNvSpPr/>
            <p:nvPr/>
          </p:nvSpPr>
          <p:spPr>
            <a:xfrm>
              <a:off x="0" y="0"/>
              <a:ext cx="2551747" cy="7035574"/>
            </a:xfrm>
            <a:custGeom>
              <a:avLst/>
              <a:gdLst/>
              <a:ahLst/>
              <a:cxnLst/>
              <a:rect l="l" t="t" r="r" b="b"/>
              <a:pathLst>
                <a:path w="2551747" h="7035574">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00000"/>
            </a:solidFill>
          </p:spPr>
          <p:txBody>
            <a:bodyPr/>
            <a:lstStyle/>
            <a:p>
              <a:endParaRPr lang="en-US"/>
            </a:p>
          </p:txBody>
        </p:sp>
      </p:grpSp>
      <p:sp>
        <p:nvSpPr>
          <p:cNvPr id="4" name="AutoShape 4"/>
          <p:cNvSpPr/>
          <p:nvPr/>
        </p:nvSpPr>
        <p:spPr>
          <a:xfrm>
            <a:off x="4515206" y="4067819"/>
            <a:ext cx="13237979"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5" name="Group 5"/>
          <p:cNvGrpSpPr/>
          <p:nvPr/>
        </p:nvGrpSpPr>
        <p:grpSpPr>
          <a:xfrm>
            <a:off x="4515206" y="4580893"/>
            <a:ext cx="4771617" cy="2364148"/>
            <a:chOff x="0" y="0"/>
            <a:chExt cx="3044150" cy="1508256"/>
          </a:xfrm>
        </p:grpSpPr>
        <p:sp>
          <p:nvSpPr>
            <p:cNvPr id="6" name="Freeform 6"/>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grpSp>
        <p:nvGrpSpPr>
          <p:cNvPr id="7" name="Group 7"/>
          <p:cNvGrpSpPr/>
          <p:nvPr/>
        </p:nvGrpSpPr>
        <p:grpSpPr>
          <a:xfrm>
            <a:off x="4515206" y="7454399"/>
            <a:ext cx="4771617" cy="2364148"/>
            <a:chOff x="0" y="0"/>
            <a:chExt cx="3044150" cy="1508256"/>
          </a:xfrm>
        </p:grpSpPr>
        <p:sp>
          <p:nvSpPr>
            <p:cNvPr id="8" name="Freeform 8"/>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sp>
        <p:nvSpPr>
          <p:cNvPr id="9" name="AutoShape 9"/>
          <p:cNvSpPr/>
          <p:nvPr/>
        </p:nvSpPr>
        <p:spPr>
          <a:xfrm>
            <a:off x="9777928" y="6959329"/>
            <a:ext cx="7975257"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10" name="Group 10"/>
          <p:cNvGrpSpPr/>
          <p:nvPr/>
        </p:nvGrpSpPr>
        <p:grpSpPr>
          <a:xfrm>
            <a:off x="523973" y="4580893"/>
            <a:ext cx="2972685" cy="883669"/>
            <a:chOff x="0" y="0"/>
            <a:chExt cx="3963580" cy="1178225"/>
          </a:xfrm>
        </p:grpSpPr>
        <p:grpSp>
          <p:nvGrpSpPr>
            <p:cNvPr id="11" name="Group 11"/>
            <p:cNvGrpSpPr/>
            <p:nvPr/>
          </p:nvGrpSpPr>
          <p:grpSpPr>
            <a:xfrm>
              <a:off x="0" y="0"/>
              <a:ext cx="3963580" cy="1178225"/>
              <a:chOff x="0" y="0"/>
              <a:chExt cx="1367224" cy="406425"/>
            </a:xfrm>
          </p:grpSpPr>
          <p:sp>
            <p:nvSpPr>
              <p:cNvPr id="12" name="Freeform 12"/>
              <p:cNvSpPr/>
              <p:nvPr/>
            </p:nvSpPr>
            <p:spPr>
              <a:xfrm>
                <a:off x="0" y="0"/>
                <a:ext cx="1367224" cy="406425"/>
              </a:xfrm>
              <a:custGeom>
                <a:avLst/>
                <a:gdLst/>
                <a:ahLst/>
                <a:cxnLst/>
                <a:rect l="l" t="t" r="r" b="b"/>
                <a:pathLst>
                  <a:path w="1367224" h="406425">
                    <a:moveTo>
                      <a:pt x="1164024" y="0"/>
                    </a:moveTo>
                    <a:cubicBezTo>
                      <a:pt x="1276248" y="0"/>
                      <a:pt x="1367224" y="90981"/>
                      <a:pt x="1367224" y="203212"/>
                    </a:cubicBezTo>
                    <a:cubicBezTo>
                      <a:pt x="1367224" y="315444"/>
                      <a:pt x="1276248" y="406425"/>
                      <a:pt x="1164024" y="406425"/>
                    </a:cubicBezTo>
                    <a:lnTo>
                      <a:pt x="203200" y="406425"/>
                    </a:lnTo>
                    <a:cubicBezTo>
                      <a:pt x="90976" y="406425"/>
                      <a:pt x="0" y="315444"/>
                      <a:pt x="0" y="203212"/>
                    </a:cubicBezTo>
                    <a:cubicBezTo>
                      <a:pt x="0" y="90981"/>
                      <a:pt x="90976" y="0"/>
                      <a:pt x="203200" y="0"/>
                    </a:cubicBezTo>
                    <a:close/>
                  </a:path>
                </a:pathLst>
              </a:custGeom>
              <a:solidFill>
                <a:srgbClr val="202020"/>
              </a:solidFill>
            </p:spPr>
            <p:txBody>
              <a:bodyPr/>
              <a:lstStyle/>
              <a:p>
                <a:endParaRPr lang="en-US"/>
              </a:p>
            </p:txBody>
          </p:sp>
          <p:sp>
            <p:nvSpPr>
              <p:cNvPr id="13" name="TextBox 13"/>
              <p:cNvSpPr txBox="1"/>
              <p:nvPr/>
            </p:nvSpPr>
            <p:spPr>
              <a:xfrm>
                <a:off x="0" y="-28575"/>
                <a:ext cx="1367224" cy="435000"/>
              </a:xfrm>
              <a:prstGeom prst="rect">
                <a:avLst/>
              </a:prstGeom>
            </p:spPr>
            <p:txBody>
              <a:bodyPr lIns="50800" tIns="50800" rIns="50800" bIns="50800" rtlCol="0" anchor="ctr"/>
              <a:lstStyle/>
              <a:p>
                <a:pPr algn="ctr">
                  <a:lnSpc>
                    <a:spcPts val="2698"/>
                  </a:lnSpc>
                </a:pPr>
                <a:endParaRPr/>
              </a:p>
            </p:txBody>
          </p:sp>
        </p:grpSp>
        <p:sp>
          <p:nvSpPr>
            <p:cNvPr id="14" name="TextBox 14"/>
            <p:cNvSpPr txBox="1"/>
            <p:nvPr/>
          </p:nvSpPr>
          <p:spPr>
            <a:xfrm>
              <a:off x="346387" y="81113"/>
              <a:ext cx="3243019" cy="1054100"/>
            </a:xfrm>
            <a:prstGeom prst="rect">
              <a:avLst/>
            </a:prstGeom>
          </p:spPr>
          <p:txBody>
            <a:bodyPr lIns="0" tIns="0" rIns="0" bIns="0" rtlCol="0" anchor="t">
              <a:spAutoFit/>
            </a:bodyPr>
            <a:lstStyle/>
            <a:p>
              <a:pPr marL="0" lvl="0" indent="0" algn="ctr">
                <a:lnSpc>
                  <a:spcPts val="5399"/>
                </a:lnSpc>
                <a:spcBef>
                  <a:spcPct val="0"/>
                </a:spcBef>
              </a:pPr>
              <a:r>
                <a:rPr lang="en-US" sz="4499" b="1">
                  <a:solidFill>
                    <a:srgbClr val="FFFFFF"/>
                  </a:solidFill>
                  <a:latin typeface="Kitchakan Bold"/>
                  <a:ea typeface="Kitchakan Bold"/>
                  <a:cs typeface="Kitchakan Bold"/>
                  <a:sym typeface="Kitchakan Bold"/>
                </a:rPr>
                <a:t>JERRY</a:t>
              </a:r>
            </a:p>
          </p:txBody>
        </p:sp>
      </p:grpSp>
      <p:grpSp>
        <p:nvGrpSpPr>
          <p:cNvPr id="15" name="Group 15"/>
          <p:cNvGrpSpPr/>
          <p:nvPr/>
        </p:nvGrpSpPr>
        <p:grpSpPr>
          <a:xfrm>
            <a:off x="513552" y="471772"/>
            <a:ext cx="2972685" cy="3773270"/>
            <a:chOff x="0" y="0"/>
            <a:chExt cx="3963580" cy="5031027"/>
          </a:xfrm>
        </p:grpSpPr>
        <p:pic>
          <p:nvPicPr>
            <p:cNvPr id="16" name="Picture 16"/>
            <p:cNvPicPr>
              <a:picLocks noChangeAspect="1"/>
            </p:cNvPicPr>
            <p:nvPr/>
          </p:nvPicPr>
          <p:blipFill>
            <a:blip r:embed="rId3"/>
            <a:srcRect l="14188" r="22921" b="46715"/>
            <a:stretch>
              <a:fillRect/>
            </a:stretch>
          </p:blipFill>
          <p:spPr>
            <a:xfrm>
              <a:off x="0" y="0"/>
              <a:ext cx="3963580" cy="5031027"/>
            </a:xfrm>
            <a:prstGeom prst="rect">
              <a:avLst/>
            </a:prstGeom>
          </p:spPr>
        </p:pic>
      </p:grpSp>
      <p:grpSp>
        <p:nvGrpSpPr>
          <p:cNvPr id="17" name="Group 17"/>
          <p:cNvGrpSpPr/>
          <p:nvPr/>
        </p:nvGrpSpPr>
        <p:grpSpPr>
          <a:xfrm>
            <a:off x="4515206" y="641511"/>
            <a:ext cx="4771617" cy="2950111"/>
            <a:chOff x="0" y="0"/>
            <a:chExt cx="6362157" cy="3933482"/>
          </a:xfrm>
        </p:grpSpPr>
        <p:sp>
          <p:nvSpPr>
            <p:cNvPr id="18" name="TextBox 18"/>
            <p:cNvSpPr txBox="1"/>
            <p:nvPr/>
          </p:nvSpPr>
          <p:spPr>
            <a:xfrm>
              <a:off x="0" y="854663"/>
              <a:ext cx="6171725" cy="3078818"/>
            </a:xfrm>
            <a:prstGeom prst="rect">
              <a:avLst/>
            </a:prstGeom>
          </p:spPr>
          <p:txBody>
            <a:bodyPr lIns="0" tIns="0" rIns="0" bIns="0" rtlCol="0" anchor="t">
              <a:spAutoFit/>
            </a:bodyPr>
            <a:lstStyle/>
            <a:p>
              <a:pPr algn="l">
                <a:lnSpc>
                  <a:spcPts val="2698"/>
                </a:lnSpc>
              </a:pPr>
              <a:r>
                <a:rPr lang="en-US" sz="1900">
                  <a:solidFill>
                    <a:srgbClr val="000000"/>
                  </a:solidFill>
                  <a:latin typeface="Inter"/>
                  <a:ea typeface="Inter"/>
                  <a:cs typeface="Inter"/>
                  <a:sym typeface="Inter"/>
                </a:rPr>
                <a:t>Jerry is a US student who primarily uses social media for news. He's a frequent streamer (About once a week) but wants news apps to be more balanced. He's highly aware of algorithms and wants transparency.</a:t>
              </a:r>
            </a:p>
            <a:p>
              <a:pPr algn="l">
                <a:lnSpc>
                  <a:spcPts val="2698"/>
                </a:lnSpc>
              </a:pPr>
              <a:endParaRPr lang="en-US" sz="1900">
                <a:solidFill>
                  <a:srgbClr val="000000"/>
                </a:solidFill>
                <a:latin typeface="Inter"/>
                <a:ea typeface="Inter"/>
                <a:cs typeface="Inter"/>
                <a:sym typeface="Inter"/>
              </a:endParaRPr>
            </a:p>
          </p:txBody>
        </p:sp>
        <p:sp>
          <p:nvSpPr>
            <p:cNvPr id="19" name="TextBox 19"/>
            <p:cNvSpPr txBox="1"/>
            <p:nvPr/>
          </p:nvSpPr>
          <p:spPr>
            <a:xfrm>
              <a:off x="0" y="-95250"/>
              <a:ext cx="6362157"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BACKGROUND</a:t>
              </a:r>
            </a:p>
          </p:txBody>
        </p:sp>
      </p:grpSp>
      <p:grpSp>
        <p:nvGrpSpPr>
          <p:cNvPr id="20" name="Group 20"/>
          <p:cNvGrpSpPr/>
          <p:nvPr/>
        </p:nvGrpSpPr>
        <p:grpSpPr>
          <a:xfrm>
            <a:off x="9777928" y="641511"/>
            <a:ext cx="3742076" cy="2283361"/>
            <a:chOff x="0" y="0"/>
            <a:chExt cx="4989435" cy="3044482"/>
          </a:xfrm>
        </p:grpSpPr>
        <p:sp>
          <p:nvSpPr>
            <p:cNvPr id="21" name="TextBox 21"/>
            <p:cNvSpPr txBox="1"/>
            <p:nvPr/>
          </p:nvSpPr>
          <p:spPr>
            <a:xfrm>
              <a:off x="0" y="854663"/>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Media-Literate</a:t>
              </a:r>
            </a:p>
            <a:p>
              <a:pPr marL="410211" lvl="1" indent="-205106" algn="l">
                <a:lnSpc>
                  <a:spcPts val="2698"/>
                </a:lnSpc>
                <a:buFont typeface="Arial"/>
                <a:buChar char="•"/>
              </a:pPr>
              <a:r>
                <a:rPr lang="en-US" sz="1900">
                  <a:solidFill>
                    <a:srgbClr val="000000"/>
                  </a:solidFill>
                  <a:latin typeface="Inter"/>
                  <a:ea typeface="Inter"/>
                  <a:cs typeface="Inter"/>
                  <a:sym typeface="Inter"/>
                </a:rPr>
                <a:t>Idealistic</a:t>
              </a:r>
            </a:p>
            <a:p>
              <a:pPr marL="410211" lvl="1" indent="-205106" algn="l">
                <a:lnSpc>
                  <a:spcPts val="2698"/>
                </a:lnSpc>
                <a:buFont typeface="Arial"/>
                <a:buChar char="•"/>
              </a:pPr>
              <a:r>
                <a:rPr lang="en-US" sz="1900">
                  <a:solidFill>
                    <a:srgbClr val="000000"/>
                  </a:solidFill>
                  <a:latin typeface="Inter"/>
                  <a:ea typeface="Inter"/>
                  <a:cs typeface="Inter"/>
                  <a:sym typeface="Inter"/>
                </a:rPr>
                <a:t>Community-Oriented</a:t>
              </a:r>
            </a:p>
            <a:p>
              <a:pPr marL="410211" lvl="1" indent="-205106" algn="l">
                <a:lnSpc>
                  <a:spcPts val="2698"/>
                </a:lnSpc>
                <a:buFont typeface="Arial"/>
                <a:buChar char="•"/>
              </a:pPr>
              <a:r>
                <a:rPr lang="en-US" sz="1900">
                  <a:solidFill>
                    <a:srgbClr val="000000"/>
                  </a:solidFill>
                  <a:latin typeface="Inter"/>
                  <a:ea typeface="Inter"/>
                  <a:cs typeface="Inter"/>
                  <a:sym typeface="Inter"/>
                </a:rPr>
                <a:t>Skeptical of authority</a:t>
              </a:r>
            </a:p>
            <a:p>
              <a:pPr marL="410211" lvl="1" indent="-205106" algn="l">
                <a:lnSpc>
                  <a:spcPts val="2698"/>
                </a:lnSpc>
                <a:buFont typeface="Arial"/>
                <a:buChar char="•"/>
              </a:pPr>
              <a:r>
                <a:rPr lang="en-US" sz="1900">
                  <a:solidFill>
                    <a:srgbClr val="000000"/>
                  </a:solidFill>
                  <a:latin typeface="Inter"/>
                  <a:ea typeface="Inter"/>
                  <a:cs typeface="Inter"/>
                  <a:sym typeface="Inter"/>
                </a:rPr>
                <a:t>Seeks Fairness</a:t>
              </a:r>
            </a:p>
          </p:txBody>
        </p:sp>
        <p:sp>
          <p:nvSpPr>
            <p:cNvPr id="22" name="TextBox 22"/>
            <p:cNvSpPr txBox="1"/>
            <p:nvPr/>
          </p:nvSpPr>
          <p:spPr>
            <a:xfrm>
              <a:off x="0" y="-95250"/>
              <a:ext cx="4989435"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PERSONAL CHARACTERISTICS</a:t>
              </a:r>
            </a:p>
          </p:txBody>
        </p:sp>
      </p:grpSp>
      <p:grpSp>
        <p:nvGrpSpPr>
          <p:cNvPr id="23" name="Group 23"/>
          <p:cNvGrpSpPr/>
          <p:nvPr/>
        </p:nvGrpSpPr>
        <p:grpSpPr>
          <a:xfrm>
            <a:off x="14012499" y="641511"/>
            <a:ext cx="3740686" cy="3283432"/>
            <a:chOff x="0" y="0"/>
            <a:chExt cx="4987582" cy="4377910"/>
          </a:xfrm>
        </p:grpSpPr>
        <p:sp>
          <p:nvSpPr>
            <p:cNvPr id="24" name="TextBox 24"/>
            <p:cNvSpPr txBox="1"/>
            <p:nvPr/>
          </p:nvSpPr>
          <p:spPr>
            <a:xfrm>
              <a:off x="0" y="854591"/>
              <a:ext cx="4987582" cy="3523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Debating current events (online/in-person)</a:t>
              </a:r>
            </a:p>
            <a:p>
              <a:pPr marL="410211" lvl="1" indent="-205106" algn="l">
                <a:lnSpc>
                  <a:spcPts val="2698"/>
                </a:lnSpc>
                <a:buFont typeface="Arial"/>
                <a:buChar char="•"/>
              </a:pPr>
              <a:r>
                <a:rPr lang="en-US" sz="1900">
                  <a:solidFill>
                    <a:srgbClr val="000000"/>
                  </a:solidFill>
                  <a:latin typeface="Inter"/>
                  <a:ea typeface="Inter"/>
                  <a:cs typeface="Inter"/>
                  <a:sym typeface="Inter"/>
                </a:rPr>
                <a:t>Long-form podcast consumption</a:t>
              </a:r>
            </a:p>
            <a:p>
              <a:pPr marL="410211" lvl="1" indent="-205106" algn="l">
                <a:lnSpc>
                  <a:spcPts val="2698"/>
                </a:lnSpc>
                <a:buFont typeface="Arial"/>
                <a:buChar char="•"/>
              </a:pPr>
              <a:r>
                <a:rPr lang="en-US" sz="1900">
                  <a:solidFill>
                    <a:srgbClr val="000000"/>
                  </a:solidFill>
                  <a:latin typeface="Inter"/>
                  <a:ea typeface="Inter"/>
                  <a:cs typeface="Inter"/>
                  <a:sym typeface="Inter"/>
                </a:rPr>
                <a:t>Following political/social commentary</a:t>
              </a:r>
            </a:p>
            <a:p>
              <a:pPr marL="410211" lvl="1" indent="-205106" algn="l">
                <a:lnSpc>
                  <a:spcPts val="2698"/>
                </a:lnSpc>
                <a:buFont typeface="Arial"/>
                <a:buChar char="•"/>
              </a:pPr>
              <a:r>
                <a:rPr lang="en-US" sz="1900">
                  <a:solidFill>
                    <a:srgbClr val="000000"/>
                  </a:solidFill>
                  <a:latin typeface="Inter"/>
                  <a:ea typeface="Inter"/>
                  <a:cs typeface="Inter"/>
                  <a:sym typeface="Inter"/>
                </a:rPr>
                <a:t>Casual gaming (for social interaction)</a:t>
              </a:r>
            </a:p>
          </p:txBody>
        </p:sp>
        <p:sp>
          <p:nvSpPr>
            <p:cNvPr id="25" name="TextBox 25"/>
            <p:cNvSpPr txBox="1"/>
            <p:nvPr/>
          </p:nvSpPr>
          <p:spPr>
            <a:xfrm>
              <a:off x="0" y="-95250"/>
              <a:ext cx="4987582"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HOBBIES AND INTERESTS</a:t>
              </a:r>
            </a:p>
          </p:txBody>
        </p:sp>
      </p:grpSp>
      <p:grpSp>
        <p:nvGrpSpPr>
          <p:cNvPr id="26" name="Group 26"/>
          <p:cNvGrpSpPr/>
          <p:nvPr/>
        </p:nvGrpSpPr>
        <p:grpSpPr>
          <a:xfrm>
            <a:off x="4808227" y="4723403"/>
            <a:ext cx="3641851" cy="840249"/>
            <a:chOff x="0" y="0"/>
            <a:chExt cx="4855801" cy="1120332"/>
          </a:xfrm>
        </p:grpSpPr>
        <p:sp>
          <p:nvSpPr>
            <p:cNvPr id="27" name="TextBox 27"/>
            <p:cNvSpPr txBox="1"/>
            <p:nvPr/>
          </p:nvSpPr>
          <p:spPr>
            <a:xfrm>
              <a:off x="0" y="708513"/>
              <a:ext cx="4855801" cy="4118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About Once A Week</a:t>
              </a:r>
            </a:p>
          </p:txBody>
        </p:sp>
        <p:sp>
          <p:nvSpPr>
            <p:cNvPr id="28" name="TextBox 28"/>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WATCHES NEWS ONLINE</a:t>
              </a:r>
            </a:p>
          </p:txBody>
        </p:sp>
      </p:grpSp>
      <p:grpSp>
        <p:nvGrpSpPr>
          <p:cNvPr id="29" name="Group 29"/>
          <p:cNvGrpSpPr/>
          <p:nvPr/>
        </p:nvGrpSpPr>
        <p:grpSpPr>
          <a:xfrm>
            <a:off x="9777928" y="4580893"/>
            <a:ext cx="3742076" cy="1482115"/>
            <a:chOff x="0" y="0"/>
            <a:chExt cx="4989435" cy="1976153"/>
          </a:xfrm>
        </p:grpSpPr>
        <p:sp>
          <p:nvSpPr>
            <p:cNvPr id="30" name="TextBox 30"/>
            <p:cNvSpPr txBox="1"/>
            <p:nvPr/>
          </p:nvSpPr>
          <p:spPr>
            <a:xfrm>
              <a:off x="0" y="675334"/>
              <a:ext cx="4989435" cy="1300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Find balanced</a:t>
              </a:r>
            </a:p>
            <a:p>
              <a:pPr marL="410211" lvl="1" indent="-205106" algn="l">
                <a:lnSpc>
                  <a:spcPts val="2698"/>
                </a:lnSpc>
                <a:buFont typeface="Arial"/>
                <a:buChar char="•"/>
              </a:pPr>
              <a:r>
                <a:rPr lang="en-US" sz="1900">
                  <a:solidFill>
                    <a:srgbClr val="000000"/>
                  </a:solidFill>
                  <a:latin typeface="Inter"/>
                  <a:ea typeface="Inter"/>
                  <a:cs typeface="Inter"/>
                  <a:sym typeface="Inter"/>
                </a:rPr>
                <a:t>High-Quality News</a:t>
              </a:r>
            </a:p>
            <a:p>
              <a:pPr marL="410211" lvl="1" indent="-205106" algn="l">
                <a:lnSpc>
                  <a:spcPts val="2698"/>
                </a:lnSpc>
                <a:buFont typeface="Arial"/>
                <a:buChar char="•"/>
              </a:pPr>
              <a:r>
                <a:rPr lang="en-US" sz="1900">
                  <a:solidFill>
                    <a:srgbClr val="000000"/>
                  </a:solidFill>
                  <a:latin typeface="Inter"/>
                  <a:ea typeface="Inter"/>
                  <a:cs typeface="Inter"/>
                  <a:sym typeface="Inter"/>
                </a:rPr>
                <a:t>Variety of perspectives</a:t>
              </a:r>
            </a:p>
          </p:txBody>
        </p:sp>
        <p:sp>
          <p:nvSpPr>
            <p:cNvPr id="31" name="TextBox 31"/>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GOALS</a:t>
              </a:r>
            </a:p>
          </p:txBody>
        </p:sp>
      </p:grpSp>
      <p:grpSp>
        <p:nvGrpSpPr>
          <p:cNvPr id="32" name="Group 32"/>
          <p:cNvGrpSpPr/>
          <p:nvPr/>
        </p:nvGrpSpPr>
        <p:grpSpPr>
          <a:xfrm>
            <a:off x="4808227" y="7622800"/>
            <a:ext cx="3641851" cy="1175639"/>
            <a:chOff x="0" y="0"/>
            <a:chExt cx="4855801" cy="1567518"/>
          </a:xfrm>
        </p:grpSpPr>
        <p:sp>
          <p:nvSpPr>
            <p:cNvPr id="33" name="TextBox 33"/>
            <p:cNvSpPr txBox="1"/>
            <p:nvPr/>
          </p:nvSpPr>
          <p:spPr>
            <a:xfrm>
              <a:off x="0" y="711200"/>
              <a:ext cx="4855801" cy="8563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YouTube (for deep-dives), Instagram, TikTok</a:t>
              </a:r>
            </a:p>
          </p:txBody>
        </p:sp>
        <p:sp>
          <p:nvSpPr>
            <p:cNvPr id="34" name="TextBox 34"/>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TOP PLATFORMS</a:t>
              </a:r>
            </a:p>
          </p:txBody>
        </p:sp>
      </p:grpSp>
      <p:grpSp>
        <p:nvGrpSpPr>
          <p:cNvPr id="35" name="Group 35"/>
          <p:cNvGrpSpPr/>
          <p:nvPr/>
        </p:nvGrpSpPr>
        <p:grpSpPr>
          <a:xfrm>
            <a:off x="14011108" y="4580893"/>
            <a:ext cx="3742076" cy="1482115"/>
            <a:chOff x="0" y="0"/>
            <a:chExt cx="4989435" cy="1976153"/>
          </a:xfrm>
        </p:grpSpPr>
        <p:sp>
          <p:nvSpPr>
            <p:cNvPr id="36" name="TextBox 36"/>
            <p:cNvSpPr txBox="1"/>
            <p:nvPr/>
          </p:nvSpPr>
          <p:spPr>
            <a:xfrm>
              <a:off x="0" y="675334"/>
              <a:ext cx="4989435" cy="1300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Too biased news feeds</a:t>
              </a:r>
            </a:p>
            <a:p>
              <a:pPr marL="410211" lvl="1" indent="-205106" algn="l">
                <a:lnSpc>
                  <a:spcPts val="2698"/>
                </a:lnSpc>
                <a:buFont typeface="Arial"/>
                <a:buChar char="•"/>
              </a:pPr>
              <a:r>
                <a:rPr lang="en-US" sz="1900">
                  <a:solidFill>
                    <a:srgbClr val="000000"/>
                  </a:solidFill>
                  <a:latin typeface="Inter"/>
                  <a:ea typeface="Inter"/>
                  <a:cs typeface="Inter"/>
                  <a:sym typeface="Inter"/>
                </a:rPr>
                <a:t>Not enough diverse viewpoints</a:t>
              </a:r>
            </a:p>
          </p:txBody>
        </p:sp>
        <p:sp>
          <p:nvSpPr>
            <p:cNvPr id="37" name="TextBox 37"/>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CHALLENGES</a:t>
              </a:r>
            </a:p>
          </p:txBody>
        </p:sp>
      </p:grpSp>
      <p:grpSp>
        <p:nvGrpSpPr>
          <p:cNvPr id="38" name="Group 38"/>
          <p:cNvGrpSpPr/>
          <p:nvPr/>
        </p:nvGrpSpPr>
        <p:grpSpPr>
          <a:xfrm>
            <a:off x="9777928" y="7622800"/>
            <a:ext cx="3742076" cy="1815490"/>
            <a:chOff x="0" y="0"/>
            <a:chExt cx="4989435" cy="2420653"/>
          </a:xfrm>
        </p:grpSpPr>
        <p:sp>
          <p:nvSpPr>
            <p:cNvPr id="39" name="TextBox 39"/>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Actively promotes diverse or opposing viewpoints</a:t>
              </a:r>
            </a:p>
            <a:p>
              <a:pPr marL="410211" lvl="1" indent="-205106" algn="l">
                <a:lnSpc>
                  <a:spcPts val="2698"/>
                </a:lnSpc>
                <a:buFont typeface="Arial"/>
                <a:buChar char="•"/>
              </a:pPr>
              <a:r>
                <a:rPr lang="en-US" sz="1900">
                  <a:solidFill>
                    <a:srgbClr val="000000"/>
                  </a:solidFill>
                  <a:latin typeface="Inter"/>
                  <a:ea typeface="Inter"/>
                  <a:cs typeface="Inter"/>
                  <a:sym typeface="Inter"/>
                </a:rPr>
                <a:t>Transparency on </a:t>
              </a:r>
              <a:r>
                <a:rPr lang="en-US" sz="1900" i="1">
                  <a:solidFill>
                    <a:srgbClr val="000000"/>
                  </a:solidFill>
                  <a:latin typeface="Inter Italics"/>
                  <a:ea typeface="Inter Italics"/>
                  <a:cs typeface="Inter Italics"/>
                  <a:sym typeface="Inter Italics"/>
                </a:rPr>
                <a:t>why</a:t>
              </a:r>
              <a:r>
                <a:rPr lang="en-US" sz="1900">
                  <a:solidFill>
                    <a:srgbClr val="000000"/>
                  </a:solidFill>
                  <a:latin typeface="Inter"/>
                  <a:ea typeface="Inter"/>
                  <a:cs typeface="Inter"/>
                  <a:sym typeface="Inter"/>
                </a:rPr>
                <a:t> he’s seeing a story.</a:t>
              </a:r>
            </a:p>
          </p:txBody>
        </p:sp>
        <p:sp>
          <p:nvSpPr>
            <p:cNvPr id="40" name="TextBox 40"/>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NEEDS</a:t>
              </a:r>
            </a:p>
          </p:txBody>
        </p:sp>
      </p:grpSp>
      <p:grpSp>
        <p:nvGrpSpPr>
          <p:cNvPr id="41" name="Group 41"/>
          <p:cNvGrpSpPr/>
          <p:nvPr/>
        </p:nvGrpSpPr>
        <p:grpSpPr>
          <a:xfrm>
            <a:off x="14011108" y="7622800"/>
            <a:ext cx="3742076" cy="1815490"/>
            <a:chOff x="0" y="0"/>
            <a:chExt cx="4989435" cy="2420653"/>
          </a:xfrm>
        </p:grpSpPr>
        <p:sp>
          <p:nvSpPr>
            <p:cNvPr id="42" name="TextBox 42"/>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Reddit</a:t>
              </a:r>
            </a:p>
            <a:p>
              <a:pPr marL="410211" lvl="1" indent="-205106" algn="l">
                <a:lnSpc>
                  <a:spcPts val="2698"/>
                </a:lnSpc>
                <a:buFont typeface="Arial"/>
                <a:buChar char="•"/>
              </a:pPr>
              <a:r>
                <a:rPr lang="en-US" sz="1900">
                  <a:solidFill>
                    <a:srgbClr val="000000"/>
                  </a:solidFill>
                  <a:latin typeface="Inter"/>
                  <a:ea typeface="Inter"/>
                  <a:cs typeface="Inter"/>
                  <a:sym typeface="Inter"/>
                </a:rPr>
                <a:t>Podcasts</a:t>
              </a:r>
            </a:p>
            <a:p>
              <a:pPr marL="410211" lvl="1" indent="-205106" algn="l">
                <a:lnSpc>
                  <a:spcPts val="2698"/>
                </a:lnSpc>
                <a:buFont typeface="Arial"/>
                <a:buChar char="•"/>
              </a:pPr>
              <a:r>
                <a:rPr lang="en-US" sz="1900">
                  <a:solidFill>
                    <a:srgbClr val="000000"/>
                  </a:solidFill>
                  <a:latin typeface="Inter"/>
                  <a:ea typeface="Inter"/>
                  <a:cs typeface="Inter"/>
                  <a:sym typeface="Inter"/>
                </a:rPr>
                <a:t>Instagram</a:t>
              </a:r>
            </a:p>
            <a:p>
              <a:pPr marL="410211" lvl="1" indent="-205106" algn="l">
                <a:lnSpc>
                  <a:spcPts val="2698"/>
                </a:lnSpc>
                <a:buFont typeface="Arial"/>
                <a:buChar char="•"/>
              </a:pPr>
              <a:r>
                <a:rPr lang="en-US" sz="1900">
                  <a:solidFill>
                    <a:srgbClr val="000000"/>
                  </a:solidFill>
                  <a:latin typeface="Inter"/>
                  <a:ea typeface="Inter"/>
                  <a:cs typeface="Inter"/>
                  <a:sym typeface="Inter"/>
                </a:rPr>
                <a:t>TikTok</a:t>
              </a:r>
            </a:p>
          </p:txBody>
        </p:sp>
        <p:sp>
          <p:nvSpPr>
            <p:cNvPr id="43" name="TextBox 43"/>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SOURCES OF INFO</a:t>
              </a:r>
            </a:p>
          </p:txBody>
        </p:sp>
      </p:grpSp>
      <p:sp>
        <p:nvSpPr>
          <p:cNvPr id="44" name="TextBox 44"/>
          <p:cNvSpPr txBox="1"/>
          <p:nvPr/>
        </p:nvSpPr>
        <p:spPr>
          <a:xfrm>
            <a:off x="523973" y="6144040"/>
            <a:ext cx="2993527" cy="1103376"/>
          </a:xfrm>
          <a:prstGeom prst="rect">
            <a:avLst/>
          </a:prstGeom>
        </p:spPr>
        <p:txBody>
          <a:bodyPr lIns="0" tIns="0" rIns="0" bIns="0" rtlCol="0" anchor="t">
            <a:spAutoFit/>
          </a:bodyPr>
          <a:lstStyle/>
          <a:p>
            <a:pPr marL="453390" lvl="1" indent="-226695" algn="l">
              <a:lnSpc>
                <a:spcPts val="2982"/>
              </a:lnSpc>
              <a:buFont typeface="Arial"/>
              <a:buChar char="•"/>
            </a:pPr>
            <a:r>
              <a:rPr lang="en-US" sz="2100">
                <a:solidFill>
                  <a:srgbClr val="FFFFFF"/>
                </a:solidFill>
                <a:latin typeface="Inter"/>
                <a:ea typeface="Inter"/>
                <a:cs typeface="Inter"/>
                <a:sym typeface="Inter"/>
              </a:rPr>
              <a:t>Age: 22 years old</a:t>
            </a:r>
          </a:p>
          <a:p>
            <a:pPr marL="453390" lvl="1" indent="-226695" algn="l">
              <a:lnSpc>
                <a:spcPts val="2982"/>
              </a:lnSpc>
              <a:buFont typeface="Arial"/>
              <a:buChar char="•"/>
            </a:pPr>
            <a:r>
              <a:rPr lang="en-US" sz="2100">
                <a:solidFill>
                  <a:srgbClr val="FFFFFF"/>
                </a:solidFill>
                <a:latin typeface="Inter"/>
                <a:ea typeface="Inter"/>
                <a:cs typeface="Inter"/>
                <a:sym typeface="Inter"/>
              </a:rPr>
              <a:t>Country: US</a:t>
            </a:r>
          </a:p>
          <a:p>
            <a:pPr marL="453390" lvl="1" indent="-226695" algn="l">
              <a:lnSpc>
                <a:spcPts val="2982"/>
              </a:lnSpc>
              <a:buFont typeface="Arial"/>
              <a:buChar char="•"/>
            </a:pPr>
            <a:r>
              <a:rPr lang="en-US" sz="2100">
                <a:solidFill>
                  <a:srgbClr val="FFFFFF"/>
                </a:solidFill>
                <a:latin typeface="Inter"/>
                <a:ea typeface="Inter"/>
                <a:cs typeface="Inter"/>
                <a:sym typeface="Inter"/>
              </a:rPr>
              <a:t>Profession: Student</a:t>
            </a:r>
          </a:p>
        </p:txBody>
      </p:sp>
      <p:sp>
        <p:nvSpPr>
          <p:cNvPr id="45" name="TextBox 45"/>
          <p:cNvSpPr txBox="1"/>
          <p:nvPr/>
        </p:nvSpPr>
        <p:spPr>
          <a:xfrm>
            <a:off x="643447" y="8637143"/>
            <a:ext cx="2712895" cy="1058175"/>
          </a:xfrm>
          <a:prstGeom prst="rect">
            <a:avLst/>
          </a:prstGeom>
        </p:spPr>
        <p:txBody>
          <a:bodyPr lIns="0" tIns="0" rIns="0" bIns="0" rtlCol="0" anchor="t">
            <a:spAutoFit/>
          </a:bodyPr>
          <a:lstStyle/>
          <a:p>
            <a:pPr marL="0" lvl="0" indent="0" algn="ctr">
              <a:lnSpc>
                <a:spcPts val="2080"/>
              </a:lnSpc>
            </a:pPr>
            <a:r>
              <a:rPr lang="en-US" sz="1600" dirty="0">
                <a:solidFill>
                  <a:srgbClr val="FFFFFF"/>
                </a:solidFill>
                <a:latin typeface="Inter"/>
                <a:ea typeface="Inter"/>
                <a:cs typeface="Inter"/>
                <a:sym typeface="Inter"/>
              </a:rPr>
              <a:t>"I could only wish that news apps were less biased and pour in a mix of varying opinions in my feed."</a:t>
            </a:r>
          </a:p>
        </p:txBody>
      </p:sp>
      <p:sp>
        <p:nvSpPr>
          <p:cNvPr id="46" name="Freeform 46"/>
          <p:cNvSpPr/>
          <p:nvPr/>
        </p:nvSpPr>
        <p:spPr>
          <a:xfrm>
            <a:off x="16936882" y="9562535"/>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74455"/>
            <a:ext cx="3999790" cy="11028060"/>
            <a:chOff x="0" y="0"/>
            <a:chExt cx="2551747" cy="7035575"/>
          </a:xfrm>
        </p:grpSpPr>
        <p:sp>
          <p:nvSpPr>
            <p:cNvPr id="3" name="Freeform 3"/>
            <p:cNvSpPr/>
            <p:nvPr/>
          </p:nvSpPr>
          <p:spPr>
            <a:xfrm>
              <a:off x="0" y="0"/>
              <a:ext cx="2551747" cy="7035574"/>
            </a:xfrm>
            <a:custGeom>
              <a:avLst/>
              <a:gdLst/>
              <a:ahLst/>
              <a:cxnLst/>
              <a:rect l="l" t="t" r="r" b="b"/>
              <a:pathLst>
                <a:path w="2551747" h="7035574">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00000"/>
            </a:solidFill>
          </p:spPr>
          <p:txBody>
            <a:bodyPr/>
            <a:lstStyle/>
            <a:p>
              <a:endParaRPr lang="en-US"/>
            </a:p>
          </p:txBody>
        </p:sp>
      </p:grpSp>
      <p:sp>
        <p:nvSpPr>
          <p:cNvPr id="4" name="AutoShape 4"/>
          <p:cNvSpPr/>
          <p:nvPr/>
        </p:nvSpPr>
        <p:spPr>
          <a:xfrm>
            <a:off x="4515206" y="4067819"/>
            <a:ext cx="13237979"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5" name="Group 5"/>
          <p:cNvGrpSpPr/>
          <p:nvPr/>
        </p:nvGrpSpPr>
        <p:grpSpPr>
          <a:xfrm>
            <a:off x="4515206" y="4580893"/>
            <a:ext cx="4771617" cy="2364148"/>
            <a:chOff x="0" y="0"/>
            <a:chExt cx="3044150" cy="1508256"/>
          </a:xfrm>
        </p:grpSpPr>
        <p:sp>
          <p:nvSpPr>
            <p:cNvPr id="6" name="Freeform 6"/>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grpSp>
        <p:nvGrpSpPr>
          <p:cNvPr id="7" name="Group 7"/>
          <p:cNvGrpSpPr/>
          <p:nvPr/>
        </p:nvGrpSpPr>
        <p:grpSpPr>
          <a:xfrm>
            <a:off x="4515206" y="7454399"/>
            <a:ext cx="4771617" cy="2364148"/>
            <a:chOff x="0" y="0"/>
            <a:chExt cx="3044150" cy="1508256"/>
          </a:xfrm>
        </p:grpSpPr>
        <p:sp>
          <p:nvSpPr>
            <p:cNvPr id="8" name="Freeform 8"/>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sp>
        <p:nvSpPr>
          <p:cNvPr id="9" name="AutoShape 9"/>
          <p:cNvSpPr/>
          <p:nvPr/>
        </p:nvSpPr>
        <p:spPr>
          <a:xfrm>
            <a:off x="9777928" y="6959329"/>
            <a:ext cx="7975257"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10" name="Group 10"/>
          <p:cNvGrpSpPr/>
          <p:nvPr/>
        </p:nvGrpSpPr>
        <p:grpSpPr>
          <a:xfrm>
            <a:off x="523973" y="463187"/>
            <a:ext cx="2972685" cy="3614157"/>
            <a:chOff x="0" y="0"/>
            <a:chExt cx="3963580" cy="4818876"/>
          </a:xfrm>
        </p:grpSpPr>
        <p:pic>
          <p:nvPicPr>
            <p:cNvPr id="11" name="Picture 11"/>
            <p:cNvPicPr>
              <a:picLocks noChangeAspect="1"/>
            </p:cNvPicPr>
            <p:nvPr/>
          </p:nvPicPr>
          <p:blipFill>
            <a:blip r:embed="rId3"/>
            <a:srcRect l="20290" t="23106" r="25011" b="32586"/>
            <a:stretch>
              <a:fillRect/>
            </a:stretch>
          </p:blipFill>
          <p:spPr>
            <a:xfrm>
              <a:off x="0" y="0"/>
              <a:ext cx="3963580" cy="4818876"/>
            </a:xfrm>
            <a:prstGeom prst="rect">
              <a:avLst/>
            </a:prstGeom>
          </p:spPr>
        </p:pic>
      </p:grpSp>
      <p:grpSp>
        <p:nvGrpSpPr>
          <p:cNvPr id="12" name="Group 12"/>
          <p:cNvGrpSpPr/>
          <p:nvPr/>
        </p:nvGrpSpPr>
        <p:grpSpPr>
          <a:xfrm>
            <a:off x="4515206" y="570074"/>
            <a:ext cx="4771617" cy="3453185"/>
            <a:chOff x="0" y="-95250"/>
            <a:chExt cx="6362157" cy="4604247"/>
          </a:xfrm>
        </p:grpSpPr>
        <p:sp>
          <p:nvSpPr>
            <p:cNvPr id="13" name="TextBox 13"/>
            <p:cNvSpPr txBox="1"/>
            <p:nvPr/>
          </p:nvSpPr>
          <p:spPr>
            <a:xfrm>
              <a:off x="0" y="854663"/>
              <a:ext cx="6346121" cy="3654334"/>
            </a:xfrm>
            <a:prstGeom prst="rect">
              <a:avLst/>
            </a:prstGeom>
          </p:spPr>
          <p:txBody>
            <a:bodyPr wrap="square" lIns="0" tIns="0" rIns="0" bIns="0" rtlCol="0" anchor="t">
              <a:spAutoFit/>
            </a:bodyPr>
            <a:lstStyle/>
            <a:p>
              <a:pPr algn="l">
                <a:lnSpc>
                  <a:spcPts val="2698"/>
                </a:lnSpc>
              </a:pPr>
              <a:r>
                <a:rPr lang="en-US" sz="1900" dirty="0">
                  <a:solidFill>
                    <a:srgbClr val="000000"/>
                  </a:solidFill>
                  <a:latin typeface="Inter"/>
                  <a:ea typeface="Inter"/>
                  <a:cs typeface="Inter"/>
                  <a:sym typeface="Inter"/>
                </a:rPr>
                <a:t>Alice is a heavy user of streaming and social media, noting a personalized experience on Netflix, YouTube, and Instagram. She notices and appreciates personalization but is highly distrustful of news apps' use of her data. She prefers a mix of picking her own topics and letting the app learn.</a:t>
              </a:r>
            </a:p>
          </p:txBody>
        </p:sp>
        <p:sp>
          <p:nvSpPr>
            <p:cNvPr id="14" name="TextBox 14"/>
            <p:cNvSpPr txBox="1"/>
            <p:nvPr/>
          </p:nvSpPr>
          <p:spPr>
            <a:xfrm>
              <a:off x="0" y="-95250"/>
              <a:ext cx="6362157"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BACKGROUN</a:t>
              </a:r>
              <a:r>
                <a:rPr lang="en-US" sz="2899" b="1" u="none">
                  <a:solidFill>
                    <a:srgbClr val="000000"/>
                  </a:solidFill>
                  <a:latin typeface="Kitchakan Bold"/>
                  <a:ea typeface="Kitchakan Bold"/>
                  <a:cs typeface="Kitchakan Bold"/>
                  <a:sym typeface="Kitchakan Bold"/>
                </a:rPr>
                <a:t>D</a:t>
              </a:r>
            </a:p>
          </p:txBody>
        </p:sp>
      </p:grpSp>
      <p:grpSp>
        <p:nvGrpSpPr>
          <p:cNvPr id="15" name="Group 15"/>
          <p:cNvGrpSpPr/>
          <p:nvPr/>
        </p:nvGrpSpPr>
        <p:grpSpPr>
          <a:xfrm>
            <a:off x="9777928" y="570074"/>
            <a:ext cx="3742076" cy="2414438"/>
            <a:chOff x="0" y="-95250"/>
            <a:chExt cx="4989435" cy="3219252"/>
          </a:xfrm>
        </p:grpSpPr>
        <p:sp>
          <p:nvSpPr>
            <p:cNvPr id="16" name="TextBox 16"/>
            <p:cNvSpPr txBox="1"/>
            <p:nvPr/>
          </p:nvSpPr>
          <p:spPr>
            <a:xfrm>
              <a:off x="0" y="854663"/>
              <a:ext cx="4989435" cy="2269339"/>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Pragmatic</a:t>
              </a:r>
            </a:p>
            <a:p>
              <a:pPr marL="410211" lvl="1" indent="-205106" algn="l">
                <a:lnSpc>
                  <a:spcPts val="2698"/>
                </a:lnSpc>
                <a:buFont typeface="Arial"/>
                <a:buChar char="•"/>
              </a:pPr>
              <a:r>
                <a:rPr lang="en-US" sz="1900" dirty="0">
                  <a:solidFill>
                    <a:srgbClr val="000000"/>
                  </a:solidFill>
                  <a:latin typeface="Inter"/>
                  <a:ea typeface="Inter"/>
                  <a:cs typeface="Inter"/>
                  <a:sym typeface="Inter"/>
                </a:rPr>
                <a:t>Content-Loyal</a:t>
              </a:r>
            </a:p>
            <a:p>
              <a:pPr marL="410211" lvl="1" indent="-205106" algn="l">
                <a:lnSpc>
                  <a:spcPts val="2698"/>
                </a:lnSpc>
                <a:buFont typeface="Arial"/>
                <a:buChar char="•"/>
              </a:pPr>
              <a:r>
                <a:rPr lang="en-US" sz="1900" dirty="0">
                  <a:solidFill>
                    <a:srgbClr val="000000"/>
                  </a:solidFill>
                  <a:latin typeface="Inter"/>
                  <a:ea typeface="Inter"/>
                  <a:cs typeface="Inter"/>
                  <a:sym typeface="Inter"/>
                </a:rPr>
                <a:t>Efficiency-Focused</a:t>
              </a:r>
            </a:p>
            <a:p>
              <a:pPr marL="410211" lvl="1" indent="-205106" algn="l">
                <a:lnSpc>
                  <a:spcPts val="2698"/>
                </a:lnSpc>
                <a:buFont typeface="Arial"/>
                <a:buChar char="•"/>
              </a:pPr>
              <a:r>
                <a:rPr lang="en-US" sz="1900" dirty="0">
                  <a:solidFill>
                    <a:srgbClr val="000000"/>
                  </a:solidFill>
                  <a:latin typeface="Inter"/>
                  <a:ea typeface="Inter"/>
                  <a:cs typeface="Inter"/>
                  <a:sym typeface="Inter"/>
                </a:rPr>
                <a:t>Trend-Aware</a:t>
              </a:r>
            </a:p>
            <a:p>
              <a:pPr marL="410211" lvl="1" indent="-205106" algn="l">
                <a:lnSpc>
                  <a:spcPts val="2698"/>
                </a:lnSpc>
                <a:buFont typeface="Arial"/>
                <a:buChar char="•"/>
              </a:pPr>
              <a:r>
                <a:rPr lang="en-US" sz="1900" dirty="0">
                  <a:solidFill>
                    <a:srgbClr val="000000"/>
                  </a:solidFill>
                  <a:latin typeface="Inter"/>
                  <a:ea typeface="Inter"/>
                  <a:cs typeface="Inter"/>
                  <a:sym typeface="Inter"/>
                </a:rPr>
                <a:t>Values Curated Quality</a:t>
              </a:r>
            </a:p>
          </p:txBody>
        </p:sp>
        <p:sp>
          <p:nvSpPr>
            <p:cNvPr id="17" name="TextBox 17"/>
            <p:cNvSpPr txBox="1"/>
            <p:nvPr/>
          </p:nvSpPr>
          <p:spPr>
            <a:xfrm>
              <a:off x="0" y="-95250"/>
              <a:ext cx="4989435"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PERSONAL CHARACTERISTICS</a:t>
              </a:r>
            </a:p>
          </p:txBody>
        </p:sp>
      </p:grpSp>
      <p:grpSp>
        <p:nvGrpSpPr>
          <p:cNvPr id="18" name="Group 18"/>
          <p:cNvGrpSpPr/>
          <p:nvPr/>
        </p:nvGrpSpPr>
        <p:grpSpPr>
          <a:xfrm>
            <a:off x="14012499" y="641511"/>
            <a:ext cx="3740686" cy="3283432"/>
            <a:chOff x="0" y="0"/>
            <a:chExt cx="4987582" cy="4377910"/>
          </a:xfrm>
        </p:grpSpPr>
        <p:sp>
          <p:nvSpPr>
            <p:cNvPr id="19" name="TextBox 19"/>
            <p:cNvSpPr txBox="1"/>
            <p:nvPr/>
          </p:nvSpPr>
          <p:spPr>
            <a:xfrm>
              <a:off x="0" y="854591"/>
              <a:ext cx="4987582" cy="3523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Subscribing to niche YouTube channels/creators</a:t>
              </a:r>
            </a:p>
            <a:p>
              <a:pPr marL="410211" lvl="1" indent="-205106" algn="l">
                <a:lnSpc>
                  <a:spcPts val="2698"/>
                </a:lnSpc>
                <a:buFont typeface="Arial"/>
                <a:buChar char="•"/>
              </a:pPr>
              <a:r>
                <a:rPr lang="en-US" sz="1900">
                  <a:solidFill>
                    <a:srgbClr val="000000"/>
                  </a:solidFill>
                  <a:latin typeface="Inter"/>
                  <a:ea typeface="Inter"/>
                  <a:cs typeface="Inter"/>
                  <a:sym typeface="Inter"/>
                </a:rPr>
                <a:t>Following food or travel blogs</a:t>
              </a:r>
            </a:p>
            <a:p>
              <a:pPr marL="410211" lvl="1" indent="-205106" algn="l">
                <a:lnSpc>
                  <a:spcPts val="2698"/>
                </a:lnSpc>
                <a:buFont typeface="Arial"/>
                <a:buChar char="•"/>
              </a:pPr>
              <a:r>
                <a:rPr lang="en-US" sz="1900">
                  <a:solidFill>
                    <a:srgbClr val="000000"/>
                  </a:solidFill>
                  <a:latin typeface="Inter"/>
                  <a:ea typeface="Inter"/>
                  <a:cs typeface="Inter"/>
                  <a:sym typeface="Inter"/>
                </a:rPr>
                <a:t>Fitness tracking and wellness</a:t>
              </a:r>
            </a:p>
            <a:p>
              <a:pPr marL="410211" lvl="1" indent="-205106" algn="l">
                <a:lnSpc>
                  <a:spcPts val="2698"/>
                </a:lnSpc>
                <a:buFont typeface="Arial"/>
                <a:buChar char="•"/>
              </a:pPr>
              <a:r>
                <a:rPr lang="en-US" sz="1900">
                  <a:solidFill>
                    <a:srgbClr val="000000"/>
                  </a:solidFill>
                  <a:latin typeface="Inter"/>
                  <a:ea typeface="Inter"/>
                  <a:cs typeface="Inter"/>
                  <a:sym typeface="Inter"/>
                </a:rPr>
                <a:t>Curating digital playlists (e.g. Spotify)</a:t>
              </a:r>
            </a:p>
          </p:txBody>
        </p:sp>
        <p:sp>
          <p:nvSpPr>
            <p:cNvPr id="20" name="TextBox 20"/>
            <p:cNvSpPr txBox="1"/>
            <p:nvPr/>
          </p:nvSpPr>
          <p:spPr>
            <a:xfrm>
              <a:off x="0" y="-95250"/>
              <a:ext cx="4987582"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HOBBIES AND INTERESTS</a:t>
              </a:r>
            </a:p>
          </p:txBody>
        </p:sp>
      </p:grpSp>
      <p:grpSp>
        <p:nvGrpSpPr>
          <p:cNvPr id="21" name="Group 21"/>
          <p:cNvGrpSpPr/>
          <p:nvPr/>
        </p:nvGrpSpPr>
        <p:grpSpPr>
          <a:xfrm>
            <a:off x="4808227" y="4723403"/>
            <a:ext cx="3641851" cy="840249"/>
            <a:chOff x="0" y="0"/>
            <a:chExt cx="4855801" cy="1120332"/>
          </a:xfrm>
        </p:grpSpPr>
        <p:sp>
          <p:nvSpPr>
            <p:cNvPr id="22" name="TextBox 22"/>
            <p:cNvSpPr txBox="1"/>
            <p:nvPr/>
          </p:nvSpPr>
          <p:spPr>
            <a:xfrm>
              <a:off x="0" y="708513"/>
              <a:ext cx="4855801" cy="4118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Every day</a:t>
              </a:r>
            </a:p>
          </p:txBody>
        </p:sp>
        <p:sp>
          <p:nvSpPr>
            <p:cNvPr id="23" name="TextBox 23"/>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WATCHES NEWS ONLINE</a:t>
              </a:r>
            </a:p>
          </p:txBody>
        </p:sp>
      </p:grpSp>
      <p:grpSp>
        <p:nvGrpSpPr>
          <p:cNvPr id="24" name="Group 24"/>
          <p:cNvGrpSpPr/>
          <p:nvPr/>
        </p:nvGrpSpPr>
        <p:grpSpPr>
          <a:xfrm>
            <a:off x="9777928" y="4509455"/>
            <a:ext cx="3742076" cy="1587446"/>
            <a:chOff x="0" y="-95250"/>
            <a:chExt cx="4989435" cy="2116594"/>
          </a:xfrm>
        </p:grpSpPr>
        <p:sp>
          <p:nvSpPr>
            <p:cNvPr id="25" name="TextBox 25"/>
            <p:cNvSpPr txBox="1"/>
            <p:nvPr/>
          </p:nvSpPr>
          <p:spPr>
            <a:xfrm>
              <a:off x="0" y="675335"/>
              <a:ext cx="4989435" cy="1346009"/>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Get relevant &amp; curated news </a:t>
              </a:r>
            </a:p>
            <a:p>
              <a:pPr marL="410211" lvl="1" indent="-205106" algn="l">
                <a:lnSpc>
                  <a:spcPts val="2698"/>
                </a:lnSpc>
                <a:buFont typeface="Arial"/>
                <a:buChar char="•"/>
              </a:pPr>
              <a:r>
                <a:rPr lang="en-US" sz="1900" dirty="0">
                  <a:solidFill>
                    <a:srgbClr val="000000"/>
                  </a:solidFill>
                  <a:latin typeface="Inter"/>
                  <a:ea typeface="Inter"/>
                  <a:cs typeface="Inter"/>
                  <a:sym typeface="Inter"/>
                </a:rPr>
                <a:t>Get news similar to her personalized content feeds</a:t>
              </a:r>
            </a:p>
          </p:txBody>
        </p:sp>
        <p:sp>
          <p:nvSpPr>
            <p:cNvPr id="26" name="TextBox 26"/>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GOALS</a:t>
              </a:r>
            </a:p>
          </p:txBody>
        </p:sp>
      </p:grpSp>
      <p:grpSp>
        <p:nvGrpSpPr>
          <p:cNvPr id="27" name="Group 27"/>
          <p:cNvGrpSpPr/>
          <p:nvPr/>
        </p:nvGrpSpPr>
        <p:grpSpPr>
          <a:xfrm>
            <a:off x="4808227" y="7622800"/>
            <a:ext cx="3641851" cy="842264"/>
            <a:chOff x="0" y="0"/>
            <a:chExt cx="4855801" cy="1123018"/>
          </a:xfrm>
        </p:grpSpPr>
        <p:sp>
          <p:nvSpPr>
            <p:cNvPr id="28" name="TextBox 28"/>
            <p:cNvSpPr txBox="1"/>
            <p:nvPr/>
          </p:nvSpPr>
          <p:spPr>
            <a:xfrm>
              <a:off x="0" y="711200"/>
              <a:ext cx="4855801" cy="4118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YouTube, Netflix, Spotify</a:t>
              </a:r>
            </a:p>
          </p:txBody>
        </p:sp>
        <p:sp>
          <p:nvSpPr>
            <p:cNvPr id="29" name="TextBox 29"/>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TOP PLATFORMS</a:t>
              </a:r>
            </a:p>
          </p:txBody>
        </p:sp>
      </p:grpSp>
      <p:grpSp>
        <p:nvGrpSpPr>
          <p:cNvPr id="30" name="Group 30"/>
          <p:cNvGrpSpPr/>
          <p:nvPr/>
        </p:nvGrpSpPr>
        <p:grpSpPr>
          <a:xfrm>
            <a:off x="14011108" y="4580893"/>
            <a:ext cx="3742076" cy="2148865"/>
            <a:chOff x="0" y="0"/>
            <a:chExt cx="4989435" cy="2865153"/>
          </a:xfrm>
        </p:grpSpPr>
        <p:sp>
          <p:nvSpPr>
            <p:cNvPr id="31" name="TextBox 31"/>
            <p:cNvSpPr txBox="1"/>
            <p:nvPr/>
          </p:nvSpPr>
          <p:spPr>
            <a:xfrm>
              <a:off x="0" y="675334"/>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Doesn’t trust news apps with her data</a:t>
              </a:r>
            </a:p>
            <a:p>
              <a:pPr marL="410211" lvl="1" indent="-205106" algn="l">
                <a:lnSpc>
                  <a:spcPts val="2698"/>
                </a:lnSpc>
                <a:buFont typeface="Arial"/>
                <a:buChar char="•"/>
              </a:pPr>
              <a:r>
                <a:rPr lang="en-US" sz="1900">
                  <a:solidFill>
                    <a:srgbClr val="000000"/>
                  </a:solidFill>
                  <a:latin typeface="Inter"/>
                  <a:ea typeface="Inter"/>
                  <a:cs typeface="Inter"/>
                  <a:sym typeface="Inter"/>
                </a:rPr>
                <a:t>Wants content from familiar, subscribed sources she trusts</a:t>
              </a:r>
            </a:p>
          </p:txBody>
        </p:sp>
        <p:sp>
          <p:nvSpPr>
            <p:cNvPr id="32" name="TextBox 32"/>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CHALLENGES</a:t>
              </a:r>
            </a:p>
          </p:txBody>
        </p:sp>
      </p:grpSp>
      <p:grpSp>
        <p:nvGrpSpPr>
          <p:cNvPr id="33" name="Group 33"/>
          <p:cNvGrpSpPr/>
          <p:nvPr/>
        </p:nvGrpSpPr>
        <p:grpSpPr>
          <a:xfrm>
            <a:off x="9777928" y="7622800"/>
            <a:ext cx="3742076" cy="1815490"/>
            <a:chOff x="0" y="0"/>
            <a:chExt cx="4989435" cy="2420653"/>
          </a:xfrm>
        </p:grpSpPr>
        <p:sp>
          <p:nvSpPr>
            <p:cNvPr id="34" name="TextBox 34"/>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Features that prioritize creators</a:t>
              </a:r>
            </a:p>
            <a:p>
              <a:pPr marL="410211" lvl="1" indent="-205106" algn="l">
                <a:lnSpc>
                  <a:spcPts val="2698"/>
                </a:lnSpc>
                <a:buFont typeface="Arial"/>
                <a:buChar char="•"/>
              </a:pPr>
              <a:r>
                <a:rPr lang="en-US" sz="1900">
                  <a:solidFill>
                    <a:srgbClr val="000000"/>
                  </a:solidFill>
                  <a:latin typeface="Inter"/>
                  <a:ea typeface="Inter"/>
                  <a:cs typeface="Inter"/>
                  <a:sym typeface="Inter"/>
                </a:rPr>
                <a:t>Sources she actively follows</a:t>
              </a:r>
            </a:p>
            <a:p>
              <a:pPr marL="410211" lvl="1" indent="-205106" algn="l">
                <a:lnSpc>
                  <a:spcPts val="2698"/>
                </a:lnSpc>
                <a:buFont typeface="Arial"/>
                <a:buChar char="•"/>
              </a:pPr>
              <a:r>
                <a:rPr lang="en-US" sz="1900">
                  <a:solidFill>
                    <a:srgbClr val="000000"/>
                  </a:solidFill>
                  <a:latin typeface="Inter"/>
                  <a:ea typeface="Inter"/>
                  <a:cs typeface="Inter"/>
                  <a:sym typeface="Inter"/>
                </a:rPr>
                <a:t>Clear data privacy controls</a:t>
              </a:r>
            </a:p>
          </p:txBody>
        </p:sp>
        <p:sp>
          <p:nvSpPr>
            <p:cNvPr id="35" name="TextBox 35"/>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NEEDS</a:t>
              </a:r>
            </a:p>
          </p:txBody>
        </p:sp>
      </p:grpSp>
      <p:grpSp>
        <p:nvGrpSpPr>
          <p:cNvPr id="36" name="Group 36"/>
          <p:cNvGrpSpPr/>
          <p:nvPr/>
        </p:nvGrpSpPr>
        <p:grpSpPr>
          <a:xfrm>
            <a:off x="14011108" y="7622800"/>
            <a:ext cx="3742076" cy="1148740"/>
            <a:chOff x="0" y="0"/>
            <a:chExt cx="4989435" cy="1531653"/>
          </a:xfrm>
        </p:grpSpPr>
        <p:sp>
          <p:nvSpPr>
            <p:cNvPr id="37" name="TextBox 37"/>
            <p:cNvSpPr txBox="1"/>
            <p:nvPr/>
          </p:nvSpPr>
          <p:spPr>
            <a:xfrm>
              <a:off x="0" y="675334"/>
              <a:ext cx="4989435" cy="856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Podcast</a:t>
              </a:r>
            </a:p>
            <a:p>
              <a:pPr marL="410211" lvl="1" indent="-205106" algn="l">
                <a:lnSpc>
                  <a:spcPts val="2698"/>
                </a:lnSpc>
                <a:buFont typeface="Arial"/>
                <a:buChar char="•"/>
              </a:pPr>
              <a:r>
                <a:rPr lang="en-US" sz="1900">
                  <a:solidFill>
                    <a:srgbClr val="000000"/>
                  </a:solidFill>
                  <a:latin typeface="Inter"/>
                  <a:ea typeface="Inter"/>
                  <a:cs typeface="Inter"/>
                  <a:sym typeface="Inter"/>
                </a:rPr>
                <a:t>YouTube</a:t>
              </a:r>
            </a:p>
          </p:txBody>
        </p:sp>
        <p:sp>
          <p:nvSpPr>
            <p:cNvPr id="38" name="TextBox 38"/>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SOURCES OF INFO</a:t>
              </a:r>
            </a:p>
          </p:txBody>
        </p:sp>
      </p:grpSp>
      <p:sp>
        <p:nvSpPr>
          <p:cNvPr id="39" name="TextBox 39"/>
          <p:cNvSpPr txBox="1"/>
          <p:nvPr/>
        </p:nvSpPr>
        <p:spPr>
          <a:xfrm>
            <a:off x="523973" y="5958303"/>
            <a:ext cx="2993527" cy="1474851"/>
          </a:xfrm>
          <a:prstGeom prst="rect">
            <a:avLst/>
          </a:prstGeom>
        </p:spPr>
        <p:txBody>
          <a:bodyPr lIns="0" tIns="0" rIns="0" bIns="0" rtlCol="0" anchor="t">
            <a:spAutoFit/>
          </a:bodyPr>
          <a:lstStyle/>
          <a:p>
            <a:pPr marL="453390" lvl="1" indent="-226695" algn="l">
              <a:lnSpc>
                <a:spcPts val="2982"/>
              </a:lnSpc>
              <a:buFont typeface="Arial"/>
              <a:buChar char="•"/>
            </a:pPr>
            <a:r>
              <a:rPr lang="en-US" sz="2100">
                <a:solidFill>
                  <a:srgbClr val="FFFFFF"/>
                </a:solidFill>
                <a:latin typeface="Inter"/>
                <a:ea typeface="Inter"/>
                <a:cs typeface="Inter"/>
                <a:sym typeface="Inter"/>
              </a:rPr>
              <a:t>Age: 27 years old</a:t>
            </a:r>
          </a:p>
          <a:p>
            <a:pPr marL="453390" lvl="1" indent="-226695" algn="l">
              <a:lnSpc>
                <a:spcPts val="2982"/>
              </a:lnSpc>
              <a:buFont typeface="Arial"/>
              <a:buChar char="•"/>
            </a:pPr>
            <a:r>
              <a:rPr lang="en-US" sz="2100">
                <a:solidFill>
                  <a:srgbClr val="FFFFFF"/>
                </a:solidFill>
                <a:latin typeface="Inter"/>
                <a:ea typeface="Inter"/>
                <a:cs typeface="Inter"/>
                <a:sym typeface="Inter"/>
              </a:rPr>
              <a:t>Country: US</a:t>
            </a:r>
          </a:p>
          <a:p>
            <a:pPr marL="453390" lvl="1" indent="-226695" algn="l">
              <a:lnSpc>
                <a:spcPts val="2982"/>
              </a:lnSpc>
              <a:buFont typeface="Arial"/>
              <a:buChar char="•"/>
            </a:pPr>
            <a:r>
              <a:rPr lang="en-US" sz="2100">
                <a:solidFill>
                  <a:srgbClr val="FFFFFF"/>
                </a:solidFill>
                <a:latin typeface="Inter"/>
                <a:ea typeface="Inter"/>
                <a:cs typeface="Inter"/>
                <a:sym typeface="Inter"/>
              </a:rPr>
              <a:t>Profession: Marketing Director</a:t>
            </a:r>
          </a:p>
        </p:txBody>
      </p:sp>
      <p:grpSp>
        <p:nvGrpSpPr>
          <p:cNvPr id="40" name="Group 40"/>
          <p:cNvGrpSpPr/>
          <p:nvPr/>
        </p:nvGrpSpPr>
        <p:grpSpPr>
          <a:xfrm>
            <a:off x="523973" y="4580893"/>
            <a:ext cx="2972685" cy="883615"/>
            <a:chOff x="0" y="0"/>
            <a:chExt cx="3963580" cy="1178153"/>
          </a:xfrm>
        </p:grpSpPr>
        <p:grpSp>
          <p:nvGrpSpPr>
            <p:cNvPr id="41" name="Group 41"/>
            <p:cNvGrpSpPr/>
            <p:nvPr/>
          </p:nvGrpSpPr>
          <p:grpSpPr>
            <a:xfrm>
              <a:off x="0" y="0"/>
              <a:ext cx="3963580" cy="1178153"/>
              <a:chOff x="0" y="0"/>
              <a:chExt cx="1367224" cy="406400"/>
            </a:xfrm>
          </p:grpSpPr>
          <p:sp>
            <p:nvSpPr>
              <p:cNvPr id="42" name="Freeform 42"/>
              <p:cNvSpPr/>
              <p:nvPr/>
            </p:nvSpPr>
            <p:spPr>
              <a:xfrm>
                <a:off x="0" y="0"/>
                <a:ext cx="1367224" cy="406400"/>
              </a:xfrm>
              <a:custGeom>
                <a:avLst/>
                <a:gdLst/>
                <a:ahLst/>
                <a:cxnLst/>
                <a:rect l="l" t="t" r="r" b="b"/>
                <a:pathLst>
                  <a:path w="1367224" h="406400">
                    <a:moveTo>
                      <a:pt x="1164024" y="0"/>
                    </a:moveTo>
                    <a:cubicBezTo>
                      <a:pt x="1276248" y="0"/>
                      <a:pt x="1367224" y="90976"/>
                      <a:pt x="1367224" y="203200"/>
                    </a:cubicBezTo>
                    <a:cubicBezTo>
                      <a:pt x="1367224" y="315424"/>
                      <a:pt x="1276248" y="406400"/>
                      <a:pt x="1164024" y="406400"/>
                    </a:cubicBezTo>
                    <a:lnTo>
                      <a:pt x="203200" y="406400"/>
                    </a:lnTo>
                    <a:cubicBezTo>
                      <a:pt x="90976" y="406400"/>
                      <a:pt x="0" y="315424"/>
                      <a:pt x="0" y="203200"/>
                    </a:cubicBezTo>
                    <a:cubicBezTo>
                      <a:pt x="0" y="90976"/>
                      <a:pt x="90976" y="0"/>
                      <a:pt x="203200" y="0"/>
                    </a:cubicBezTo>
                    <a:close/>
                  </a:path>
                </a:pathLst>
              </a:custGeom>
              <a:solidFill>
                <a:srgbClr val="202020"/>
              </a:solidFill>
            </p:spPr>
            <p:txBody>
              <a:bodyPr/>
              <a:lstStyle/>
              <a:p>
                <a:endParaRPr lang="en-US"/>
              </a:p>
            </p:txBody>
          </p:sp>
          <p:sp>
            <p:nvSpPr>
              <p:cNvPr id="43" name="TextBox 43"/>
              <p:cNvSpPr txBox="1"/>
              <p:nvPr/>
            </p:nvSpPr>
            <p:spPr>
              <a:xfrm>
                <a:off x="0" y="-28575"/>
                <a:ext cx="1367224" cy="434975"/>
              </a:xfrm>
              <a:prstGeom prst="rect">
                <a:avLst/>
              </a:prstGeom>
            </p:spPr>
            <p:txBody>
              <a:bodyPr lIns="50800" tIns="50800" rIns="50800" bIns="50800" rtlCol="0" anchor="ctr"/>
              <a:lstStyle/>
              <a:p>
                <a:pPr algn="ctr">
                  <a:lnSpc>
                    <a:spcPts val="2698"/>
                  </a:lnSpc>
                </a:pPr>
                <a:endParaRPr/>
              </a:p>
            </p:txBody>
          </p:sp>
        </p:grpSp>
        <p:sp>
          <p:nvSpPr>
            <p:cNvPr id="44" name="TextBox 44"/>
            <p:cNvSpPr txBox="1"/>
            <p:nvPr/>
          </p:nvSpPr>
          <p:spPr>
            <a:xfrm>
              <a:off x="346387" y="81113"/>
              <a:ext cx="3243019" cy="1054028"/>
            </a:xfrm>
            <a:prstGeom prst="rect">
              <a:avLst/>
            </a:prstGeom>
          </p:spPr>
          <p:txBody>
            <a:bodyPr lIns="0" tIns="0" rIns="0" bIns="0" rtlCol="0" anchor="t">
              <a:spAutoFit/>
            </a:bodyPr>
            <a:lstStyle/>
            <a:p>
              <a:pPr marL="0" lvl="0" indent="0" algn="ctr">
                <a:lnSpc>
                  <a:spcPts val="5399"/>
                </a:lnSpc>
                <a:spcBef>
                  <a:spcPct val="0"/>
                </a:spcBef>
              </a:pPr>
              <a:r>
                <a:rPr lang="en-US" sz="4499" b="1" dirty="0">
                  <a:solidFill>
                    <a:srgbClr val="FFFFFF"/>
                  </a:solidFill>
                  <a:latin typeface="Kitchakan Bold"/>
                  <a:ea typeface="Kitchakan Bold"/>
                  <a:cs typeface="Kitchakan Bold"/>
                  <a:sym typeface="Kitchakan Bold"/>
                </a:rPr>
                <a:t>ALICE</a:t>
              </a:r>
            </a:p>
          </p:txBody>
        </p:sp>
      </p:grpSp>
      <p:sp>
        <p:nvSpPr>
          <p:cNvPr id="45" name="TextBox 45"/>
          <p:cNvSpPr txBox="1"/>
          <p:nvPr/>
        </p:nvSpPr>
        <p:spPr>
          <a:xfrm>
            <a:off x="643447" y="8894318"/>
            <a:ext cx="2712895" cy="770255"/>
          </a:xfrm>
          <a:prstGeom prst="rect">
            <a:avLst/>
          </a:prstGeom>
        </p:spPr>
        <p:txBody>
          <a:bodyPr lIns="0" tIns="0" rIns="0" bIns="0" rtlCol="0" anchor="t">
            <a:spAutoFit/>
          </a:bodyPr>
          <a:lstStyle/>
          <a:p>
            <a:pPr marL="0" lvl="0" indent="0" algn="ctr">
              <a:lnSpc>
                <a:spcPts val="2080"/>
              </a:lnSpc>
            </a:pPr>
            <a:r>
              <a:rPr lang="en-US" sz="1600">
                <a:solidFill>
                  <a:srgbClr val="FFFFFF"/>
                </a:solidFill>
                <a:latin typeface="Inter"/>
                <a:ea typeface="Inter"/>
                <a:cs typeface="Inter"/>
                <a:sym typeface="Inter"/>
              </a:rPr>
              <a:t>“Recommend more content from creators who I’m subscribed to.”</a:t>
            </a:r>
          </a:p>
        </p:txBody>
      </p:sp>
      <p:sp>
        <p:nvSpPr>
          <p:cNvPr id="46" name="Freeform 46"/>
          <p:cNvSpPr/>
          <p:nvPr/>
        </p:nvSpPr>
        <p:spPr>
          <a:xfrm>
            <a:off x="16936882" y="9752615"/>
            <a:ext cx="816303" cy="204076"/>
          </a:xfrm>
          <a:custGeom>
            <a:avLst/>
            <a:gdLst/>
            <a:ahLst/>
            <a:cxnLst/>
            <a:rect l="l" t="t" r="r" b="b"/>
            <a:pathLst>
              <a:path w="816303" h="204076">
                <a:moveTo>
                  <a:pt x="0" y="0"/>
                </a:moveTo>
                <a:lnTo>
                  <a:pt x="816303" y="0"/>
                </a:lnTo>
                <a:lnTo>
                  <a:pt x="816303" y="204075"/>
                </a:lnTo>
                <a:lnTo>
                  <a:pt x="0" y="204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74455"/>
            <a:ext cx="3999790" cy="11028060"/>
            <a:chOff x="0" y="0"/>
            <a:chExt cx="2551747" cy="7035575"/>
          </a:xfrm>
        </p:grpSpPr>
        <p:sp>
          <p:nvSpPr>
            <p:cNvPr id="3" name="Freeform 3"/>
            <p:cNvSpPr/>
            <p:nvPr/>
          </p:nvSpPr>
          <p:spPr>
            <a:xfrm>
              <a:off x="0" y="0"/>
              <a:ext cx="2551747" cy="7035574"/>
            </a:xfrm>
            <a:custGeom>
              <a:avLst/>
              <a:gdLst/>
              <a:ahLst/>
              <a:cxnLst/>
              <a:rect l="l" t="t" r="r" b="b"/>
              <a:pathLst>
                <a:path w="2551747" h="7035574">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00000"/>
            </a:solidFill>
          </p:spPr>
          <p:txBody>
            <a:bodyPr/>
            <a:lstStyle/>
            <a:p>
              <a:endParaRPr lang="en-US"/>
            </a:p>
          </p:txBody>
        </p:sp>
      </p:grpSp>
      <p:sp>
        <p:nvSpPr>
          <p:cNvPr id="4" name="AutoShape 4"/>
          <p:cNvSpPr/>
          <p:nvPr/>
        </p:nvSpPr>
        <p:spPr>
          <a:xfrm>
            <a:off x="4515206" y="4067819"/>
            <a:ext cx="13237979"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5" name="Group 5"/>
          <p:cNvGrpSpPr/>
          <p:nvPr/>
        </p:nvGrpSpPr>
        <p:grpSpPr>
          <a:xfrm>
            <a:off x="4515206" y="4580893"/>
            <a:ext cx="4771617" cy="2364148"/>
            <a:chOff x="0" y="0"/>
            <a:chExt cx="3044150" cy="1508256"/>
          </a:xfrm>
        </p:grpSpPr>
        <p:sp>
          <p:nvSpPr>
            <p:cNvPr id="6" name="Freeform 6"/>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grpSp>
        <p:nvGrpSpPr>
          <p:cNvPr id="7" name="Group 7"/>
          <p:cNvGrpSpPr/>
          <p:nvPr/>
        </p:nvGrpSpPr>
        <p:grpSpPr>
          <a:xfrm>
            <a:off x="4515206" y="7454399"/>
            <a:ext cx="4771617" cy="2364148"/>
            <a:chOff x="0" y="0"/>
            <a:chExt cx="3044150" cy="1508256"/>
          </a:xfrm>
        </p:grpSpPr>
        <p:sp>
          <p:nvSpPr>
            <p:cNvPr id="8" name="Freeform 8"/>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sp>
        <p:nvSpPr>
          <p:cNvPr id="9" name="AutoShape 9"/>
          <p:cNvSpPr/>
          <p:nvPr/>
        </p:nvSpPr>
        <p:spPr>
          <a:xfrm>
            <a:off x="9777928" y="6959329"/>
            <a:ext cx="7975257"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10" name="Group 10"/>
          <p:cNvGrpSpPr/>
          <p:nvPr/>
        </p:nvGrpSpPr>
        <p:grpSpPr>
          <a:xfrm>
            <a:off x="4515206" y="641511"/>
            <a:ext cx="4771617" cy="2950111"/>
            <a:chOff x="0" y="0"/>
            <a:chExt cx="6362157" cy="3933482"/>
          </a:xfrm>
        </p:grpSpPr>
        <p:sp>
          <p:nvSpPr>
            <p:cNvPr id="11" name="TextBox 11"/>
            <p:cNvSpPr txBox="1"/>
            <p:nvPr/>
          </p:nvSpPr>
          <p:spPr>
            <a:xfrm>
              <a:off x="0" y="854663"/>
              <a:ext cx="6171725" cy="3078818"/>
            </a:xfrm>
            <a:prstGeom prst="rect">
              <a:avLst/>
            </a:prstGeom>
          </p:spPr>
          <p:txBody>
            <a:bodyPr lIns="0" tIns="0" rIns="0" bIns="0" rtlCol="0" anchor="t">
              <a:spAutoFit/>
            </a:bodyPr>
            <a:lstStyle/>
            <a:p>
              <a:pPr algn="l">
                <a:lnSpc>
                  <a:spcPts val="2698"/>
                </a:lnSpc>
              </a:pPr>
              <a:r>
                <a:rPr lang="en-US" sz="1900" dirty="0">
                  <a:solidFill>
                    <a:srgbClr val="000000"/>
                  </a:solidFill>
                  <a:latin typeface="Inter"/>
                  <a:ea typeface="Inter"/>
                  <a:cs typeface="Inter"/>
                  <a:sym typeface="Inter"/>
                </a:rPr>
                <a:t>Derek is a self-proclaimed heavy social media user for news. He notices personalized recommendations "Often" but "I don't trust them at all" with his data. He is a critical consumer demanding full transparency and an escape from algorithmic bias.</a:t>
              </a:r>
            </a:p>
          </p:txBody>
        </p:sp>
        <p:sp>
          <p:nvSpPr>
            <p:cNvPr id="12" name="TextBox 12"/>
            <p:cNvSpPr txBox="1"/>
            <p:nvPr/>
          </p:nvSpPr>
          <p:spPr>
            <a:xfrm>
              <a:off x="0" y="-95250"/>
              <a:ext cx="6362157"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BACKGROUN</a:t>
              </a:r>
              <a:r>
                <a:rPr lang="en-US" sz="2899" b="1" u="none">
                  <a:solidFill>
                    <a:srgbClr val="000000"/>
                  </a:solidFill>
                  <a:latin typeface="Kitchakan Bold"/>
                  <a:ea typeface="Kitchakan Bold"/>
                  <a:cs typeface="Kitchakan Bold"/>
                  <a:sym typeface="Kitchakan Bold"/>
                </a:rPr>
                <a:t>D</a:t>
              </a:r>
            </a:p>
          </p:txBody>
        </p:sp>
      </p:grpSp>
      <p:grpSp>
        <p:nvGrpSpPr>
          <p:cNvPr id="13" name="Group 13"/>
          <p:cNvGrpSpPr/>
          <p:nvPr/>
        </p:nvGrpSpPr>
        <p:grpSpPr>
          <a:xfrm>
            <a:off x="9777928" y="641511"/>
            <a:ext cx="3742076" cy="2283361"/>
            <a:chOff x="0" y="0"/>
            <a:chExt cx="4989435" cy="3044482"/>
          </a:xfrm>
        </p:grpSpPr>
        <p:sp>
          <p:nvSpPr>
            <p:cNvPr id="14" name="TextBox 14"/>
            <p:cNvSpPr txBox="1"/>
            <p:nvPr/>
          </p:nvSpPr>
          <p:spPr>
            <a:xfrm>
              <a:off x="0" y="854663"/>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Privacy-Conscious</a:t>
              </a:r>
            </a:p>
            <a:p>
              <a:pPr marL="410211" lvl="1" indent="-205106" algn="l">
                <a:lnSpc>
                  <a:spcPts val="2698"/>
                </a:lnSpc>
                <a:buFont typeface="Arial"/>
                <a:buChar char="•"/>
              </a:pPr>
              <a:r>
                <a:rPr lang="en-US" sz="1900" dirty="0">
                  <a:solidFill>
                    <a:srgbClr val="000000"/>
                  </a:solidFill>
                  <a:latin typeface="Inter"/>
                  <a:ea typeface="Inter"/>
                  <a:cs typeface="Inter"/>
                  <a:sym typeface="Inter"/>
                </a:rPr>
                <a:t>Analytical</a:t>
              </a:r>
            </a:p>
            <a:p>
              <a:pPr marL="410211" lvl="1" indent="-205106" algn="l">
                <a:lnSpc>
                  <a:spcPts val="2698"/>
                </a:lnSpc>
                <a:buFont typeface="Arial"/>
                <a:buChar char="•"/>
              </a:pPr>
              <a:r>
                <a:rPr lang="en-US" sz="1900" dirty="0">
                  <a:solidFill>
                    <a:srgbClr val="000000"/>
                  </a:solidFill>
                  <a:latin typeface="Inter"/>
                  <a:ea typeface="Inter"/>
                  <a:cs typeface="Inter"/>
                  <a:sym typeface="Inter"/>
                </a:rPr>
                <a:t>Critical Thinker</a:t>
              </a:r>
            </a:p>
            <a:p>
              <a:pPr marL="410211" lvl="1" indent="-205106" algn="l">
                <a:lnSpc>
                  <a:spcPts val="2698"/>
                </a:lnSpc>
                <a:buFont typeface="Arial"/>
                <a:buChar char="•"/>
              </a:pPr>
              <a:r>
                <a:rPr lang="en-US" sz="1900" dirty="0">
                  <a:solidFill>
                    <a:srgbClr val="000000"/>
                  </a:solidFill>
                  <a:latin typeface="Inter"/>
                  <a:ea typeface="Inter"/>
                  <a:cs typeface="Inter"/>
                  <a:sym typeface="Inter"/>
                </a:rPr>
                <a:t>Tech Enthusiast</a:t>
              </a:r>
            </a:p>
            <a:p>
              <a:pPr marL="410211" lvl="1" indent="-205106" algn="l">
                <a:lnSpc>
                  <a:spcPts val="2698"/>
                </a:lnSpc>
                <a:buFont typeface="Arial"/>
                <a:buChar char="•"/>
              </a:pPr>
              <a:r>
                <a:rPr lang="en-US" sz="1900" dirty="0">
                  <a:solidFill>
                    <a:srgbClr val="000000"/>
                  </a:solidFill>
                  <a:latin typeface="Inter"/>
                  <a:ea typeface="Inter"/>
                  <a:cs typeface="Inter"/>
                  <a:sym typeface="Inter"/>
                </a:rPr>
                <a:t>Highly Skeptical</a:t>
              </a:r>
            </a:p>
          </p:txBody>
        </p:sp>
        <p:sp>
          <p:nvSpPr>
            <p:cNvPr id="15" name="TextBox 15"/>
            <p:cNvSpPr txBox="1"/>
            <p:nvPr/>
          </p:nvSpPr>
          <p:spPr>
            <a:xfrm>
              <a:off x="0" y="-95250"/>
              <a:ext cx="4989435"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PERSONAL CHARACTERISTICS</a:t>
              </a:r>
            </a:p>
          </p:txBody>
        </p:sp>
      </p:grpSp>
      <p:grpSp>
        <p:nvGrpSpPr>
          <p:cNvPr id="16" name="Group 16"/>
          <p:cNvGrpSpPr/>
          <p:nvPr/>
        </p:nvGrpSpPr>
        <p:grpSpPr>
          <a:xfrm>
            <a:off x="14012499" y="570074"/>
            <a:ext cx="3740686" cy="3453131"/>
            <a:chOff x="0" y="-95250"/>
            <a:chExt cx="4987582" cy="4604175"/>
          </a:xfrm>
        </p:grpSpPr>
        <p:sp>
          <p:nvSpPr>
            <p:cNvPr id="17" name="TextBox 17"/>
            <p:cNvSpPr txBox="1"/>
            <p:nvPr/>
          </p:nvSpPr>
          <p:spPr>
            <a:xfrm>
              <a:off x="0" y="854591"/>
              <a:ext cx="4987582" cy="3654334"/>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Reading non-fiction deep-dives/long-form journalism</a:t>
              </a:r>
            </a:p>
            <a:p>
              <a:pPr marL="410211" lvl="1" indent="-205106" algn="l">
                <a:lnSpc>
                  <a:spcPts val="2698"/>
                </a:lnSpc>
                <a:buFont typeface="Arial"/>
                <a:buChar char="•"/>
              </a:pPr>
              <a:r>
                <a:rPr lang="en-US" sz="1900" dirty="0">
                  <a:solidFill>
                    <a:srgbClr val="000000"/>
                  </a:solidFill>
                  <a:latin typeface="Inter"/>
                  <a:ea typeface="Inter"/>
                  <a:cs typeface="Inter"/>
                  <a:sym typeface="Inter"/>
                </a:rPr>
                <a:t>Following tech reviewers and news gadgets</a:t>
              </a:r>
            </a:p>
            <a:p>
              <a:pPr marL="410211" lvl="1" indent="-205106" algn="l">
                <a:lnSpc>
                  <a:spcPts val="2698"/>
                </a:lnSpc>
                <a:buFont typeface="Arial"/>
                <a:buChar char="•"/>
              </a:pPr>
              <a:r>
                <a:rPr lang="en-US" sz="1900" dirty="0">
                  <a:solidFill>
                    <a:srgbClr val="000000"/>
                  </a:solidFill>
                  <a:latin typeface="Inter"/>
                  <a:ea typeface="Inter"/>
                  <a:cs typeface="Inter"/>
                  <a:sym typeface="Inter"/>
                </a:rPr>
                <a:t>Online security/privacy forums</a:t>
              </a:r>
            </a:p>
            <a:p>
              <a:pPr marL="410211" lvl="1" indent="-205106" algn="l">
                <a:lnSpc>
                  <a:spcPts val="2698"/>
                </a:lnSpc>
                <a:buFont typeface="Arial"/>
                <a:buChar char="•"/>
              </a:pPr>
              <a:r>
                <a:rPr lang="en-US" sz="1900" dirty="0">
                  <a:solidFill>
                    <a:srgbClr val="000000"/>
                  </a:solidFill>
                  <a:latin typeface="Inter"/>
                  <a:ea typeface="Inter"/>
                  <a:cs typeface="Inter"/>
                  <a:sym typeface="Inter"/>
                </a:rPr>
                <a:t>Building or customizing his computer/digital setup</a:t>
              </a:r>
            </a:p>
          </p:txBody>
        </p:sp>
        <p:sp>
          <p:nvSpPr>
            <p:cNvPr id="18" name="TextBox 18"/>
            <p:cNvSpPr txBox="1"/>
            <p:nvPr/>
          </p:nvSpPr>
          <p:spPr>
            <a:xfrm>
              <a:off x="0" y="-95250"/>
              <a:ext cx="4987582"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HOBBIES AND INTERESTS</a:t>
              </a:r>
            </a:p>
          </p:txBody>
        </p:sp>
      </p:grpSp>
      <p:grpSp>
        <p:nvGrpSpPr>
          <p:cNvPr id="19" name="Group 19"/>
          <p:cNvGrpSpPr/>
          <p:nvPr/>
        </p:nvGrpSpPr>
        <p:grpSpPr>
          <a:xfrm>
            <a:off x="4808227" y="4723403"/>
            <a:ext cx="3641851" cy="840249"/>
            <a:chOff x="0" y="0"/>
            <a:chExt cx="4855801" cy="1120332"/>
          </a:xfrm>
        </p:grpSpPr>
        <p:sp>
          <p:nvSpPr>
            <p:cNvPr id="20" name="TextBox 20"/>
            <p:cNvSpPr txBox="1"/>
            <p:nvPr/>
          </p:nvSpPr>
          <p:spPr>
            <a:xfrm>
              <a:off x="0" y="708513"/>
              <a:ext cx="4855801" cy="4118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A few times a week</a:t>
              </a:r>
            </a:p>
          </p:txBody>
        </p:sp>
        <p:sp>
          <p:nvSpPr>
            <p:cNvPr id="21" name="TextBox 21"/>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WATCHES NEWS ONLINE</a:t>
              </a:r>
            </a:p>
          </p:txBody>
        </p:sp>
      </p:grpSp>
      <p:grpSp>
        <p:nvGrpSpPr>
          <p:cNvPr id="22" name="Group 22"/>
          <p:cNvGrpSpPr/>
          <p:nvPr/>
        </p:nvGrpSpPr>
        <p:grpSpPr>
          <a:xfrm>
            <a:off x="9777928" y="4580893"/>
            <a:ext cx="3742076" cy="2148865"/>
            <a:chOff x="0" y="0"/>
            <a:chExt cx="4989435" cy="2865153"/>
          </a:xfrm>
        </p:grpSpPr>
        <p:sp>
          <p:nvSpPr>
            <p:cNvPr id="23" name="TextBox 23"/>
            <p:cNvSpPr txBox="1"/>
            <p:nvPr/>
          </p:nvSpPr>
          <p:spPr>
            <a:xfrm>
              <a:off x="0" y="675334"/>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Access personalized news without feeling manipulated</a:t>
              </a:r>
            </a:p>
            <a:p>
              <a:pPr marL="410211" lvl="1" indent="-205106" algn="l">
                <a:lnSpc>
                  <a:spcPts val="2698"/>
                </a:lnSpc>
                <a:buFont typeface="Arial"/>
                <a:buChar char="•"/>
              </a:pPr>
              <a:r>
                <a:rPr lang="en-US" sz="1900" dirty="0">
                  <a:solidFill>
                    <a:srgbClr val="000000"/>
                  </a:solidFill>
                  <a:latin typeface="Inter"/>
                  <a:ea typeface="Inter"/>
                  <a:cs typeface="Inter"/>
                  <a:sym typeface="Inter"/>
                </a:rPr>
                <a:t>Access personalized news without having his biases reinforced</a:t>
              </a:r>
            </a:p>
          </p:txBody>
        </p:sp>
        <p:sp>
          <p:nvSpPr>
            <p:cNvPr id="24" name="TextBox 24"/>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GOALS</a:t>
              </a:r>
            </a:p>
          </p:txBody>
        </p:sp>
      </p:grpSp>
      <p:grpSp>
        <p:nvGrpSpPr>
          <p:cNvPr id="25" name="Group 25"/>
          <p:cNvGrpSpPr/>
          <p:nvPr/>
        </p:nvGrpSpPr>
        <p:grpSpPr>
          <a:xfrm>
            <a:off x="4808227" y="7622800"/>
            <a:ext cx="3641851" cy="1175639"/>
            <a:chOff x="0" y="0"/>
            <a:chExt cx="4855801" cy="1567518"/>
          </a:xfrm>
        </p:grpSpPr>
        <p:sp>
          <p:nvSpPr>
            <p:cNvPr id="26" name="TextBox 26"/>
            <p:cNvSpPr txBox="1"/>
            <p:nvPr/>
          </p:nvSpPr>
          <p:spPr>
            <a:xfrm>
              <a:off x="0" y="711200"/>
              <a:ext cx="4855801" cy="8563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YouTube, Reddit, Chrome (Direct Website Access)</a:t>
              </a:r>
            </a:p>
          </p:txBody>
        </p:sp>
        <p:sp>
          <p:nvSpPr>
            <p:cNvPr id="27" name="TextBox 27"/>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TOP PLATFORMS</a:t>
              </a:r>
            </a:p>
          </p:txBody>
        </p:sp>
      </p:grpSp>
      <p:grpSp>
        <p:nvGrpSpPr>
          <p:cNvPr id="28" name="Group 28"/>
          <p:cNvGrpSpPr/>
          <p:nvPr/>
        </p:nvGrpSpPr>
        <p:grpSpPr>
          <a:xfrm>
            <a:off x="14011108" y="4580893"/>
            <a:ext cx="3742076" cy="1815490"/>
            <a:chOff x="0" y="0"/>
            <a:chExt cx="4989435" cy="2420653"/>
          </a:xfrm>
        </p:grpSpPr>
        <p:sp>
          <p:nvSpPr>
            <p:cNvPr id="29" name="TextBox 29"/>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Total lack of trust in news apps’ data practices</a:t>
              </a:r>
            </a:p>
            <a:p>
              <a:pPr marL="410211" lvl="1" indent="-205106" algn="l">
                <a:lnSpc>
                  <a:spcPts val="2698"/>
                </a:lnSpc>
                <a:buFont typeface="Arial"/>
                <a:buChar char="•"/>
              </a:pPr>
              <a:r>
                <a:rPr lang="en-US" sz="1900">
                  <a:solidFill>
                    <a:srgbClr val="000000"/>
                  </a:solidFill>
                  <a:latin typeface="Inter"/>
                  <a:ea typeface="Inter"/>
                  <a:cs typeface="Inter"/>
                  <a:sym typeface="Inter"/>
                </a:rPr>
                <a:t>Overwhelmed by low-quality or biased news</a:t>
              </a:r>
            </a:p>
          </p:txBody>
        </p:sp>
        <p:sp>
          <p:nvSpPr>
            <p:cNvPr id="30" name="TextBox 30"/>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CHALLENGES</a:t>
              </a:r>
            </a:p>
          </p:txBody>
        </p:sp>
      </p:grpSp>
      <p:grpSp>
        <p:nvGrpSpPr>
          <p:cNvPr id="31" name="Group 31"/>
          <p:cNvGrpSpPr/>
          <p:nvPr/>
        </p:nvGrpSpPr>
        <p:grpSpPr>
          <a:xfrm>
            <a:off x="9777928" y="7622800"/>
            <a:ext cx="3742076" cy="2148865"/>
            <a:chOff x="0" y="0"/>
            <a:chExt cx="4989435" cy="2865153"/>
          </a:xfrm>
        </p:grpSpPr>
        <p:sp>
          <p:nvSpPr>
            <p:cNvPr id="32" name="TextBox 32"/>
            <p:cNvSpPr txBox="1"/>
            <p:nvPr/>
          </p:nvSpPr>
          <p:spPr>
            <a:xfrm>
              <a:off x="0" y="675334"/>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Clear, detailed explanations for why an article is shown (transparency tag)</a:t>
              </a:r>
            </a:p>
            <a:p>
              <a:pPr marL="410211" lvl="1" indent="-205106" algn="l">
                <a:lnSpc>
                  <a:spcPts val="2698"/>
                </a:lnSpc>
                <a:buFont typeface="Arial"/>
                <a:buChar char="•"/>
              </a:pPr>
              <a:r>
                <a:rPr lang="en-US" sz="1900" dirty="0">
                  <a:solidFill>
                    <a:srgbClr val="000000"/>
                  </a:solidFill>
                  <a:latin typeface="Inter"/>
                  <a:ea typeface="Inter"/>
                  <a:cs typeface="Inter"/>
                  <a:sym typeface="Inter"/>
                </a:rPr>
                <a:t>Tools to actively combat algorithmic bias</a:t>
              </a:r>
            </a:p>
          </p:txBody>
        </p:sp>
        <p:sp>
          <p:nvSpPr>
            <p:cNvPr id="33" name="TextBox 33"/>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NEEDS</a:t>
              </a:r>
            </a:p>
          </p:txBody>
        </p:sp>
      </p:grpSp>
      <p:grpSp>
        <p:nvGrpSpPr>
          <p:cNvPr id="34" name="Group 34"/>
          <p:cNvGrpSpPr/>
          <p:nvPr/>
        </p:nvGrpSpPr>
        <p:grpSpPr>
          <a:xfrm>
            <a:off x="14011108" y="7622800"/>
            <a:ext cx="3742076" cy="2148865"/>
            <a:chOff x="0" y="0"/>
            <a:chExt cx="4989435" cy="2865153"/>
          </a:xfrm>
        </p:grpSpPr>
        <p:sp>
          <p:nvSpPr>
            <p:cNvPr id="35" name="TextBox 35"/>
            <p:cNvSpPr txBox="1"/>
            <p:nvPr/>
          </p:nvSpPr>
          <p:spPr>
            <a:xfrm>
              <a:off x="0" y="675334"/>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News websites via browser</a:t>
              </a:r>
            </a:p>
            <a:p>
              <a:pPr marL="410211" lvl="1" indent="-205106" algn="l">
                <a:lnSpc>
                  <a:spcPts val="2698"/>
                </a:lnSpc>
                <a:buFont typeface="Arial"/>
                <a:buChar char="•"/>
              </a:pPr>
              <a:r>
                <a:rPr lang="en-US" sz="1900">
                  <a:solidFill>
                    <a:srgbClr val="000000"/>
                  </a:solidFill>
                  <a:latin typeface="Inter"/>
                  <a:ea typeface="Inter"/>
                  <a:cs typeface="Inter"/>
                  <a:sym typeface="Inter"/>
                </a:rPr>
                <a:t>YouTube</a:t>
              </a:r>
            </a:p>
            <a:p>
              <a:pPr marL="410211" lvl="1" indent="-205106" algn="l">
                <a:lnSpc>
                  <a:spcPts val="2698"/>
                </a:lnSpc>
                <a:buFont typeface="Arial"/>
                <a:buChar char="•"/>
              </a:pPr>
              <a:r>
                <a:rPr lang="en-US" sz="1900">
                  <a:solidFill>
                    <a:srgbClr val="000000"/>
                  </a:solidFill>
                  <a:latin typeface="Inter"/>
                  <a:ea typeface="Inter"/>
                  <a:cs typeface="Inter"/>
                  <a:sym typeface="Inter"/>
                </a:rPr>
                <a:t>Instagram</a:t>
              </a:r>
            </a:p>
            <a:p>
              <a:pPr marL="410211" lvl="1" indent="-205106" algn="l">
                <a:lnSpc>
                  <a:spcPts val="2698"/>
                </a:lnSpc>
                <a:buFont typeface="Arial"/>
                <a:buChar char="•"/>
              </a:pPr>
              <a:r>
                <a:rPr lang="en-US" sz="1900">
                  <a:solidFill>
                    <a:srgbClr val="000000"/>
                  </a:solidFill>
                  <a:latin typeface="Inter"/>
                  <a:ea typeface="Inter"/>
                  <a:cs typeface="Inter"/>
                  <a:sym typeface="Inter"/>
                </a:rPr>
                <a:t>Reddit</a:t>
              </a:r>
            </a:p>
            <a:p>
              <a:pPr marL="410211" lvl="1" indent="-205106" algn="l">
                <a:lnSpc>
                  <a:spcPts val="2698"/>
                </a:lnSpc>
                <a:buFont typeface="Arial"/>
                <a:buChar char="•"/>
              </a:pPr>
              <a:r>
                <a:rPr lang="en-US" sz="1900">
                  <a:solidFill>
                    <a:srgbClr val="000000"/>
                  </a:solidFill>
                  <a:latin typeface="Inter"/>
                  <a:ea typeface="Inter"/>
                  <a:cs typeface="Inter"/>
                  <a:sym typeface="Inter"/>
                </a:rPr>
                <a:t>TikTok</a:t>
              </a:r>
            </a:p>
          </p:txBody>
        </p:sp>
        <p:sp>
          <p:nvSpPr>
            <p:cNvPr id="36" name="TextBox 36"/>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SOURCES OF INFO</a:t>
              </a:r>
            </a:p>
          </p:txBody>
        </p:sp>
      </p:grpSp>
      <p:sp>
        <p:nvSpPr>
          <p:cNvPr id="37" name="TextBox 37"/>
          <p:cNvSpPr txBox="1"/>
          <p:nvPr/>
        </p:nvSpPr>
        <p:spPr>
          <a:xfrm>
            <a:off x="523973" y="6144040"/>
            <a:ext cx="2993527" cy="1103376"/>
          </a:xfrm>
          <a:prstGeom prst="rect">
            <a:avLst/>
          </a:prstGeom>
        </p:spPr>
        <p:txBody>
          <a:bodyPr lIns="0" tIns="0" rIns="0" bIns="0" rtlCol="0" anchor="t">
            <a:spAutoFit/>
          </a:bodyPr>
          <a:lstStyle/>
          <a:p>
            <a:pPr marL="453390" lvl="1" indent="-226695" algn="l">
              <a:lnSpc>
                <a:spcPts val="2982"/>
              </a:lnSpc>
              <a:buFont typeface="Arial"/>
              <a:buChar char="•"/>
            </a:pPr>
            <a:r>
              <a:rPr lang="en-US" sz="2100">
                <a:solidFill>
                  <a:srgbClr val="FFFFFF"/>
                </a:solidFill>
                <a:latin typeface="Inter"/>
                <a:ea typeface="Inter"/>
                <a:cs typeface="Inter"/>
                <a:sym typeface="Inter"/>
              </a:rPr>
              <a:t>Age: 22 years old</a:t>
            </a:r>
          </a:p>
          <a:p>
            <a:pPr marL="453390" lvl="1" indent="-226695" algn="l">
              <a:lnSpc>
                <a:spcPts val="2982"/>
              </a:lnSpc>
              <a:buFont typeface="Arial"/>
              <a:buChar char="•"/>
            </a:pPr>
            <a:r>
              <a:rPr lang="en-US" sz="2100">
                <a:solidFill>
                  <a:srgbClr val="FFFFFF"/>
                </a:solidFill>
                <a:latin typeface="Inter"/>
                <a:ea typeface="Inter"/>
                <a:cs typeface="Inter"/>
                <a:sym typeface="Inter"/>
              </a:rPr>
              <a:t>Country:US</a:t>
            </a:r>
          </a:p>
          <a:p>
            <a:pPr marL="453390" lvl="1" indent="-226695" algn="l">
              <a:lnSpc>
                <a:spcPts val="2982"/>
              </a:lnSpc>
              <a:buFont typeface="Arial"/>
              <a:buChar char="•"/>
            </a:pPr>
            <a:r>
              <a:rPr lang="en-US" sz="2100">
                <a:solidFill>
                  <a:srgbClr val="FFFFFF"/>
                </a:solidFill>
                <a:latin typeface="Inter"/>
                <a:ea typeface="Inter"/>
                <a:cs typeface="Inter"/>
                <a:sym typeface="Inter"/>
              </a:rPr>
              <a:t>Profession: Student</a:t>
            </a:r>
          </a:p>
        </p:txBody>
      </p:sp>
      <p:grpSp>
        <p:nvGrpSpPr>
          <p:cNvPr id="38" name="Group 38"/>
          <p:cNvGrpSpPr/>
          <p:nvPr/>
        </p:nvGrpSpPr>
        <p:grpSpPr>
          <a:xfrm>
            <a:off x="523973" y="4580893"/>
            <a:ext cx="2972685" cy="883669"/>
            <a:chOff x="0" y="0"/>
            <a:chExt cx="3963580" cy="1178225"/>
          </a:xfrm>
        </p:grpSpPr>
        <p:grpSp>
          <p:nvGrpSpPr>
            <p:cNvPr id="39" name="Group 39"/>
            <p:cNvGrpSpPr/>
            <p:nvPr/>
          </p:nvGrpSpPr>
          <p:grpSpPr>
            <a:xfrm>
              <a:off x="0" y="0"/>
              <a:ext cx="3963580" cy="1178225"/>
              <a:chOff x="0" y="0"/>
              <a:chExt cx="1367224" cy="406425"/>
            </a:xfrm>
          </p:grpSpPr>
          <p:sp>
            <p:nvSpPr>
              <p:cNvPr id="40" name="Freeform 40"/>
              <p:cNvSpPr/>
              <p:nvPr/>
            </p:nvSpPr>
            <p:spPr>
              <a:xfrm>
                <a:off x="0" y="0"/>
                <a:ext cx="1367224" cy="406425"/>
              </a:xfrm>
              <a:custGeom>
                <a:avLst/>
                <a:gdLst/>
                <a:ahLst/>
                <a:cxnLst/>
                <a:rect l="l" t="t" r="r" b="b"/>
                <a:pathLst>
                  <a:path w="1367224" h="406425">
                    <a:moveTo>
                      <a:pt x="1164024" y="0"/>
                    </a:moveTo>
                    <a:cubicBezTo>
                      <a:pt x="1276248" y="0"/>
                      <a:pt x="1367224" y="90981"/>
                      <a:pt x="1367224" y="203212"/>
                    </a:cubicBezTo>
                    <a:cubicBezTo>
                      <a:pt x="1367224" y="315444"/>
                      <a:pt x="1276248" y="406425"/>
                      <a:pt x="1164024" y="406425"/>
                    </a:cubicBezTo>
                    <a:lnTo>
                      <a:pt x="203200" y="406425"/>
                    </a:lnTo>
                    <a:cubicBezTo>
                      <a:pt x="90976" y="406425"/>
                      <a:pt x="0" y="315444"/>
                      <a:pt x="0" y="203212"/>
                    </a:cubicBezTo>
                    <a:cubicBezTo>
                      <a:pt x="0" y="90981"/>
                      <a:pt x="90976" y="0"/>
                      <a:pt x="203200" y="0"/>
                    </a:cubicBezTo>
                    <a:close/>
                  </a:path>
                </a:pathLst>
              </a:custGeom>
              <a:solidFill>
                <a:srgbClr val="202020"/>
              </a:solidFill>
            </p:spPr>
            <p:txBody>
              <a:bodyPr/>
              <a:lstStyle/>
              <a:p>
                <a:endParaRPr lang="en-US"/>
              </a:p>
            </p:txBody>
          </p:sp>
          <p:sp>
            <p:nvSpPr>
              <p:cNvPr id="41" name="TextBox 41"/>
              <p:cNvSpPr txBox="1"/>
              <p:nvPr/>
            </p:nvSpPr>
            <p:spPr>
              <a:xfrm>
                <a:off x="0" y="-28575"/>
                <a:ext cx="1367224" cy="435000"/>
              </a:xfrm>
              <a:prstGeom prst="rect">
                <a:avLst/>
              </a:prstGeom>
            </p:spPr>
            <p:txBody>
              <a:bodyPr lIns="50800" tIns="50800" rIns="50800" bIns="50800" rtlCol="0" anchor="ctr"/>
              <a:lstStyle/>
              <a:p>
                <a:pPr algn="ctr">
                  <a:lnSpc>
                    <a:spcPts val="2698"/>
                  </a:lnSpc>
                </a:pPr>
                <a:endParaRPr/>
              </a:p>
            </p:txBody>
          </p:sp>
        </p:grpSp>
        <p:sp>
          <p:nvSpPr>
            <p:cNvPr id="42" name="TextBox 42"/>
            <p:cNvSpPr txBox="1"/>
            <p:nvPr/>
          </p:nvSpPr>
          <p:spPr>
            <a:xfrm>
              <a:off x="346387" y="81113"/>
              <a:ext cx="3243019" cy="1054100"/>
            </a:xfrm>
            <a:prstGeom prst="rect">
              <a:avLst/>
            </a:prstGeom>
          </p:spPr>
          <p:txBody>
            <a:bodyPr lIns="0" tIns="0" rIns="0" bIns="0" rtlCol="0" anchor="t">
              <a:spAutoFit/>
            </a:bodyPr>
            <a:lstStyle/>
            <a:p>
              <a:pPr marL="0" lvl="0" indent="0" algn="ctr">
                <a:lnSpc>
                  <a:spcPts val="5399"/>
                </a:lnSpc>
                <a:spcBef>
                  <a:spcPct val="0"/>
                </a:spcBef>
              </a:pPr>
              <a:r>
                <a:rPr lang="en-US" sz="4499" b="1">
                  <a:solidFill>
                    <a:srgbClr val="FFFFFF"/>
                  </a:solidFill>
                  <a:latin typeface="Kitchakan Bold"/>
                  <a:ea typeface="Kitchakan Bold"/>
                  <a:cs typeface="Kitchakan Bold"/>
                  <a:sym typeface="Kitchakan Bold"/>
                </a:rPr>
                <a:t>DEREK</a:t>
              </a:r>
            </a:p>
          </p:txBody>
        </p:sp>
      </p:grpSp>
      <p:sp>
        <p:nvSpPr>
          <p:cNvPr id="43" name="TextBox 43"/>
          <p:cNvSpPr txBox="1"/>
          <p:nvPr/>
        </p:nvSpPr>
        <p:spPr>
          <a:xfrm>
            <a:off x="643447" y="9151493"/>
            <a:ext cx="2712895" cy="513080"/>
          </a:xfrm>
          <a:prstGeom prst="rect">
            <a:avLst/>
          </a:prstGeom>
        </p:spPr>
        <p:txBody>
          <a:bodyPr lIns="0" tIns="0" rIns="0" bIns="0" rtlCol="0" anchor="t">
            <a:spAutoFit/>
          </a:bodyPr>
          <a:lstStyle/>
          <a:p>
            <a:pPr marL="0" lvl="0" indent="0" algn="ctr">
              <a:lnSpc>
                <a:spcPts val="2080"/>
              </a:lnSpc>
            </a:pPr>
            <a:r>
              <a:rPr lang="en-US" sz="1600">
                <a:solidFill>
                  <a:srgbClr val="FFFFFF"/>
                </a:solidFill>
                <a:latin typeface="Inter"/>
                <a:ea typeface="Inter"/>
                <a:cs typeface="Inter"/>
                <a:sym typeface="Inter"/>
              </a:rPr>
              <a:t>"More transparency, less bias enforcement"</a:t>
            </a:r>
          </a:p>
        </p:txBody>
      </p:sp>
      <p:grpSp>
        <p:nvGrpSpPr>
          <p:cNvPr id="44" name="Group 44"/>
          <p:cNvGrpSpPr/>
          <p:nvPr/>
        </p:nvGrpSpPr>
        <p:grpSpPr>
          <a:xfrm>
            <a:off x="513552" y="461911"/>
            <a:ext cx="2972685" cy="3614157"/>
            <a:chOff x="0" y="0"/>
            <a:chExt cx="3963580" cy="4818876"/>
          </a:xfrm>
        </p:grpSpPr>
        <p:pic>
          <p:nvPicPr>
            <p:cNvPr id="45" name="Picture 45"/>
            <p:cNvPicPr>
              <a:picLocks noChangeAspect="1"/>
            </p:cNvPicPr>
            <p:nvPr/>
          </p:nvPicPr>
          <p:blipFill>
            <a:blip r:embed="rId3"/>
            <a:srcRect l="22973" t="11714" r="17910" b="40400"/>
            <a:stretch>
              <a:fillRect/>
            </a:stretch>
          </p:blipFill>
          <p:spPr>
            <a:xfrm>
              <a:off x="0" y="0"/>
              <a:ext cx="3963580" cy="4818876"/>
            </a:xfrm>
            <a:prstGeom prst="rect">
              <a:avLst/>
            </a:prstGeom>
          </p:spPr>
        </p:pic>
      </p:grpSp>
      <p:sp>
        <p:nvSpPr>
          <p:cNvPr id="46" name="Freeform 46"/>
          <p:cNvSpPr/>
          <p:nvPr/>
        </p:nvSpPr>
        <p:spPr>
          <a:xfrm>
            <a:off x="16936882" y="9716510"/>
            <a:ext cx="816303" cy="204076"/>
          </a:xfrm>
          <a:custGeom>
            <a:avLst/>
            <a:gdLst/>
            <a:ahLst/>
            <a:cxnLst/>
            <a:rect l="l" t="t" r="r" b="b"/>
            <a:pathLst>
              <a:path w="816303" h="204076">
                <a:moveTo>
                  <a:pt x="0" y="0"/>
                </a:moveTo>
                <a:lnTo>
                  <a:pt x="816303" y="0"/>
                </a:lnTo>
                <a:lnTo>
                  <a:pt x="816303" y="204075"/>
                </a:lnTo>
                <a:lnTo>
                  <a:pt x="0" y="204075"/>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374455"/>
            <a:ext cx="3999790" cy="11028060"/>
            <a:chOff x="0" y="0"/>
            <a:chExt cx="2551747" cy="7035575"/>
          </a:xfrm>
        </p:grpSpPr>
        <p:sp>
          <p:nvSpPr>
            <p:cNvPr id="3" name="Freeform 3"/>
            <p:cNvSpPr/>
            <p:nvPr/>
          </p:nvSpPr>
          <p:spPr>
            <a:xfrm>
              <a:off x="0" y="0"/>
              <a:ext cx="2551747" cy="7035574"/>
            </a:xfrm>
            <a:custGeom>
              <a:avLst/>
              <a:gdLst/>
              <a:ahLst/>
              <a:cxnLst/>
              <a:rect l="l" t="t" r="r" b="b"/>
              <a:pathLst>
                <a:path w="2551747" h="7035574">
                  <a:moveTo>
                    <a:pt x="2427287" y="7035574"/>
                  </a:moveTo>
                  <a:lnTo>
                    <a:pt x="124460" y="7035574"/>
                  </a:lnTo>
                  <a:cubicBezTo>
                    <a:pt x="55880" y="7035574"/>
                    <a:pt x="0" y="6979695"/>
                    <a:pt x="0" y="6911115"/>
                  </a:cubicBezTo>
                  <a:lnTo>
                    <a:pt x="0" y="124460"/>
                  </a:lnTo>
                  <a:cubicBezTo>
                    <a:pt x="0" y="55880"/>
                    <a:pt x="55880" y="0"/>
                    <a:pt x="124460" y="0"/>
                  </a:cubicBezTo>
                  <a:lnTo>
                    <a:pt x="2427287" y="0"/>
                  </a:lnTo>
                  <a:cubicBezTo>
                    <a:pt x="2495867" y="0"/>
                    <a:pt x="2551747" y="55880"/>
                    <a:pt x="2551747" y="124460"/>
                  </a:cubicBezTo>
                  <a:lnTo>
                    <a:pt x="2551747" y="6911115"/>
                  </a:lnTo>
                  <a:cubicBezTo>
                    <a:pt x="2551747" y="6979695"/>
                    <a:pt x="2495867" y="7035574"/>
                    <a:pt x="2427287" y="7035574"/>
                  </a:cubicBezTo>
                  <a:close/>
                </a:path>
              </a:pathLst>
            </a:custGeom>
            <a:solidFill>
              <a:srgbClr val="000000"/>
            </a:solidFill>
          </p:spPr>
          <p:txBody>
            <a:bodyPr/>
            <a:lstStyle/>
            <a:p>
              <a:endParaRPr lang="en-US"/>
            </a:p>
          </p:txBody>
        </p:sp>
      </p:grpSp>
      <p:sp>
        <p:nvSpPr>
          <p:cNvPr id="4" name="AutoShape 4"/>
          <p:cNvSpPr/>
          <p:nvPr/>
        </p:nvSpPr>
        <p:spPr>
          <a:xfrm>
            <a:off x="4515206" y="4067819"/>
            <a:ext cx="13237979"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5" name="Group 5"/>
          <p:cNvGrpSpPr/>
          <p:nvPr/>
        </p:nvGrpSpPr>
        <p:grpSpPr>
          <a:xfrm>
            <a:off x="4515206" y="4580893"/>
            <a:ext cx="4771617" cy="2364148"/>
            <a:chOff x="0" y="0"/>
            <a:chExt cx="3044150" cy="1508256"/>
          </a:xfrm>
        </p:grpSpPr>
        <p:sp>
          <p:nvSpPr>
            <p:cNvPr id="6" name="Freeform 6"/>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grpSp>
        <p:nvGrpSpPr>
          <p:cNvPr id="7" name="Group 7"/>
          <p:cNvGrpSpPr/>
          <p:nvPr/>
        </p:nvGrpSpPr>
        <p:grpSpPr>
          <a:xfrm>
            <a:off x="4515206" y="7454399"/>
            <a:ext cx="4771617" cy="2364148"/>
            <a:chOff x="0" y="0"/>
            <a:chExt cx="3044150" cy="1508256"/>
          </a:xfrm>
        </p:grpSpPr>
        <p:sp>
          <p:nvSpPr>
            <p:cNvPr id="8" name="Freeform 8"/>
            <p:cNvSpPr/>
            <p:nvPr/>
          </p:nvSpPr>
          <p:spPr>
            <a:xfrm>
              <a:off x="0" y="0"/>
              <a:ext cx="3044150" cy="1508257"/>
            </a:xfrm>
            <a:custGeom>
              <a:avLst/>
              <a:gdLst/>
              <a:ahLst/>
              <a:cxnLst/>
              <a:rect l="l" t="t" r="r" b="b"/>
              <a:pathLst>
                <a:path w="3044150" h="1508257">
                  <a:moveTo>
                    <a:pt x="2919690" y="1508256"/>
                  </a:moveTo>
                  <a:lnTo>
                    <a:pt x="124460" y="1508256"/>
                  </a:lnTo>
                  <a:cubicBezTo>
                    <a:pt x="55880" y="1508256"/>
                    <a:pt x="0" y="1452376"/>
                    <a:pt x="0" y="1383796"/>
                  </a:cubicBezTo>
                  <a:lnTo>
                    <a:pt x="0" y="124460"/>
                  </a:lnTo>
                  <a:cubicBezTo>
                    <a:pt x="0" y="55880"/>
                    <a:pt x="55880" y="0"/>
                    <a:pt x="124460" y="0"/>
                  </a:cubicBezTo>
                  <a:lnTo>
                    <a:pt x="2919690" y="0"/>
                  </a:lnTo>
                  <a:cubicBezTo>
                    <a:pt x="2988270" y="0"/>
                    <a:pt x="3044150" y="55880"/>
                    <a:pt x="3044150" y="124460"/>
                  </a:cubicBezTo>
                  <a:lnTo>
                    <a:pt x="3044150" y="1383797"/>
                  </a:lnTo>
                  <a:cubicBezTo>
                    <a:pt x="3044150" y="1452376"/>
                    <a:pt x="2988270" y="1508257"/>
                    <a:pt x="2919690" y="1508257"/>
                  </a:cubicBezTo>
                  <a:close/>
                </a:path>
              </a:pathLst>
            </a:custGeom>
            <a:solidFill>
              <a:srgbClr val="35589A"/>
            </a:solidFill>
          </p:spPr>
          <p:txBody>
            <a:bodyPr/>
            <a:lstStyle/>
            <a:p>
              <a:endParaRPr lang="en-US"/>
            </a:p>
          </p:txBody>
        </p:sp>
      </p:grpSp>
      <p:sp>
        <p:nvSpPr>
          <p:cNvPr id="9" name="AutoShape 9"/>
          <p:cNvSpPr/>
          <p:nvPr/>
        </p:nvSpPr>
        <p:spPr>
          <a:xfrm>
            <a:off x="9777928" y="6959329"/>
            <a:ext cx="7975257" cy="0"/>
          </a:xfrm>
          <a:prstGeom prst="line">
            <a:avLst/>
          </a:prstGeom>
          <a:ln w="19050" cap="rnd">
            <a:solidFill>
              <a:srgbClr val="012B1B"/>
            </a:solidFill>
            <a:prstDash val="solid"/>
            <a:headEnd type="none" w="sm" len="sm"/>
            <a:tailEnd type="none" w="sm" len="sm"/>
          </a:ln>
        </p:spPr>
        <p:txBody>
          <a:bodyPr/>
          <a:lstStyle/>
          <a:p>
            <a:endParaRPr lang="en-US"/>
          </a:p>
        </p:txBody>
      </p:sp>
      <p:grpSp>
        <p:nvGrpSpPr>
          <p:cNvPr id="10" name="Group 10"/>
          <p:cNvGrpSpPr/>
          <p:nvPr/>
        </p:nvGrpSpPr>
        <p:grpSpPr>
          <a:xfrm>
            <a:off x="4515206" y="641511"/>
            <a:ext cx="4771617" cy="2950111"/>
            <a:chOff x="0" y="0"/>
            <a:chExt cx="6362157" cy="3933482"/>
          </a:xfrm>
        </p:grpSpPr>
        <p:sp>
          <p:nvSpPr>
            <p:cNvPr id="11" name="TextBox 11"/>
            <p:cNvSpPr txBox="1"/>
            <p:nvPr/>
          </p:nvSpPr>
          <p:spPr>
            <a:xfrm>
              <a:off x="0" y="854663"/>
              <a:ext cx="6171725" cy="3078818"/>
            </a:xfrm>
            <a:prstGeom prst="rect">
              <a:avLst/>
            </a:prstGeom>
          </p:spPr>
          <p:txBody>
            <a:bodyPr lIns="0" tIns="0" rIns="0" bIns="0" rtlCol="0" anchor="t">
              <a:spAutoFit/>
            </a:bodyPr>
            <a:lstStyle/>
            <a:p>
              <a:pPr algn="l">
                <a:lnSpc>
                  <a:spcPts val="2698"/>
                </a:lnSpc>
              </a:pPr>
              <a:r>
                <a:rPr lang="en-US" sz="1900">
                  <a:solidFill>
                    <a:srgbClr val="000000"/>
                  </a:solidFill>
                  <a:latin typeface="Inter"/>
                  <a:ea typeface="Inter"/>
                  <a:cs typeface="Inter"/>
                  <a:sym typeface="Inter"/>
                </a:rPr>
                <a:t>Janice is a power user of social media and streaming who notices personalization "Always". She has actively personalized her news feed before and wants to personalize nearly every aspect of the news experience for maximum efficiency and relevance.</a:t>
              </a:r>
            </a:p>
          </p:txBody>
        </p:sp>
        <p:sp>
          <p:nvSpPr>
            <p:cNvPr id="12" name="TextBox 12"/>
            <p:cNvSpPr txBox="1"/>
            <p:nvPr/>
          </p:nvSpPr>
          <p:spPr>
            <a:xfrm>
              <a:off x="0" y="-95250"/>
              <a:ext cx="6362157"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BACKGROUN</a:t>
              </a:r>
              <a:r>
                <a:rPr lang="en-US" sz="2899" b="1" u="none">
                  <a:solidFill>
                    <a:srgbClr val="000000"/>
                  </a:solidFill>
                  <a:latin typeface="Kitchakan Bold"/>
                  <a:ea typeface="Kitchakan Bold"/>
                  <a:cs typeface="Kitchakan Bold"/>
                  <a:sym typeface="Kitchakan Bold"/>
                </a:rPr>
                <a:t>D</a:t>
              </a:r>
            </a:p>
          </p:txBody>
        </p:sp>
      </p:grpSp>
      <p:grpSp>
        <p:nvGrpSpPr>
          <p:cNvPr id="13" name="Group 13"/>
          <p:cNvGrpSpPr/>
          <p:nvPr/>
        </p:nvGrpSpPr>
        <p:grpSpPr>
          <a:xfrm>
            <a:off x="9777928" y="570074"/>
            <a:ext cx="3742076" cy="2414438"/>
            <a:chOff x="0" y="-95250"/>
            <a:chExt cx="4989435" cy="3219252"/>
          </a:xfrm>
        </p:grpSpPr>
        <p:sp>
          <p:nvSpPr>
            <p:cNvPr id="14" name="TextBox 14"/>
            <p:cNvSpPr txBox="1"/>
            <p:nvPr/>
          </p:nvSpPr>
          <p:spPr>
            <a:xfrm>
              <a:off x="0" y="854663"/>
              <a:ext cx="4989435" cy="2269339"/>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Highly Organized</a:t>
              </a:r>
            </a:p>
            <a:p>
              <a:pPr marL="410211" lvl="1" indent="-205106" algn="l">
                <a:lnSpc>
                  <a:spcPts val="2698"/>
                </a:lnSpc>
                <a:buFont typeface="Arial"/>
                <a:buChar char="•"/>
              </a:pPr>
              <a:r>
                <a:rPr lang="en-US" sz="1900" dirty="0">
                  <a:solidFill>
                    <a:srgbClr val="000000"/>
                  </a:solidFill>
                  <a:latin typeface="Inter"/>
                  <a:ea typeface="Inter"/>
                  <a:cs typeface="Inter"/>
                  <a:sym typeface="Inter"/>
                </a:rPr>
                <a:t>Digital Power User</a:t>
              </a:r>
            </a:p>
            <a:p>
              <a:pPr marL="410211" lvl="1" indent="-205106" algn="l">
                <a:lnSpc>
                  <a:spcPts val="2698"/>
                </a:lnSpc>
                <a:buFont typeface="Arial"/>
                <a:buChar char="•"/>
              </a:pPr>
              <a:r>
                <a:rPr lang="en-US" sz="1900" dirty="0">
                  <a:solidFill>
                    <a:srgbClr val="000000"/>
                  </a:solidFill>
                  <a:latin typeface="Inter"/>
                  <a:ea typeface="Inter"/>
                  <a:cs typeface="Inter"/>
                  <a:sym typeface="Inter"/>
                </a:rPr>
                <a:t>Efficiency-Obsessed</a:t>
              </a:r>
            </a:p>
            <a:p>
              <a:pPr marL="410211" lvl="1" indent="-205106" algn="l">
                <a:lnSpc>
                  <a:spcPts val="2698"/>
                </a:lnSpc>
                <a:buFont typeface="Arial"/>
                <a:buChar char="•"/>
              </a:pPr>
              <a:r>
                <a:rPr lang="en-US" sz="1900" dirty="0">
                  <a:solidFill>
                    <a:srgbClr val="000000"/>
                  </a:solidFill>
                  <a:latin typeface="Inter"/>
                  <a:ea typeface="Inter"/>
                  <a:cs typeface="Inter"/>
                  <a:sym typeface="Inter"/>
                </a:rPr>
                <a:t>Detail-Oriented</a:t>
              </a:r>
            </a:p>
            <a:p>
              <a:pPr marL="410211" lvl="1" indent="-205106" algn="l">
                <a:lnSpc>
                  <a:spcPts val="2698"/>
                </a:lnSpc>
                <a:buFont typeface="Arial"/>
                <a:buChar char="•"/>
              </a:pPr>
              <a:r>
                <a:rPr lang="en-US" sz="1900" dirty="0">
                  <a:solidFill>
                    <a:srgbClr val="000000"/>
                  </a:solidFill>
                  <a:latin typeface="Inter"/>
                  <a:ea typeface="Inter"/>
                  <a:cs typeface="Inter"/>
                  <a:sym typeface="Inter"/>
                </a:rPr>
                <a:t>Demanding of UX</a:t>
              </a:r>
            </a:p>
          </p:txBody>
        </p:sp>
        <p:sp>
          <p:nvSpPr>
            <p:cNvPr id="15" name="TextBox 15"/>
            <p:cNvSpPr txBox="1"/>
            <p:nvPr/>
          </p:nvSpPr>
          <p:spPr>
            <a:xfrm>
              <a:off x="0" y="-95250"/>
              <a:ext cx="4989435"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PERSONAL CHARACTERISTICS</a:t>
              </a:r>
            </a:p>
          </p:txBody>
        </p:sp>
      </p:grpSp>
      <p:grpSp>
        <p:nvGrpSpPr>
          <p:cNvPr id="16" name="Group 16"/>
          <p:cNvGrpSpPr/>
          <p:nvPr/>
        </p:nvGrpSpPr>
        <p:grpSpPr>
          <a:xfrm>
            <a:off x="13735955" y="570074"/>
            <a:ext cx="4017230" cy="3106883"/>
            <a:chOff x="-368725" y="-95250"/>
            <a:chExt cx="5356307" cy="4142511"/>
          </a:xfrm>
        </p:grpSpPr>
        <p:sp>
          <p:nvSpPr>
            <p:cNvPr id="17" name="TextBox 17"/>
            <p:cNvSpPr txBox="1"/>
            <p:nvPr/>
          </p:nvSpPr>
          <p:spPr>
            <a:xfrm>
              <a:off x="-368725" y="854591"/>
              <a:ext cx="5356307" cy="3192670"/>
            </a:xfrm>
            <a:prstGeom prst="rect">
              <a:avLst/>
            </a:prstGeom>
          </p:spPr>
          <p:txBody>
            <a:bodyPr wrap="square"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Planning intricate trips using detailed spreadsheets</a:t>
              </a:r>
            </a:p>
            <a:p>
              <a:pPr marL="410211" lvl="1" indent="-205106" algn="l">
                <a:lnSpc>
                  <a:spcPts val="2698"/>
                </a:lnSpc>
                <a:buFont typeface="Arial"/>
                <a:buChar char="•"/>
              </a:pPr>
              <a:r>
                <a:rPr lang="en-US" sz="1900" dirty="0">
                  <a:solidFill>
                    <a:srgbClr val="000000"/>
                  </a:solidFill>
                  <a:latin typeface="Inter"/>
                  <a:ea typeface="Inter"/>
                  <a:cs typeface="Inter"/>
                  <a:sym typeface="Inter"/>
                </a:rPr>
                <a:t>Organized her digital life (</a:t>
              </a:r>
              <a:r>
                <a:rPr lang="en-US" sz="1900" dirty="0" err="1">
                  <a:solidFill>
                    <a:srgbClr val="000000"/>
                  </a:solidFill>
                  <a:latin typeface="Inter"/>
                  <a:ea typeface="Inter"/>
                  <a:cs typeface="Inter"/>
                  <a:sym typeface="Inter"/>
                </a:rPr>
                <a:t>e.g.,app</a:t>
              </a:r>
              <a:r>
                <a:rPr lang="en-US" sz="1900" dirty="0">
                  <a:solidFill>
                    <a:srgbClr val="000000"/>
                  </a:solidFill>
                  <a:latin typeface="Inter"/>
                  <a:ea typeface="Inter"/>
                  <a:cs typeface="Inter"/>
                  <a:sym typeface="Inter"/>
                </a:rPr>
                <a:t> folders, file systems)</a:t>
              </a:r>
            </a:p>
            <a:p>
              <a:pPr marL="410211" lvl="1" indent="-205106" algn="l">
                <a:lnSpc>
                  <a:spcPts val="2698"/>
                </a:lnSpc>
                <a:buFont typeface="Arial"/>
                <a:buChar char="•"/>
              </a:pPr>
              <a:r>
                <a:rPr lang="en-US" sz="1900" dirty="0">
                  <a:solidFill>
                    <a:srgbClr val="000000"/>
                  </a:solidFill>
                  <a:latin typeface="Inter"/>
                  <a:ea typeface="Inter"/>
                  <a:cs typeface="Inter"/>
                  <a:sym typeface="Inter"/>
                </a:rPr>
                <a:t>Learning new languages</a:t>
              </a:r>
            </a:p>
            <a:p>
              <a:pPr marL="410211" lvl="1" indent="-205106" algn="l">
                <a:lnSpc>
                  <a:spcPts val="2698"/>
                </a:lnSpc>
                <a:buFont typeface="Arial"/>
                <a:buChar char="•"/>
              </a:pPr>
              <a:r>
                <a:rPr lang="en-US" sz="1900" dirty="0">
                  <a:solidFill>
                    <a:srgbClr val="000000"/>
                  </a:solidFill>
                  <a:latin typeface="Inter"/>
                  <a:ea typeface="Inter"/>
                  <a:cs typeface="Inter"/>
                  <a:sym typeface="Inter"/>
                </a:rPr>
                <a:t>Using productivity/automation tools</a:t>
              </a:r>
            </a:p>
          </p:txBody>
        </p:sp>
        <p:sp>
          <p:nvSpPr>
            <p:cNvPr id="18" name="TextBox 18"/>
            <p:cNvSpPr txBox="1"/>
            <p:nvPr/>
          </p:nvSpPr>
          <p:spPr>
            <a:xfrm>
              <a:off x="0" y="-95250"/>
              <a:ext cx="4987582"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HOBBIES AND INTERESTS</a:t>
              </a:r>
            </a:p>
          </p:txBody>
        </p:sp>
      </p:grpSp>
      <p:grpSp>
        <p:nvGrpSpPr>
          <p:cNvPr id="19" name="Group 19"/>
          <p:cNvGrpSpPr/>
          <p:nvPr/>
        </p:nvGrpSpPr>
        <p:grpSpPr>
          <a:xfrm>
            <a:off x="4808227" y="4723403"/>
            <a:ext cx="3641851" cy="840249"/>
            <a:chOff x="0" y="0"/>
            <a:chExt cx="4855801" cy="1120332"/>
          </a:xfrm>
        </p:grpSpPr>
        <p:sp>
          <p:nvSpPr>
            <p:cNvPr id="20" name="TextBox 20"/>
            <p:cNvSpPr txBox="1"/>
            <p:nvPr/>
          </p:nvSpPr>
          <p:spPr>
            <a:xfrm>
              <a:off x="0" y="708513"/>
              <a:ext cx="4855801" cy="4118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Every day</a:t>
              </a:r>
            </a:p>
          </p:txBody>
        </p:sp>
        <p:sp>
          <p:nvSpPr>
            <p:cNvPr id="21" name="TextBox 21"/>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WATCHES NEWS ONLINE</a:t>
              </a:r>
            </a:p>
          </p:txBody>
        </p:sp>
      </p:grpSp>
      <p:grpSp>
        <p:nvGrpSpPr>
          <p:cNvPr id="22" name="Group 22"/>
          <p:cNvGrpSpPr/>
          <p:nvPr/>
        </p:nvGrpSpPr>
        <p:grpSpPr>
          <a:xfrm>
            <a:off x="9777928" y="4509455"/>
            <a:ext cx="3958027" cy="2279997"/>
            <a:chOff x="0" y="-95250"/>
            <a:chExt cx="5277369" cy="3039995"/>
          </a:xfrm>
        </p:grpSpPr>
        <p:sp>
          <p:nvSpPr>
            <p:cNvPr id="23" name="TextBox 23"/>
            <p:cNvSpPr txBox="1"/>
            <p:nvPr/>
          </p:nvSpPr>
          <p:spPr>
            <a:xfrm>
              <a:off x="0" y="675407"/>
              <a:ext cx="5277369" cy="2269338"/>
            </a:xfrm>
            <a:prstGeom prst="rect">
              <a:avLst/>
            </a:prstGeom>
          </p:spPr>
          <p:txBody>
            <a:bodyPr lIns="0" tIns="0" rIns="0" bIns="0" rtlCol="0" anchor="t">
              <a:spAutoFit/>
            </a:bodyPr>
            <a:lstStyle/>
            <a:p>
              <a:pPr marL="410211" lvl="1" indent="-205106" algn="l">
                <a:lnSpc>
                  <a:spcPts val="2698"/>
                </a:lnSpc>
                <a:buFont typeface="Arial"/>
                <a:buChar char="•"/>
              </a:pPr>
              <a:r>
                <a:rPr lang="en-US" sz="1900" dirty="0">
                  <a:solidFill>
                    <a:srgbClr val="000000"/>
                  </a:solidFill>
                  <a:latin typeface="Inter"/>
                  <a:ea typeface="Inter"/>
                  <a:cs typeface="Inter"/>
                  <a:sym typeface="Inter"/>
                </a:rPr>
                <a:t>Full, granular control over her news consumption experience</a:t>
              </a:r>
            </a:p>
            <a:p>
              <a:pPr marL="410211" lvl="1" indent="-205106" algn="l">
                <a:lnSpc>
                  <a:spcPts val="2698"/>
                </a:lnSpc>
                <a:buFont typeface="Arial"/>
                <a:buChar char="•"/>
              </a:pPr>
              <a:r>
                <a:rPr lang="en-US" sz="1900" dirty="0">
                  <a:solidFill>
                    <a:srgbClr val="000000"/>
                  </a:solidFill>
                  <a:latin typeface="Inter"/>
                  <a:ea typeface="Inter"/>
                  <a:cs typeface="Inter"/>
                  <a:sym typeface="Inter"/>
                </a:rPr>
                <a:t>Make user experience highly efficient and tailored to her need for moment-by-moment</a:t>
              </a:r>
            </a:p>
          </p:txBody>
        </p:sp>
        <p:sp>
          <p:nvSpPr>
            <p:cNvPr id="24" name="TextBox 24"/>
            <p:cNvSpPr txBox="1"/>
            <p:nvPr/>
          </p:nvSpPr>
          <p:spPr>
            <a:xfrm>
              <a:off x="0" y="-95250"/>
              <a:ext cx="5277369"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GOALS</a:t>
              </a:r>
            </a:p>
          </p:txBody>
        </p:sp>
      </p:grpSp>
      <p:grpSp>
        <p:nvGrpSpPr>
          <p:cNvPr id="25" name="Group 25"/>
          <p:cNvGrpSpPr/>
          <p:nvPr/>
        </p:nvGrpSpPr>
        <p:grpSpPr>
          <a:xfrm>
            <a:off x="4808227" y="7622800"/>
            <a:ext cx="3641851" cy="1175639"/>
            <a:chOff x="0" y="0"/>
            <a:chExt cx="4855801" cy="1567518"/>
          </a:xfrm>
        </p:grpSpPr>
        <p:sp>
          <p:nvSpPr>
            <p:cNvPr id="26" name="TextBox 26"/>
            <p:cNvSpPr txBox="1"/>
            <p:nvPr/>
          </p:nvSpPr>
          <p:spPr>
            <a:xfrm>
              <a:off x="0" y="711200"/>
              <a:ext cx="4855801" cy="856318"/>
            </a:xfrm>
            <a:prstGeom prst="rect">
              <a:avLst/>
            </a:prstGeom>
          </p:spPr>
          <p:txBody>
            <a:bodyPr lIns="0" tIns="0" rIns="0" bIns="0" rtlCol="0" anchor="t">
              <a:spAutoFit/>
            </a:bodyPr>
            <a:lstStyle/>
            <a:p>
              <a:pPr algn="l">
                <a:lnSpc>
                  <a:spcPts val="2698"/>
                </a:lnSpc>
              </a:pPr>
              <a:r>
                <a:rPr lang="en-US" sz="1900">
                  <a:solidFill>
                    <a:srgbClr val="FFFFFF"/>
                  </a:solidFill>
                  <a:latin typeface="HK Grotesk"/>
                  <a:ea typeface="HK Grotesk"/>
                  <a:cs typeface="HK Grotesk"/>
                  <a:sym typeface="HK Grotesk"/>
                </a:rPr>
                <a:t>Instagram, Telegram (Messaging), YouTube</a:t>
              </a:r>
            </a:p>
          </p:txBody>
        </p:sp>
        <p:sp>
          <p:nvSpPr>
            <p:cNvPr id="27" name="TextBox 27"/>
            <p:cNvSpPr txBox="1"/>
            <p:nvPr/>
          </p:nvSpPr>
          <p:spPr>
            <a:xfrm>
              <a:off x="0" y="-95250"/>
              <a:ext cx="4855801" cy="679450"/>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FFFFFF"/>
                  </a:solidFill>
                  <a:latin typeface="Kitchakan Bold"/>
                  <a:ea typeface="Kitchakan Bold"/>
                  <a:cs typeface="Kitchakan Bold"/>
                  <a:sym typeface="Kitchakan Bold"/>
                </a:rPr>
                <a:t>TOP PLATFORMS</a:t>
              </a:r>
            </a:p>
          </p:txBody>
        </p:sp>
      </p:grpSp>
      <p:grpSp>
        <p:nvGrpSpPr>
          <p:cNvPr id="28" name="Group 28"/>
          <p:cNvGrpSpPr/>
          <p:nvPr/>
        </p:nvGrpSpPr>
        <p:grpSpPr>
          <a:xfrm>
            <a:off x="14011108" y="4580893"/>
            <a:ext cx="3742076" cy="1815490"/>
            <a:chOff x="0" y="0"/>
            <a:chExt cx="4989435" cy="2420653"/>
          </a:xfrm>
        </p:grpSpPr>
        <p:sp>
          <p:nvSpPr>
            <p:cNvPr id="29" name="TextBox 29"/>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Apps don’t offer enough granular customization options for the news experience</a:t>
              </a:r>
            </a:p>
          </p:txBody>
        </p:sp>
        <p:sp>
          <p:nvSpPr>
            <p:cNvPr id="30" name="TextBox 30"/>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CHALLENGES</a:t>
              </a:r>
            </a:p>
          </p:txBody>
        </p:sp>
      </p:grpSp>
      <p:grpSp>
        <p:nvGrpSpPr>
          <p:cNvPr id="31" name="Group 31"/>
          <p:cNvGrpSpPr/>
          <p:nvPr/>
        </p:nvGrpSpPr>
        <p:grpSpPr>
          <a:xfrm>
            <a:off x="9777928" y="7622800"/>
            <a:ext cx="3742076" cy="1815490"/>
            <a:chOff x="0" y="0"/>
            <a:chExt cx="4989435" cy="2420653"/>
          </a:xfrm>
        </p:grpSpPr>
        <p:sp>
          <p:nvSpPr>
            <p:cNvPr id="32" name="TextBox 32"/>
            <p:cNvSpPr txBox="1"/>
            <p:nvPr/>
          </p:nvSpPr>
          <p:spPr>
            <a:xfrm>
              <a:off x="0" y="675334"/>
              <a:ext cx="4989435" cy="17453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A comprehensive “My Feed Settings” panel with options to customize everything from content mix to tone</a:t>
              </a:r>
            </a:p>
          </p:txBody>
        </p:sp>
        <p:sp>
          <p:nvSpPr>
            <p:cNvPr id="33" name="TextBox 33"/>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NEEDS</a:t>
              </a:r>
            </a:p>
          </p:txBody>
        </p:sp>
      </p:grpSp>
      <p:grpSp>
        <p:nvGrpSpPr>
          <p:cNvPr id="34" name="Group 34"/>
          <p:cNvGrpSpPr/>
          <p:nvPr/>
        </p:nvGrpSpPr>
        <p:grpSpPr>
          <a:xfrm>
            <a:off x="14011108" y="7622800"/>
            <a:ext cx="3742076" cy="2148865"/>
            <a:chOff x="0" y="0"/>
            <a:chExt cx="4989435" cy="2865153"/>
          </a:xfrm>
        </p:grpSpPr>
        <p:sp>
          <p:nvSpPr>
            <p:cNvPr id="35" name="TextBox 35"/>
            <p:cNvSpPr txBox="1"/>
            <p:nvPr/>
          </p:nvSpPr>
          <p:spPr>
            <a:xfrm>
              <a:off x="0" y="675334"/>
              <a:ext cx="4989435" cy="2189818"/>
            </a:xfrm>
            <a:prstGeom prst="rect">
              <a:avLst/>
            </a:prstGeom>
          </p:spPr>
          <p:txBody>
            <a:bodyPr lIns="0" tIns="0" rIns="0" bIns="0" rtlCol="0" anchor="t">
              <a:spAutoFit/>
            </a:bodyPr>
            <a:lstStyle/>
            <a:p>
              <a:pPr marL="410211" lvl="1" indent="-205106" algn="l">
                <a:lnSpc>
                  <a:spcPts val="2698"/>
                </a:lnSpc>
                <a:buFont typeface="Arial"/>
                <a:buChar char="•"/>
              </a:pPr>
              <a:r>
                <a:rPr lang="en-US" sz="1900">
                  <a:solidFill>
                    <a:srgbClr val="000000"/>
                  </a:solidFill>
                  <a:latin typeface="Inter"/>
                  <a:ea typeface="Inter"/>
                  <a:cs typeface="Inter"/>
                  <a:sym typeface="Inter"/>
                </a:rPr>
                <a:t>Reddit</a:t>
              </a:r>
            </a:p>
            <a:p>
              <a:pPr marL="410211" lvl="1" indent="-205106" algn="l">
                <a:lnSpc>
                  <a:spcPts val="2698"/>
                </a:lnSpc>
                <a:buFont typeface="Arial"/>
                <a:buChar char="•"/>
              </a:pPr>
              <a:r>
                <a:rPr lang="en-US" sz="1900">
                  <a:solidFill>
                    <a:srgbClr val="000000"/>
                  </a:solidFill>
                  <a:latin typeface="Inter"/>
                  <a:ea typeface="Inter"/>
                  <a:cs typeface="Inter"/>
                  <a:sym typeface="Inter"/>
                </a:rPr>
                <a:t>TikTok</a:t>
              </a:r>
            </a:p>
            <a:p>
              <a:pPr marL="410211" lvl="1" indent="-205106" algn="l">
                <a:lnSpc>
                  <a:spcPts val="2698"/>
                </a:lnSpc>
                <a:buFont typeface="Arial"/>
                <a:buChar char="•"/>
              </a:pPr>
              <a:r>
                <a:rPr lang="en-US" sz="1900">
                  <a:solidFill>
                    <a:srgbClr val="000000"/>
                  </a:solidFill>
                  <a:latin typeface="Inter"/>
                  <a:ea typeface="Inter"/>
                  <a:cs typeface="Inter"/>
                  <a:sym typeface="Inter"/>
                </a:rPr>
                <a:t>Podcasts</a:t>
              </a:r>
            </a:p>
            <a:p>
              <a:pPr marL="410211" lvl="1" indent="-205106" algn="l">
                <a:lnSpc>
                  <a:spcPts val="2698"/>
                </a:lnSpc>
                <a:buFont typeface="Arial"/>
                <a:buChar char="•"/>
              </a:pPr>
              <a:r>
                <a:rPr lang="en-US" sz="1900">
                  <a:solidFill>
                    <a:srgbClr val="000000"/>
                  </a:solidFill>
                  <a:latin typeface="Inter"/>
                  <a:ea typeface="Inter"/>
                  <a:cs typeface="Inter"/>
                  <a:sym typeface="Inter"/>
                </a:rPr>
                <a:t>YouTube</a:t>
              </a:r>
            </a:p>
            <a:p>
              <a:pPr marL="410211" lvl="1" indent="-205106" algn="l">
                <a:lnSpc>
                  <a:spcPts val="2698"/>
                </a:lnSpc>
                <a:buFont typeface="Arial"/>
                <a:buChar char="•"/>
              </a:pPr>
              <a:r>
                <a:rPr lang="en-US" sz="1900">
                  <a:solidFill>
                    <a:srgbClr val="000000"/>
                  </a:solidFill>
                  <a:latin typeface="Inter"/>
                  <a:ea typeface="Inter"/>
                  <a:cs typeface="Inter"/>
                  <a:sym typeface="Inter"/>
                </a:rPr>
                <a:t>Messaging Apps</a:t>
              </a:r>
            </a:p>
          </p:txBody>
        </p:sp>
        <p:sp>
          <p:nvSpPr>
            <p:cNvPr id="36" name="TextBox 36"/>
            <p:cNvSpPr txBox="1"/>
            <p:nvPr/>
          </p:nvSpPr>
          <p:spPr>
            <a:xfrm>
              <a:off x="0" y="-95250"/>
              <a:ext cx="4989435" cy="679378"/>
            </a:xfrm>
            <a:prstGeom prst="rect">
              <a:avLst/>
            </a:prstGeom>
          </p:spPr>
          <p:txBody>
            <a:bodyPr lIns="0" tIns="0" rIns="0" bIns="0" rtlCol="0" anchor="t">
              <a:spAutoFit/>
            </a:bodyPr>
            <a:lstStyle/>
            <a:p>
              <a:pPr marL="0" lvl="0" indent="0" algn="l">
                <a:lnSpc>
                  <a:spcPts val="3479"/>
                </a:lnSpc>
                <a:spcBef>
                  <a:spcPct val="0"/>
                </a:spcBef>
              </a:pPr>
              <a:r>
                <a:rPr lang="en-US" sz="2899" b="1">
                  <a:solidFill>
                    <a:srgbClr val="000000"/>
                  </a:solidFill>
                  <a:latin typeface="Kitchakan Bold"/>
                  <a:ea typeface="Kitchakan Bold"/>
                  <a:cs typeface="Kitchakan Bold"/>
                  <a:sym typeface="Kitchakan Bold"/>
                </a:rPr>
                <a:t>SOURCES OF INFO</a:t>
              </a:r>
            </a:p>
          </p:txBody>
        </p:sp>
      </p:grpSp>
      <p:sp>
        <p:nvSpPr>
          <p:cNvPr id="37" name="TextBox 37"/>
          <p:cNvSpPr txBox="1"/>
          <p:nvPr/>
        </p:nvSpPr>
        <p:spPr>
          <a:xfrm>
            <a:off x="523973" y="6144040"/>
            <a:ext cx="2993527" cy="1103376"/>
          </a:xfrm>
          <a:prstGeom prst="rect">
            <a:avLst/>
          </a:prstGeom>
        </p:spPr>
        <p:txBody>
          <a:bodyPr lIns="0" tIns="0" rIns="0" bIns="0" rtlCol="0" anchor="t">
            <a:spAutoFit/>
          </a:bodyPr>
          <a:lstStyle/>
          <a:p>
            <a:pPr marL="453390" lvl="1" indent="-226695" algn="l">
              <a:lnSpc>
                <a:spcPts val="2982"/>
              </a:lnSpc>
              <a:buFont typeface="Arial"/>
              <a:buChar char="•"/>
            </a:pPr>
            <a:r>
              <a:rPr lang="en-US" sz="2100">
                <a:solidFill>
                  <a:srgbClr val="FFFFFF"/>
                </a:solidFill>
                <a:latin typeface="Inter"/>
                <a:ea typeface="Inter"/>
                <a:cs typeface="Inter"/>
                <a:sym typeface="Inter"/>
              </a:rPr>
              <a:t>Age: 26 years old</a:t>
            </a:r>
          </a:p>
          <a:p>
            <a:pPr marL="453390" lvl="1" indent="-226695" algn="l">
              <a:lnSpc>
                <a:spcPts val="2982"/>
              </a:lnSpc>
              <a:buFont typeface="Arial"/>
              <a:buChar char="•"/>
            </a:pPr>
            <a:r>
              <a:rPr lang="en-US" sz="2100">
                <a:solidFill>
                  <a:srgbClr val="FFFFFF"/>
                </a:solidFill>
                <a:latin typeface="Inter"/>
                <a:ea typeface="Inter"/>
                <a:cs typeface="Inter"/>
                <a:sym typeface="Inter"/>
              </a:rPr>
              <a:t>Country: Malaysia</a:t>
            </a:r>
          </a:p>
          <a:p>
            <a:pPr marL="453390" lvl="1" indent="-226695" algn="l">
              <a:lnSpc>
                <a:spcPts val="2982"/>
              </a:lnSpc>
              <a:buFont typeface="Arial"/>
              <a:buChar char="•"/>
            </a:pPr>
            <a:r>
              <a:rPr lang="en-US" sz="2100">
                <a:solidFill>
                  <a:srgbClr val="FFFFFF"/>
                </a:solidFill>
                <a:latin typeface="Inter"/>
                <a:ea typeface="Inter"/>
                <a:cs typeface="Inter"/>
                <a:sym typeface="Inter"/>
              </a:rPr>
              <a:t>Profession: Student</a:t>
            </a:r>
          </a:p>
        </p:txBody>
      </p:sp>
      <p:grpSp>
        <p:nvGrpSpPr>
          <p:cNvPr id="38" name="Group 38"/>
          <p:cNvGrpSpPr/>
          <p:nvPr/>
        </p:nvGrpSpPr>
        <p:grpSpPr>
          <a:xfrm>
            <a:off x="523973" y="4580893"/>
            <a:ext cx="2972685" cy="883669"/>
            <a:chOff x="0" y="0"/>
            <a:chExt cx="3963580" cy="1178225"/>
          </a:xfrm>
        </p:grpSpPr>
        <p:grpSp>
          <p:nvGrpSpPr>
            <p:cNvPr id="39" name="Group 39"/>
            <p:cNvGrpSpPr/>
            <p:nvPr/>
          </p:nvGrpSpPr>
          <p:grpSpPr>
            <a:xfrm>
              <a:off x="0" y="0"/>
              <a:ext cx="3963580" cy="1178225"/>
              <a:chOff x="0" y="0"/>
              <a:chExt cx="1367224" cy="406425"/>
            </a:xfrm>
          </p:grpSpPr>
          <p:sp>
            <p:nvSpPr>
              <p:cNvPr id="40" name="Freeform 40"/>
              <p:cNvSpPr/>
              <p:nvPr/>
            </p:nvSpPr>
            <p:spPr>
              <a:xfrm>
                <a:off x="0" y="0"/>
                <a:ext cx="1367224" cy="406425"/>
              </a:xfrm>
              <a:custGeom>
                <a:avLst/>
                <a:gdLst/>
                <a:ahLst/>
                <a:cxnLst/>
                <a:rect l="l" t="t" r="r" b="b"/>
                <a:pathLst>
                  <a:path w="1367224" h="406425">
                    <a:moveTo>
                      <a:pt x="1164024" y="0"/>
                    </a:moveTo>
                    <a:cubicBezTo>
                      <a:pt x="1276248" y="0"/>
                      <a:pt x="1367224" y="90981"/>
                      <a:pt x="1367224" y="203212"/>
                    </a:cubicBezTo>
                    <a:cubicBezTo>
                      <a:pt x="1367224" y="315444"/>
                      <a:pt x="1276248" y="406425"/>
                      <a:pt x="1164024" y="406425"/>
                    </a:cubicBezTo>
                    <a:lnTo>
                      <a:pt x="203200" y="406425"/>
                    </a:lnTo>
                    <a:cubicBezTo>
                      <a:pt x="90976" y="406425"/>
                      <a:pt x="0" y="315444"/>
                      <a:pt x="0" y="203212"/>
                    </a:cubicBezTo>
                    <a:cubicBezTo>
                      <a:pt x="0" y="90981"/>
                      <a:pt x="90976" y="0"/>
                      <a:pt x="203200" y="0"/>
                    </a:cubicBezTo>
                    <a:close/>
                  </a:path>
                </a:pathLst>
              </a:custGeom>
              <a:solidFill>
                <a:srgbClr val="202020"/>
              </a:solidFill>
            </p:spPr>
            <p:txBody>
              <a:bodyPr/>
              <a:lstStyle/>
              <a:p>
                <a:endParaRPr lang="en-US"/>
              </a:p>
            </p:txBody>
          </p:sp>
          <p:sp>
            <p:nvSpPr>
              <p:cNvPr id="41" name="TextBox 41"/>
              <p:cNvSpPr txBox="1"/>
              <p:nvPr/>
            </p:nvSpPr>
            <p:spPr>
              <a:xfrm>
                <a:off x="0" y="-28575"/>
                <a:ext cx="1367224" cy="435000"/>
              </a:xfrm>
              <a:prstGeom prst="rect">
                <a:avLst/>
              </a:prstGeom>
            </p:spPr>
            <p:txBody>
              <a:bodyPr lIns="50800" tIns="50800" rIns="50800" bIns="50800" rtlCol="0" anchor="ctr"/>
              <a:lstStyle/>
              <a:p>
                <a:pPr algn="ctr">
                  <a:lnSpc>
                    <a:spcPts val="2698"/>
                  </a:lnSpc>
                </a:pPr>
                <a:endParaRPr/>
              </a:p>
            </p:txBody>
          </p:sp>
        </p:grpSp>
        <p:sp>
          <p:nvSpPr>
            <p:cNvPr id="42" name="TextBox 42"/>
            <p:cNvSpPr txBox="1"/>
            <p:nvPr/>
          </p:nvSpPr>
          <p:spPr>
            <a:xfrm>
              <a:off x="346387" y="81113"/>
              <a:ext cx="3243019" cy="1054100"/>
            </a:xfrm>
            <a:prstGeom prst="rect">
              <a:avLst/>
            </a:prstGeom>
          </p:spPr>
          <p:txBody>
            <a:bodyPr lIns="0" tIns="0" rIns="0" bIns="0" rtlCol="0" anchor="t">
              <a:spAutoFit/>
            </a:bodyPr>
            <a:lstStyle/>
            <a:p>
              <a:pPr marL="0" lvl="0" indent="0" algn="ctr">
                <a:lnSpc>
                  <a:spcPts val="5399"/>
                </a:lnSpc>
                <a:spcBef>
                  <a:spcPct val="0"/>
                </a:spcBef>
              </a:pPr>
              <a:r>
                <a:rPr lang="en-US" sz="4499" b="1">
                  <a:solidFill>
                    <a:srgbClr val="FFFFFF"/>
                  </a:solidFill>
                  <a:latin typeface="Kitchakan Bold"/>
                  <a:ea typeface="Kitchakan Bold"/>
                  <a:cs typeface="Kitchakan Bold"/>
                  <a:sym typeface="Kitchakan Bold"/>
                </a:rPr>
                <a:t>JANICE</a:t>
              </a:r>
            </a:p>
          </p:txBody>
        </p:sp>
      </p:grpSp>
      <p:sp>
        <p:nvSpPr>
          <p:cNvPr id="43" name="TextBox 43"/>
          <p:cNvSpPr txBox="1"/>
          <p:nvPr/>
        </p:nvSpPr>
        <p:spPr>
          <a:xfrm>
            <a:off x="643447" y="8379968"/>
            <a:ext cx="2712895" cy="1284605"/>
          </a:xfrm>
          <a:prstGeom prst="rect">
            <a:avLst/>
          </a:prstGeom>
        </p:spPr>
        <p:txBody>
          <a:bodyPr lIns="0" tIns="0" rIns="0" bIns="0" rtlCol="0" anchor="t">
            <a:spAutoFit/>
          </a:bodyPr>
          <a:lstStyle/>
          <a:p>
            <a:pPr marL="0" lvl="0" indent="0" algn="ctr">
              <a:lnSpc>
                <a:spcPts val="2080"/>
              </a:lnSpc>
            </a:pPr>
            <a:r>
              <a:rPr lang="en-US" sz="1600">
                <a:solidFill>
                  <a:srgbClr val="FFFFFF"/>
                </a:solidFill>
                <a:latin typeface="Inter"/>
                <a:ea typeface="Inter"/>
                <a:cs typeface="Inter"/>
                <a:sym typeface="Inter"/>
              </a:rPr>
              <a:t>“My focus is on feature control. I want my personalization to be focused on  Topics, Length, Format, and Tone.”</a:t>
            </a:r>
          </a:p>
        </p:txBody>
      </p:sp>
      <p:grpSp>
        <p:nvGrpSpPr>
          <p:cNvPr id="44" name="Group 44"/>
          <p:cNvGrpSpPr/>
          <p:nvPr/>
        </p:nvGrpSpPr>
        <p:grpSpPr>
          <a:xfrm>
            <a:off x="513552" y="461911"/>
            <a:ext cx="2972685" cy="3614157"/>
            <a:chOff x="0" y="0"/>
            <a:chExt cx="3963580" cy="4818876"/>
          </a:xfrm>
        </p:grpSpPr>
        <p:pic>
          <p:nvPicPr>
            <p:cNvPr id="45" name="Picture 45"/>
            <p:cNvPicPr>
              <a:picLocks noChangeAspect="1"/>
            </p:cNvPicPr>
            <p:nvPr/>
          </p:nvPicPr>
          <p:blipFill>
            <a:blip r:embed="rId3"/>
            <a:srcRect t="6563" b="6563"/>
            <a:stretch>
              <a:fillRect/>
            </a:stretch>
          </p:blipFill>
          <p:spPr>
            <a:xfrm>
              <a:off x="0" y="0"/>
              <a:ext cx="3963580" cy="4818876"/>
            </a:xfrm>
            <a:prstGeom prst="rect">
              <a:avLst/>
            </a:prstGeom>
          </p:spPr>
        </p:pic>
      </p:grpSp>
      <p:sp>
        <p:nvSpPr>
          <p:cNvPr id="46" name="Freeform 46"/>
          <p:cNvSpPr/>
          <p:nvPr/>
        </p:nvSpPr>
        <p:spPr>
          <a:xfrm>
            <a:off x="16936882" y="9614472"/>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4">
              <a:extLst>
                <a:ext uri="{96DAC541-7B7A-43D3-8B79-37D633B846F1}">
                  <asvg:svgBlip xmlns:asvg="http://schemas.microsoft.com/office/drawing/2016/SVG/main" r:embed="rId5"/>
                </a:ext>
              </a:extLst>
            </a:blip>
            <a:stretch>
              <a:fillRect/>
            </a:stretch>
          </a:blipFill>
        </p:spPr>
        <p:txBody>
          <a:bodyPr/>
          <a:lstStyle/>
          <a:p>
            <a:endParaRPr lang="en-US"/>
          </a:p>
        </p:txBody>
      </p:sp>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Freeform 2"/>
          <p:cNvSpPr/>
          <p:nvPr/>
        </p:nvSpPr>
        <p:spPr>
          <a:xfrm>
            <a:off x="1352812" y="1028700"/>
            <a:ext cx="883439" cy="898670"/>
          </a:xfrm>
          <a:custGeom>
            <a:avLst/>
            <a:gdLst/>
            <a:ahLst/>
            <a:cxnLst/>
            <a:rect l="l" t="t" r="r" b="b"/>
            <a:pathLst>
              <a:path w="883439" h="898670">
                <a:moveTo>
                  <a:pt x="0" y="0"/>
                </a:moveTo>
                <a:lnTo>
                  <a:pt x="883439" y="0"/>
                </a:lnTo>
                <a:lnTo>
                  <a:pt x="883439" y="898670"/>
                </a:lnTo>
                <a:lnTo>
                  <a:pt x="0" y="898670"/>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grpSp>
        <p:nvGrpSpPr>
          <p:cNvPr id="3" name="Group 3"/>
          <p:cNvGrpSpPr/>
          <p:nvPr/>
        </p:nvGrpSpPr>
        <p:grpSpPr>
          <a:xfrm>
            <a:off x="7604226" y="0"/>
            <a:ext cx="10683774" cy="11283980"/>
            <a:chOff x="0" y="0"/>
            <a:chExt cx="1655196" cy="1748184"/>
          </a:xfrm>
        </p:grpSpPr>
        <p:sp>
          <p:nvSpPr>
            <p:cNvPr id="4" name="Freeform 4"/>
            <p:cNvSpPr/>
            <p:nvPr/>
          </p:nvSpPr>
          <p:spPr>
            <a:xfrm>
              <a:off x="0" y="0"/>
              <a:ext cx="1655196" cy="1748184"/>
            </a:xfrm>
            <a:custGeom>
              <a:avLst/>
              <a:gdLst/>
              <a:ahLst/>
              <a:cxnLst/>
              <a:rect l="l" t="t" r="r" b="b"/>
              <a:pathLst>
                <a:path w="1655196" h="1748184">
                  <a:moveTo>
                    <a:pt x="0" y="0"/>
                  </a:moveTo>
                  <a:lnTo>
                    <a:pt x="1655196" y="0"/>
                  </a:lnTo>
                  <a:lnTo>
                    <a:pt x="1655196" y="1748184"/>
                  </a:lnTo>
                  <a:lnTo>
                    <a:pt x="0" y="1748184"/>
                  </a:lnTo>
                  <a:close/>
                </a:path>
              </a:pathLst>
            </a:custGeom>
            <a:blipFill>
              <a:blip r:embed="rId5"/>
              <a:stretch>
                <a:fillRect l="-2808" r="-2808"/>
              </a:stretch>
            </a:blipFill>
          </p:spPr>
          <p:txBody>
            <a:bodyPr/>
            <a:lstStyle/>
            <a:p>
              <a:endParaRPr lang="en-US"/>
            </a:p>
          </p:txBody>
        </p:sp>
      </p:grpSp>
      <p:grpSp>
        <p:nvGrpSpPr>
          <p:cNvPr id="5" name="Group 5"/>
          <p:cNvGrpSpPr/>
          <p:nvPr/>
        </p:nvGrpSpPr>
        <p:grpSpPr>
          <a:xfrm>
            <a:off x="1352812" y="5143500"/>
            <a:ext cx="9047627" cy="3621056"/>
            <a:chOff x="0" y="0"/>
            <a:chExt cx="2382914" cy="953694"/>
          </a:xfrm>
        </p:grpSpPr>
        <p:sp>
          <p:nvSpPr>
            <p:cNvPr id="6" name="Freeform 6"/>
            <p:cNvSpPr/>
            <p:nvPr/>
          </p:nvSpPr>
          <p:spPr>
            <a:xfrm>
              <a:off x="0" y="0"/>
              <a:ext cx="2382914" cy="953694"/>
            </a:xfrm>
            <a:custGeom>
              <a:avLst/>
              <a:gdLst/>
              <a:ahLst/>
              <a:cxnLst/>
              <a:rect l="l" t="t" r="r" b="b"/>
              <a:pathLst>
                <a:path w="2382914" h="953694">
                  <a:moveTo>
                    <a:pt x="20536" y="0"/>
                  </a:moveTo>
                  <a:lnTo>
                    <a:pt x="2362378" y="0"/>
                  </a:lnTo>
                  <a:cubicBezTo>
                    <a:pt x="2373720" y="0"/>
                    <a:pt x="2382914" y="9194"/>
                    <a:pt x="2382914" y="20536"/>
                  </a:cubicBezTo>
                  <a:lnTo>
                    <a:pt x="2382914" y="933157"/>
                  </a:lnTo>
                  <a:cubicBezTo>
                    <a:pt x="2382914" y="938604"/>
                    <a:pt x="2380750" y="943827"/>
                    <a:pt x="2376899" y="947679"/>
                  </a:cubicBezTo>
                  <a:cubicBezTo>
                    <a:pt x="2373048" y="951530"/>
                    <a:pt x="2367824" y="953694"/>
                    <a:pt x="2362378" y="953694"/>
                  </a:cubicBezTo>
                  <a:lnTo>
                    <a:pt x="20536" y="953694"/>
                  </a:lnTo>
                  <a:cubicBezTo>
                    <a:pt x="15090" y="953694"/>
                    <a:pt x="9866" y="951530"/>
                    <a:pt x="6015" y="947679"/>
                  </a:cubicBezTo>
                  <a:cubicBezTo>
                    <a:pt x="2164" y="943827"/>
                    <a:pt x="0" y="938604"/>
                    <a:pt x="0" y="933157"/>
                  </a:cubicBezTo>
                  <a:lnTo>
                    <a:pt x="0" y="20536"/>
                  </a:lnTo>
                  <a:cubicBezTo>
                    <a:pt x="0" y="15090"/>
                    <a:pt x="2164" y="9866"/>
                    <a:pt x="6015" y="6015"/>
                  </a:cubicBezTo>
                  <a:cubicBezTo>
                    <a:pt x="9866" y="2164"/>
                    <a:pt x="15090" y="0"/>
                    <a:pt x="20536" y="0"/>
                  </a:cubicBezTo>
                  <a:close/>
                </a:path>
              </a:pathLst>
            </a:custGeom>
            <a:solidFill>
              <a:srgbClr val="35589A"/>
            </a:solidFill>
          </p:spPr>
          <p:txBody>
            <a:bodyPr/>
            <a:lstStyle/>
            <a:p>
              <a:endParaRPr lang="en-US"/>
            </a:p>
          </p:txBody>
        </p:sp>
        <p:sp>
          <p:nvSpPr>
            <p:cNvPr id="7" name="TextBox 7"/>
            <p:cNvSpPr txBox="1"/>
            <p:nvPr/>
          </p:nvSpPr>
          <p:spPr>
            <a:xfrm>
              <a:off x="0" y="-38100"/>
              <a:ext cx="2382914" cy="991794"/>
            </a:xfrm>
            <a:prstGeom prst="rect">
              <a:avLst/>
            </a:prstGeom>
          </p:spPr>
          <p:txBody>
            <a:bodyPr lIns="50800" tIns="50800" rIns="50800" bIns="50800" rtlCol="0" anchor="ctr"/>
            <a:lstStyle/>
            <a:p>
              <a:pPr algn="ctr">
                <a:lnSpc>
                  <a:spcPts val="2659"/>
                </a:lnSpc>
              </a:pPr>
              <a:endParaRPr/>
            </a:p>
          </p:txBody>
        </p:sp>
      </p:grpSp>
      <p:grpSp>
        <p:nvGrpSpPr>
          <p:cNvPr id="8" name="Group 8"/>
          <p:cNvGrpSpPr/>
          <p:nvPr/>
        </p:nvGrpSpPr>
        <p:grpSpPr>
          <a:xfrm>
            <a:off x="9811483" y="5143500"/>
            <a:ext cx="3511725" cy="3621056"/>
            <a:chOff x="0" y="0"/>
            <a:chExt cx="924899" cy="953694"/>
          </a:xfrm>
        </p:grpSpPr>
        <p:sp>
          <p:nvSpPr>
            <p:cNvPr id="9" name="Freeform 9"/>
            <p:cNvSpPr/>
            <p:nvPr/>
          </p:nvSpPr>
          <p:spPr>
            <a:xfrm>
              <a:off x="0" y="0"/>
              <a:ext cx="924899" cy="953694"/>
            </a:xfrm>
            <a:custGeom>
              <a:avLst/>
              <a:gdLst/>
              <a:ahLst/>
              <a:cxnLst/>
              <a:rect l="l" t="t" r="r" b="b"/>
              <a:pathLst>
                <a:path w="924899" h="953694">
                  <a:moveTo>
                    <a:pt x="52910" y="0"/>
                  </a:moveTo>
                  <a:lnTo>
                    <a:pt x="871989" y="0"/>
                  </a:lnTo>
                  <a:cubicBezTo>
                    <a:pt x="886021" y="0"/>
                    <a:pt x="899479" y="5574"/>
                    <a:pt x="909402" y="15497"/>
                  </a:cubicBezTo>
                  <a:cubicBezTo>
                    <a:pt x="919324" y="25420"/>
                    <a:pt x="924899" y="38878"/>
                    <a:pt x="924899" y="52910"/>
                  </a:cubicBezTo>
                  <a:lnTo>
                    <a:pt x="924899" y="900783"/>
                  </a:lnTo>
                  <a:cubicBezTo>
                    <a:pt x="924899" y="914816"/>
                    <a:pt x="919324" y="928274"/>
                    <a:pt x="909402" y="938197"/>
                  </a:cubicBezTo>
                  <a:cubicBezTo>
                    <a:pt x="899479" y="948119"/>
                    <a:pt x="886021" y="953694"/>
                    <a:pt x="871989" y="953694"/>
                  </a:cubicBezTo>
                  <a:lnTo>
                    <a:pt x="52910" y="953694"/>
                  </a:lnTo>
                  <a:cubicBezTo>
                    <a:pt x="38878" y="953694"/>
                    <a:pt x="25420" y="948119"/>
                    <a:pt x="15497" y="938197"/>
                  </a:cubicBezTo>
                  <a:cubicBezTo>
                    <a:pt x="5574" y="928274"/>
                    <a:pt x="0" y="914816"/>
                    <a:pt x="0" y="900783"/>
                  </a:cubicBezTo>
                  <a:lnTo>
                    <a:pt x="0" y="52910"/>
                  </a:lnTo>
                  <a:cubicBezTo>
                    <a:pt x="0" y="38878"/>
                    <a:pt x="5574" y="25420"/>
                    <a:pt x="15497" y="15497"/>
                  </a:cubicBezTo>
                  <a:cubicBezTo>
                    <a:pt x="25420" y="5574"/>
                    <a:pt x="38878" y="0"/>
                    <a:pt x="52910" y="0"/>
                  </a:cubicBezTo>
                  <a:close/>
                </a:path>
              </a:pathLst>
            </a:custGeom>
            <a:solidFill>
              <a:srgbClr val="FFFFFF"/>
            </a:solidFill>
          </p:spPr>
          <p:txBody>
            <a:bodyPr/>
            <a:lstStyle/>
            <a:p>
              <a:endParaRPr lang="en-US"/>
            </a:p>
          </p:txBody>
        </p:sp>
        <p:sp>
          <p:nvSpPr>
            <p:cNvPr id="10" name="TextBox 10"/>
            <p:cNvSpPr txBox="1"/>
            <p:nvPr/>
          </p:nvSpPr>
          <p:spPr>
            <a:xfrm>
              <a:off x="0" y="-38100"/>
              <a:ext cx="924899" cy="991794"/>
            </a:xfrm>
            <a:prstGeom prst="rect">
              <a:avLst/>
            </a:prstGeom>
          </p:spPr>
          <p:txBody>
            <a:bodyPr lIns="50800" tIns="50800" rIns="50800" bIns="50800" rtlCol="0" anchor="ctr"/>
            <a:lstStyle/>
            <a:p>
              <a:pPr algn="ctr">
                <a:lnSpc>
                  <a:spcPts val="2659"/>
                </a:lnSpc>
              </a:pPr>
              <a:endParaRPr/>
            </a:p>
          </p:txBody>
        </p:sp>
      </p:grpSp>
      <p:grpSp>
        <p:nvGrpSpPr>
          <p:cNvPr id="11" name="Group 11"/>
          <p:cNvGrpSpPr/>
          <p:nvPr/>
        </p:nvGrpSpPr>
        <p:grpSpPr>
          <a:xfrm>
            <a:off x="12661845" y="5143500"/>
            <a:ext cx="1047881" cy="3621056"/>
            <a:chOff x="0" y="0"/>
            <a:chExt cx="275985" cy="953694"/>
          </a:xfrm>
        </p:grpSpPr>
        <p:sp>
          <p:nvSpPr>
            <p:cNvPr id="12" name="Freeform 12"/>
            <p:cNvSpPr/>
            <p:nvPr/>
          </p:nvSpPr>
          <p:spPr>
            <a:xfrm>
              <a:off x="0" y="0"/>
              <a:ext cx="275985" cy="953694"/>
            </a:xfrm>
            <a:custGeom>
              <a:avLst/>
              <a:gdLst/>
              <a:ahLst/>
              <a:cxnLst/>
              <a:rect l="l" t="t" r="r" b="b"/>
              <a:pathLst>
                <a:path w="275985" h="953694">
                  <a:moveTo>
                    <a:pt x="137993" y="0"/>
                  </a:moveTo>
                  <a:lnTo>
                    <a:pt x="137993" y="0"/>
                  </a:lnTo>
                  <a:cubicBezTo>
                    <a:pt x="214204" y="0"/>
                    <a:pt x="275985" y="61781"/>
                    <a:pt x="275985" y="137993"/>
                  </a:cubicBezTo>
                  <a:lnTo>
                    <a:pt x="275985" y="815701"/>
                  </a:lnTo>
                  <a:cubicBezTo>
                    <a:pt x="275985" y="852299"/>
                    <a:pt x="261447" y="887398"/>
                    <a:pt x="235568" y="913277"/>
                  </a:cubicBezTo>
                  <a:cubicBezTo>
                    <a:pt x="209689" y="939155"/>
                    <a:pt x="174590" y="953694"/>
                    <a:pt x="137993" y="953694"/>
                  </a:cubicBezTo>
                  <a:lnTo>
                    <a:pt x="137993" y="953694"/>
                  </a:lnTo>
                  <a:cubicBezTo>
                    <a:pt x="101395" y="953694"/>
                    <a:pt x="66296" y="939155"/>
                    <a:pt x="40417" y="913277"/>
                  </a:cubicBezTo>
                  <a:cubicBezTo>
                    <a:pt x="14538" y="887398"/>
                    <a:pt x="0" y="852299"/>
                    <a:pt x="0" y="815701"/>
                  </a:cubicBezTo>
                  <a:lnTo>
                    <a:pt x="0" y="137993"/>
                  </a:lnTo>
                  <a:cubicBezTo>
                    <a:pt x="0" y="101395"/>
                    <a:pt x="14538" y="66296"/>
                    <a:pt x="40417" y="40417"/>
                  </a:cubicBezTo>
                  <a:cubicBezTo>
                    <a:pt x="66296" y="14538"/>
                    <a:pt x="101395" y="0"/>
                    <a:pt x="137993" y="0"/>
                  </a:cubicBezTo>
                  <a:close/>
                </a:path>
              </a:pathLst>
            </a:custGeom>
            <a:solidFill>
              <a:srgbClr val="000000"/>
            </a:solidFill>
          </p:spPr>
          <p:txBody>
            <a:bodyPr/>
            <a:lstStyle/>
            <a:p>
              <a:endParaRPr lang="en-US"/>
            </a:p>
          </p:txBody>
        </p:sp>
        <p:sp>
          <p:nvSpPr>
            <p:cNvPr id="13" name="TextBox 13"/>
            <p:cNvSpPr txBox="1"/>
            <p:nvPr/>
          </p:nvSpPr>
          <p:spPr>
            <a:xfrm>
              <a:off x="0" y="-38100"/>
              <a:ext cx="275985" cy="991794"/>
            </a:xfrm>
            <a:prstGeom prst="rect">
              <a:avLst/>
            </a:prstGeom>
          </p:spPr>
          <p:txBody>
            <a:bodyPr lIns="50800" tIns="50800" rIns="50800" bIns="50800" rtlCol="0" anchor="ctr"/>
            <a:lstStyle/>
            <a:p>
              <a:pPr algn="ctr">
                <a:lnSpc>
                  <a:spcPts val="2659"/>
                </a:lnSpc>
              </a:pPr>
              <a:endParaRPr/>
            </a:p>
          </p:txBody>
        </p:sp>
      </p:grpSp>
      <p:sp>
        <p:nvSpPr>
          <p:cNvPr id="14" name="Freeform 14"/>
          <p:cNvSpPr/>
          <p:nvPr/>
        </p:nvSpPr>
        <p:spPr>
          <a:xfrm>
            <a:off x="1352812" y="8910808"/>
            <a:ext cx="694984" cy="694984"/>
          </a:xfrm>
          <a:custGeom>
            <a:avLst/>
            <a:gdLst/>
            <a:ahLst/>
            <a:cxnLst/>
            <a:rect l="l" t="t" r="r" b="b"/>
            <a:pathLst>
              <a:path w="694984" h="694984">
                <a:moveTo>
                  <a:pt x="0" y="0"/>
                </a:moveTo>
                <a:lnTo>
                  <a:pt x="694984" y="0"/>
                </a:lnTo>
                <a:lnTo>
                  <a:pt x="694984" y="694984"/>
                </a:lnTo>
                <a:lnTo>
                  <a:pt x="0" y="694984"/>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15" name="Freeform 15"/>
          <p:cNvSpPr/>
          <p:nvPr/>
        </p:nvSpPr>
        <p:spPr>
          <a:xfrm>
            <a:off x="10174233" y="5905436"/>
            <a:ext cx="2155984" cy="2097184"/>
          </a:xfrm>
          <a:custGeom>
            <a:avLst/>
            <a:gdLst/>
            <a:ahLst/>
            <a:cxnLst/>
            <a:rect l="l" t="t" r="r" b="b"/>
            <a:pathLst>
              <a:path w="2155984" h="2097184">
                <a:moveTo>
                  <a:pt x="0" y="0"/>
                </a:moveTo>
                <a:lnTo>
                  <a:pt x="2155984" y="0"/>
                </a:lnTo>
                <a:lnTo>
                  <a:pt x="2155984" y="2097184"/>
                </a:lnTo>
                <a:lnTo>
                  <a:pt x="0" y="2097184"/>
                </a:lnTo>
                <a:lnTo>
                  <a:pt x="0" y="0"/>
                </a:lnTo>
                <a:close/>
              </a:path>
            </a:pathLst>
          </a:custGeom>
          <a:blipFill>
            <a:blip r:embed="rId8">
              <a:extLst>
                <a:ext uri="{96DAC541-7B7A-43D3-8B79-37D633B846F1}">
                  <asvg:svgBlip xmlns:asvg="http://schemas.microsoft.com/office/drawing/2016/SVG/main" r:embed="rId9"/>
                </a:ext>
              </a:extLst>
            </a:blip>
            <a:stretch>
              <a:fillRect/>
            </a:stretch>
          </a:blipFill>
        </p:spPr>
        <p:txBody>
          <a:bodyPr/>
          <a:lstStyle/>
          <a:p>
            <a:endParaRPr lang="en-US"/>
          </a:p>
        </p:txBody>
      </p:sp>
      <p:sp>
        <p:nvSpPr>
          <p:cNvPr id="16" name="TextBox 16"/>
          <p:cNvSpPr txBox="1"/>
          <p:nvPr/>
        </p:nvSpPr>
        <p:spPr>
          <a:xfrm>
            <a:off x="2571040" y="1363734"/>
            <a:ext cx="2702633" cy="877877"/>
          </a:xfrm>
          <a:prstGeom prst="rect">
            <a:avLst/>
          </a:prstGeom>
        </p:spPr>
        <p:txBody>
          <a:bodyPr lIns="0" tIns="0" rIns="0" bIns="0" rtlCol="0" anchor="t">
            <a:spAutoFit/>
          </a:bodyPr>
          <a:lstStyle/>
          <a:p>
            <a:pPr algn="l">
              <a:lnSpc>
                <a:spcPts val="3588"/>
              </a:lnSpc>
              <a:spcBef>
                <a:spcPct val="0"/>
              </a:spcBef>
            </a:pPr>
            <a:r>
              <a:rPr lang="en-US" sz="2562" b="1">
                <a:solidFill>
                  <a:srgbClr val="FFFFFF"/>
                </a:solidFill>
                <a:latin typeface="Garet Bold"/>
                <a:ea typeface="Garet Bold"/>
                <a:cs typeface="Garet Bold"/>
                <a:sym typeface="Garet Bold"/>
              </a:rPr>
              <a:t>AI Personalization</a:t>
            </a:r>
          </a:p>
        </p:txBody>
      </p:sp>
      <p:sp>
        <p:nvSpPr>
          <p:cNvPr id="17" name="TextBox 17"/>
          <p:cNvSpPr txBox="1"/>
          <p:nvPr/>
        </p:nvSpPr>
        <p:spPr>
          <a:xfrm>
            <a:off x="16106530" y="548450"/>
            <a:ext cx="1601982" cy="480250"/>
          </a:xfrm>
          <a:prstGeom prst="rect">
            <a:avLst/>
          </a:prstGeom>
        </p:spPr>
        <p:txBody>
          <a:bodyPr lIns="0" tIns="0" rIns="0" bIns="0" rtlCol="0" anchor="t">
            <a:spAutoFit/>
          </a:bodyPr>
          <a:lstStyle/>
          <a:p>
            <a:pPr algn="l">
              <a:lnSpc>
                <a:spcPts val="1829"/>
              </a:lnSpc>
            </a:pPr>
            <a:r>
              <a:rPr lang="en-US" sz="1925" b="1">
                <a:solidFill>
                  <a:srgbClr val="FFFFFF"/>
                </a:solidFill>
                <a:latin typeface="Inter Bold"/>
                <a:ea typeface="Inter Bold"/>
                <a:cs typeface="Inter Bold"/>
                <a:sym typeface="Inter Bold"/>
              </a:rPr>
              <a:t>Consumer Insight</a:t>
            </a:r>
          </a:p>
        </p:txBody>
      </p:sp>
      <p:sp>
        <p:nvSpPr>
          <p:cNvPr id="18" name="TextBox 18"/>
          <p:cNvSpPr txBox="1"/>
          <p:nvPr/>
        </p:nvSpPr>
        <p:spPr>
          <a:xfrm>
            <a:off x="1301251" y="2338698"/>
            <a:ext cx="6302975" cy="1240949"/>
          </a:xfrm>
          <a:prstGeom prst="rect">
            <a:avLst/>
          </a:prstGeom>
        </p:spPr>
        <p:txBody>
          <a:bodyPr lIns="0" tIns="0" rIns="0" bIns="0" rtlCol="0" anchor="t">
            <a:spAutoFit/>
          </a:bodyPr>
          <a:lstStyle/>
          <a:p>
            <a:pPr algn="l">
              <a:lnSpc>
                <a:spcPts val="9747"/>
              </a:lnSpc>
            </a:pPr>
            <a:r>
              <a:rPr lang="en-US" sz="8703" b="1">
                <a:solidFill>
                  <a:srgbClr val="FFFFFF"/>
                </a:solidFill>
                <a:latin typeface="Garet Bold"/>
                <a:ea typeface="Garet Bold"/>
                <a:cs typeface="Garet Bold"/>
                <a:sym typeface="Garet Bold"/>
              </a:rPr>
              <a:t>Survey</a:t>
            </a:r>
          </a:p>
        </p:txBody>
      </p:sp>
      <p:sp>
        <p:nvSpPr>
          <p:cNvPr id="19" name="TextBox 19"/>
          <p:cNvSpPr txBox="1"/>
          <p:nvPr/>
        </p:nvSpPr>
        <p:spPr>
          <a:xfrm>
            <a:off x="1568763" y="5361294"/>
            <a:ext cx="8124929" cy="3686937"/>
          </a:xfrm>
          <a:prstGeom prst="rect">
            <a:avLst/>
          </a:prstGeom>
        </p:spPr>
        <p:txBody>
          <a:bodyPr lIns="0" tIns="0" rIns="0" bIns="0" rtlCol="0" anchor="t">
            <a:spAutoFit/>
          </a:bodyPr>
          <a:lstStyle/>
          <a:p>
            <a:pPr algn="l">
              <a:lnSpc>
                <a:spcPts val="2951"/>
              </a:lnSpc>
            </a:pPr>
            <a:r>
              <a:rPr lang="en-US" sz="2399">
                <a:solidFill>
                  <a:srgbClr val="FFFFFF"/>
                </a:solidFill>
                <a:latin typeface="Inter"/>
                <a:ea typeface="Inter"/>
                <a:cs typeface="Inter"/>
                <a:sym typeface="Inter"/>
              </a:rPr>
              <a:t>The survey collected 20 total responses from young adults, primarily aged 18-29, to understand their use of AI-powered features. Its goal was to gather feedback for improving news products, focusing on topics like news consumption habits and the awareness of AI algorithms. The key areas of inquiry were users' levels of trust in personalization and their preferred customization options.</a:t>
            </a:r>
          </a:p>
          <a:p>
            <a:pPr algn="l">
              <a:lnSpc>
                <a:spcPts val="2951"/>
              </a:lnSpc>
            </a:pPr>
            <a:endParaRPr lang="en-US" sz="2399">
              <a:solidFill>
                <a:srgbClr val="FFFFFF"/>
              </a:solidFill>
              <a:latin typeface="Inter"/>
              <a:ea typeface="Inter"/>
              <a:cs typeface="Inter"/>
              <a:sym typeface="Inter"/>
            </a:endParaRPr>
          </a:p>
          <a:p>
            <a:pPr algn="l">
              <a:lnSpc>
                <a:spcPts val="2705"/>
              </a:lnSpc>
            </a:pPr>
            <a:endParaRPr lang="en-US" sz="2399">
              <a:solidFill>
                <a:srgbClr val="FFFFFF"/>
              </a:solidFill>
              <a:latin typeface="Inter"/>
              <a:ea typeface="Inter"/>
              <a:cs typeface="Inter"/>
              <a:sym typeface="Inter"/>
            </a:endParaRPr>
          </a:p>
        </p:txBody>
      </p:sp>
      <p:sp>
        <p:nvSpPr>
          <p:cNvPr id="20" name="Freeform 20"/>
          <p:cNvSpPr/>
          <p:nvPr/>
        </p:nvSpPr>
        <p:spPr>
          <a:xfrm>
            <a:off x="17259300" y="9605792"/>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10">
              <a:extLst>
                <a:ext uri="{96DAC541-7B7A-43D3-8B79-37D633B846F1}">
                  <asvg:svgBlip xmlns:asvg="http://schemas.microsoft.com/office/drawing/2016/SVG/main" r:embed="rId11"/>
                </a:ext>
              </a:extLst>
            </a:blip>
            <a:stretch>
              <a:fillRect/>
            </a:stretch>
          </a:blipFill>
        </p:spPr>
        <p:txBody>
          <a:bodyPr/>
          <a:lstStyle/>
          <a:p>
            <a:endParaRPr lang="en-US"/>
          </a:p>
        </p:txBody>
      </p:sp>
      <p:sp>
        <p:nvSpPr>
          <p:cNvPr id="21" name="TextBox 21"/>
          <p:cNvSpPr txBox="1"/>
          <p:nvPr/>
        </p:nvSpPr>
        <p:spPr>
          <a:xfrm>
            <a:off x="10089960" y="5332719"/>
            <a:ext cx="2240256" cy="318389"/>
          </a:xfrm>
          <a:prstGeom prst="rect">
            <a:avLst/>
          </a:prstGeom>
        </p:spPr>
        <p:txBody>
          <a:bodyPr lIns="0" tIns="0" rIns="0" bIns="0" rtlCol="0" anchor="t">
            <a:spAutoFit/>
          </a:bodyPr>
          <a:lstStyle/>
          <a:p>
            <a:pPr algn="ctr">
              <a:lnSpc>
                <a:spcPts val="2698"/>
              </a:lnSpc>
              <a:spcBef>
                <a:spcPct val="0"/>
              </a:spcBef>
            </a:pPr>
            <a:r>
              <a:rPr lang="en-US" sz="1900" b="1">
                <a:solidFill>
                  <a:srgbClr val="000000"/>
                </a:solidFill>
                <a:latin typeface="Inter Bold"/>
                <a:ea typeface="Inter Bold"/>
                <a:cs typeface="Inter Bold"/>
                <a:sym typeface="Inter Bold"/>
              </a:rPr>
              <a:t>Google Forms</a:t>
            </a:r>
          </a:p>
        </p:txBody>
      </p:sp>
      <p:sp>
        <p:nvSpPr>
          <p:cNvPr id="22" name="TextBox 22"/>
          <p:cNvSpPr txBox="1"/>
          <p:nvPr/>
        </p:nvSpPr>
        <p:spPr>
          <a:xfrm>
            <a:off x="10057640" y="8231220"/>
            <a:ext cx="2397311" cy="237109"/>
          </a:xfrm>
          <a:prstGeom prst="rect">
            <a:avLst/>
          </a:prstGeom>
        </p:spPr>
        <p:txBody>
          <a:bodyPr lIns="0" tIns="0" rIns="0" bIns="0" rtlCol="0" anchor="t">
            <a:spAutoFit/>
          </a:bodyPr>
          <a:lstStyle/>
          <a:p>
            <a:pPr algn="ctr">
              <a:lnSpc>
                <a:spcPts val="1988"/>
              </a:lnSpc>
              <a:spcBef>
                <a:spcPct val="0"/>
              </a:spcBef>
            </a:pPr>
            <a:r>
              <a:rPr lang="en-US" sz="1400" b="1">
                <a:solidFill>
                  <a:srgbClr val="000000"/>
                </a:solidFill>
                <a:latin typeface="Inter Bold"/>
                <a:ea typeface="Inter Bold"/>
                <a:cs typeface="Inter Bold"/>
                <a:sym typeface="Inter Bold"/>
              </a:rPr>
              <a:t>Reddit, LinkedIn, Instagram</a:t>
            </a:r>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27516" y="9727765"/>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9051757" y="1170122"/>
            <a:ext cx="8383911" cy="5186499"/>
          </a:xfrm>
          <a:custGeom>
            <a:avLst/>
            <a:gdLst/>
            <a:ahLst/>
            <a:cxnLst/>
            <a:rect l="l" t="t" r="r" b="b"/>
            <a:pathLst>
              <a:path w="8383911" h="5186499">
                <a:moveTo>
                  <a:pt x="0" y="0"/>
                </a:moveTo>
                <a:lnTo>
                  <a:pt x="8383911" y="0"/>
                </a:lnTo>
                <a:lnTo>
                  <a:pt x="8383911" y="5186499"/>
                </a:lnTo>
                <a:lnTo>
                  <a:pt x="0" y="5186499"/>
                </a:lnTo>
                <a:lnTo>
                  <a:pt x="0" y="0"/>
                </a:lnTo>
                <a:close/>
              </a:path>
            </a:pathLst>
          </a:custGeom>
          <a:blipFill>
            <a:blip r:embed="rId5"/>
            <a:stretch>
              <a:fillRect/>
            </a:stretch>
          </a:blipFill>
        </p:spPr>
        <p:txBody>
          <a:bodyPr/>
          <a:lstStyle/>
          <a:p>
            <a:endParaRPr lang="en-US"/>
          </a:p>
        </p:txBody>
      </p:sp>
      <p:sp>
        <p:nvSpPr>
          <p:cNvPr id="4" name="TextBox 4"/>
          <p:cNvSpPr txBox="1"/>
          <p:nvPr/>
        </p:nvSpPr>
        <p:spPr>
          <a:xfrm>
            <a:off x="243730" y="2142979"/>
            <a:ext cx="8524474" cy="3108197"/>
          </a:xfrm>
          <a:prstGeom prst="rect">
            <a:avLst/>
          </a:prstGeom>
        </p:spPr>
        <p:txBody>
          <a:bodyPr lIns="0" tIns="0" rIns="0" bIns="0" rtlCol="0" anchor="t">
            <a:spAutoFit/>
          </a:bodyPr>
          <a:lstStyle/>
          <a:p>
            <a:pPr algn="ctr">
              <a:lnSpc>
                <a:spcPts val="8241"/>
              </a:lnSpc>
            </a:pPr>
            <a:r>
              <a:rPr lang="en-US" sz="6700" b="1">
                <a:solidFill>
                  <a:srgbClr val="000000"/>
                </a:solidFill>
                <a:latin typeface="Garet Bold"/>
                <a:ea typeface="Garet Bold"/>
                <a:cs typeface="Garet Bold"/>
                <a:sym typeface="Garet Bold"/>
              </a:rPr>
              <a:t>The Personalization Paradox</a:t>
            </a:r>
          </a:p>
        </p:txBody>
      </p:sp>
      <p:sp>
        <p:nvSpPr>
          <p:cNvPr id="5" name="TextBox 5"/>
          <p:cNvSpPr txBox="1"/>
          <p:nvPr/>
        </p:nvSpPr>
        <p:spPr>
          <a:xfrm>
            <a:off x="1169835" y="6680073"/>
            <a:ext cx="16089465" cy="2578227"/>
          </a:xfrm>
          <a:prstGeom prst="rect">
            <a:avLst/>
          </a:prstGeom>
        </p:spPr>
        <p:txBody>
          <a:bodyPr lIns="0" tIns="0" rIns="0" bIns="0" rtlCol="0" anchor="t">
            <a:spAutoFit/>
          </a:bodyPr>
          <a:lstStyle/>
          <a:p>
            <a:pPr algn="l">
              <a:lnSpc>
                <a:spcPts val="4059"/>
              </a:lnSpc>
            </a:pPr>
            <a:r>
              <a:rPr lang="en-US" sz="3300" dirty="0">
                <a:solidFill>
                  <a:srgbClr val="000000"/>
                </a:solidFill>
                <a:latin typeface="Inter"/>
                <a:ea typeface="Inter"/>
                <a:cs typeface="Inter"/>
                <a:sym typeface="Inter"/>
              </a:rPr>
              <a:t>While the majority of users (65%) see personalization features, a significant quarter of users (25%) state they never even notice or use them. This confirms that in news apps, current AI personalization is largely invisible or ineffective. AI Personalization is failing to register with a critical segment of the Gen Z audience.</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p:cNvPicPr>
            <a:picLocks noChangeAspect="1"/>
          </p:cNvPicPr>
          <p:nvPr/>
        </p:nvPicPr>
        <p:blipFill>
          <a:blip r:embed="rId3"/>
          <a:stretch>
            <a:fillRect/>
          </a:stretch>
        </p:blipFill>
        <p:spPr>
          <a:xfrm>
            <a:off x="3518804" y="5046920"/>
            <a:ext cx="3080586" cy="3080586"/>
          </a:xfrm>
          <a:prstGeom prst="rect">
            <a:avLst/>
          </a:prstGeom>
        </p:spPr>
      </p:pic>
      <p:pic>
        <p:nvPicPr>
          <p:cNvPr id="3" name="Picture 3"/>
          <p:cNvPicPr>
            <a:picLocks noChangeAspect="1"/>
          </p:cNvPicPr>
          <p:nvPr/>
        </p:nvPicPr>
        <p:blipFill>
          <a:blip r:embed="rId4"/>
          <a:stretch>
            <a:fillRect/>
          </a:stretch>
        </p:blipFill>
        <p:spPr>
          <a:xfrm>
            <a:off x="7464528" y="5046920"/>
            <a:ext cx="3080586" cy="3080586"/>
          </a:xfrm>
          <a:prstGeom prst="rect">
            <a:avLst/>
          </a:prstGeom>
        </p:spPr>
      </p:pic>
      <p:pic>
        <p:nvPicPr>
          <p:cNvPr id="4" name="Picture 4"/>
          <p:cNvPicPr>
            <a:picLocks noChangeAspect="1"/>
          </p:cNvPicPr>
          <p:nvPr/>
        </p:nvPicPr>
        <p:blipFill>
          <a:blip r:embed="rId5"/>
          <a:stretch>
            <a:fillRect/>
          </a:stretch>
        </p:blipFill>
        <p:spPr>
          <a:xfrm>
            <a:off x="11342326" y="4871833"/>
            <a:ext cx="3271590" cy="3271590"/>
          </a:xfrm>
          <a:prstGeom prst="rect">
            <a:avLst/>
          </a:prstGeom>
        </p:spPr>
      </p:pic>
      <p:sp>
        <p:nvSpPr>
          <p:cNvPr id="5" name="TextBox 5"/>
          <p:cNvSpPr txBox="1"/>
          <p:nvPr/>
        </p:nvSpPr>
        <p:spPr>
          <a:xfrm>
            <a:off x="2716969" y="659729"/>
            <a:ext cx="12854062" cy="2211323"/>
          </a:xfrm>
          <a:prstGeom prst="rect">
            <a:avLst/>
          </a:prstGeom>
        </p:spPr>
        <p:txBody>
          <a:bodyPr lIns="0" tIns="0" rIns="0" bIns="0" rtlCol="0" anchor="t">
            <a:spAutoFit/>
          </a:bodyPr>
          <a:lstStyle/>
          <a:p>
            <a:pPr algn="ctr">
              <a:lnSpc>
                <a:spcPts val="8733"/>
              </a:lnSpc>
            </a:pPr>
            <a:r>
              <a:rPr lang="en-US" sz="7100" b="1" dirty="0">
                <a:solidFill>
                  <a:srgbClr val="000000"/>
                </a:solidFill>
                <a:latin typeface="Garet Bold"/>
                <a:ea typeface="Garet Bold"/>
                <a:cs typeface="Garet Bold"/>
                <a:sym typeface="Garet Bold"/>
              </a:rPr>
              <a:t>Preferred Personalization Approach</a:t>
            </a:r>
          </a:p>
        </p:txBody>
      </p:sp>
      <p:sp>
        <p:nvSpPr>
          <p:cNvPr id="6" name="TextBox 6"/>
          <p:cNvSpPr txBox="1"/>
          <p:nvPr/>
        </p:nvSpPr>
        <p:spPr>
          <a:xfrm>
            <a:off x="3343618" y="8307940"/>
            <a:ext cx="3430957" cy="474110"/>
          </a:xfrm>
          <a:prstGeom prst="rect">
            <a:avLst/>
          </a:prstGeom>
        </p:spPr>
        <p:txBody>
          <a:bodyPr lIns="0" tIns="0" rIns="0" bIns="0" rtlCol="0" anchor="t">
            <a:spAutoFit/>
          </a:bodyPr>
          <a:lstStyle/>
          <a:p>
            <a:pPr algn="ctr">
              <a:lnSpc>
                <a:spcPts val="3765"/>
              </a:lnSpc>
            </a:pPr>
            <a:r>
              <a:rPr lang="en-US" sz="3061" b="1">
                <a:solidFill>
                  <a:srgbClr val="000000"/>
                </a:solidFill>
                <a:latin typeface="Inter Bold"/>
                <a:ea typeface="Inter Bold"/>
                <a:cs typeface="Inter Bold"/>
                <a:sym typeface="Inter Bold"/>
              </a:rPr>
              <a:t>Manually Set</a:t>
            </a:r>
          </a:p>
        </p:txBody>
      </p:sp>
      <p:sp>
        <p:nvSpPr>
          <p:cNvPr id="7" name="TextBox 7"/>
          <p:cNvSpPr txBox="1"/>
          <p:nvPr/>
        </p:nvSpPr>
        <p:spPr>
          <a:xfrm>
            <a:off x="7428521" y="8307940"/>
            <a:ext cx="3430957" cy="950360"/>
          </a:xfrm>
          <a:prstGeom prst="rect">
            <a:avLst/>
          </a:prstGeom>
        </p:spPr>
        <p:txBody>
          <a:bodyPr lIns="0" tIns="0" rIns="0" bIns="0" rtlCol="0" anchor="t">
            <a:spAutoFit/>
          </a:bodyPr>
          <a:lstStyle/>
          <a:p>
            <a:pPr algn="ctr">
              <a:lnSpc>
                <a:spcPts val="3765"/>
              </a:lnSpc>
            </a:pPr>
            <a:r>
              <a:rPr lang="en-US" sz="3061" b="1">
                <a:solidFill>
                  <a:srgbClr val="000000"/>
                </a:solidFill>
                <a:latin typeface="Inter Bold"/>
                <a:ea typeface="Inter Bold"/>
                <a:cs typeface="Inter Bold"/>
                <a:sym typeface="Inter Bold"/>
              </a:rPr>
              <a:t>App to Learn &amp; Auto-Adjust</a:t>
            </a:r>
          </a:p>
        </p:txBody>
      </p:sp>
      <p:sp>
        <p:nvSpPr>
          <p:cNvPr id="8" name="TextBox 8"/>
          <p:cNvSpPr txBox="1"/>
          <p:nvPr/>
        </p:nvSpPr>
        <p:spPr>
          <a:xfrm>
            <a:off x="10940681" y="8289900"/>
            <a:ext cx="4074877" cy="1426610"/>
          </a:xfrm>
          <a:prstGeom prst="rect">
            <a:avLst/>
          </a:prstGeom>
        </p:spPr>
        <p:txBody>
          <a:bodyPr lIns="0" tIns="0" rIns="0" bIns="0" rtlCol="0" anchor="t">
            <a:spAutoFit/>
          </a:bodyPr>
          <a:lstStyle/>
          <a:p>
            <a:pPr algn="ctr">
              <a:lnSpc>
                <a:spcPts val="3765"/>
              </a:lnSpc>
            </a:pPr>
            <a:r>
              <a:rPr lang="en-US" sz="3061" b="1">
                <a:solidFill>
                  <a:srgbClr val="000000"/>
                </a:solidFill>
                <a:latin typeface="Inter Bold"/>
                <a:ea typeface="Inter Bold"/>
                <a:cs typeface="Inter Bold"/>
                <a:sym typeface="Inter Bold"/>
              </a:rPr>
              <a:t>Mix of both </a:t>
            </a:r>
          </a:p>
          <a:p>
            <a:pPr algn="ctr">
              <a:lnSpc>
                <a:spcPts val="3765"/>
              </a:lnSpc>
            </a:pPr>
            <a:r>
              <a:rPr lang="en-US" sz="3061" b="1">
                <a:solidFill>
                  <a:srgbClr val="000000"/>
                </a:solidFill>
                <a:latin typeface="Inter Bold"/>
                <a:ea typeface="Inter Bold"/>
                <a:cs typeface="Inter Bold"/>
                <a:sym typeface="Inter Bold"/>
              </a:rPr>
              <a:t>(Manual &amp; Auto Adjusting)</a:t>
            </a:r>
          </a:p>
        </p:txBody>
      </p:sp>
      <p:sp>
        <p:nvSpPr>
          <p:cNvPr id="9" name="TextBox 9"/>
          <p:cNvSpPr txBox="1"/>
          <p:nvPr/>
        </p:nvSpPr>
        <p:spPr>
          <a:xfrm>
            <a:off x="936340" y="3273141"/>
            <a:ext cx="16415320" cy="2388870"/>
          </a:xfrm>
          <a:prstGeom prst="rect">
            <a:avLst/>
          </a:prstGeom>
        </p:spPr>
        <p:txBody>
          <a:bodyPr lIns="0" tIns="0" rIns="0" bIns="0" rtlCol="0" anchor="t">
            <a:spAutoFit/>
          </a:bodyPr>
          <a:lstStyle/>
          <a:p>
            <a:pPr algn="ctr">
              <a:lnSpc>
                <a:spcPts val="3690"/>
              </a:lnSpc>
            </a:pPr>
            <a:r>
              <a:rPr lang="en-US" sz="3000" dirty="0">
                <a:solidFill>
                  <a:srgbClr val="000000"/>
                </a:solidFill>
                <a:latin typeface="Futura"/>
                <a:ea typeface="Futura"/>
                <a:cs typeface="Futura"/>
                <a:sym typeface="Futura"/>
              </a:rPr>
              <a:t>The preferred approach is a "Mix of Both" (25%), or a combination of picking topics/learning from behavior/it depends on the app, totaling 75%. This shows a clear desire for co-piloted personalization, where the user maintains control while benefiting from algorithmic discovery.</a:t>
            </a:r>
          </a:p>
          <a:p>
            <a:pPr algn="ctr">
              <a:lnSpc>
                <a:spcPts val="3690"/>
              </a:lnSpc>
            </a:pPr>
            <a:endParaRPr lang="en-US" sz="3000" dirty="0">
              <a:solidFill>
                <a:srgbClr val="000000"/>
              </a:solidFill>
              <a:latin typeface="Futura"/>
              <a:ea typeface="Futura"/>
              <a:cs typeface="Futura"/>
              <a:sym typeface="Futura"/>
            </a:endParaRPr>
          </a:p>
          <a:p>
            <a:pPr algn="ctr">
              <a:lnSpc>
                <a:spcPts val="3690"/>
              </a:lnSpc>
            </a:pPr>
            <a:endParaRPr lang="en-US" sz="3000" dirty="0">
              <a:solidFill>
                <a:srgbClr val="000000"/>
              </a:solidFill>
              <a:latin typeface="Futura"/>
              <a:ea typeface="Futura"/>
              <a:cs typeface="Futura"/>
              <a:sym typeface="Futura"/>
            </a:endParaRPr>
          </a:p>
        </p:txBody>
      </p:sp>
      <p:sp>
        <p:nvSpPr>
          <p:cNvPr id="10" name="Freeform 10"/>
          <p:cNvSpPr/>
          <p:nvPr/>
        </p:nvSpPr>
        <p:spPr>
          <a:xfrm>
            <a:off x="16936882" y="9614472"/>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17027516" y="9727765"/>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213364" y="2182819"/>
            <a:ext cx="7336798" cy="4538729"/>
          </a:xfrm>
          <a:custGeom>
            <a:avLst/>
            <a:gdLst/>
            <a:ahLst/>
            <a:cxnLst/>
            <a:rect l="l" t="t" r="r" b="b"/>
            <a:pathLst>
              <a:path w="7336798" h="4538729">
                <a:moveTo>
                  <a:pt x="0" y="0"/>
                </a:moveTo>
                <a:lnTo>
                  <a:pt x="7336798" y="0"/>
                </a:lnTo>
                <a:lnTo>
                  <a:pt x="7336798" y="4538729"/>
                </a:lnTo>
                <a:lnTo>
                  <a:pt x="0" y="4538729"/>
                </a:lnTo>
                <a:lnTo>
                  <a:pt x="0" y="0"/>
                </a:lnTo>
                <a:close/>
              </a:path>
            </a:pathLst>
          </a:custGeom>
          <a:blipFill>
            <a:blip r:embed="rId5"/>
            <a:stretch>
              <a:fillRect/>
            </a:stretch>
          </a:blipFill>
        </p:spPr>
        <p:txBody>
          <a:bodyPr/>
          <a:lstStyle/>
          <a:p>
            <a:endParaRPr lang="en-US"/>
          </a:p>
        </p:txBody>
      </p:sp>
      <p:sp>
        <p:nvSpPr>
          <p:cNvPr id="4" name="Freeform 4"/>
          <p:cNvSpPr/>
          <p:nvPr/>
        </p:nvSpPr>
        <p:spPr>
          <a:xfrm>
            <a:off x="9826002" y="2182819"/>
            <a:ext cx="7160470" cy="4429648"/>
          </a:xfrm>
          <a:custGeom>
            <a:avLst/>
            <a:gdLst/>
            <a:ahLst/>
            <a:cxnLst/>
            <a:rect l="l" t="t" r="r" b="b"/>
            <a:pathLst>
              <a:path w="7160470" h="4429648">
                <a:moveTo>
                  <a:pt x="0" y="0"/>
                </a:moveTo>
                <a:lnTo>
                  <a:pt x="7160470" y="0"/>
                </a:lnTo>
                <a:lnTo>
                  <a:pt x="7160470" y="4429648"/>
                </a:lnTo>
                <a:lnTo>
                  <a:pt x="0" y="4429648"/>
                </a:lnTo>
                <a:lnTo>
                  <a:pt x="0" y="0"/>
                </a:lnTo>
                <a:close/>
              </a:path>
            </a:pathLst>
          </a:custGeom>
          <a:blipFill>
            <a:blip r:embed="rId6"/>
            <a:stretch>
              <a:fillRect/>
            </a:stretch>
          </a:blipFill>
        </p:spPr>
        <p:txBody>
          <a:bodyPr/>
          <a:lstStyle/>
          <a:p>
            <a:endParaRPr lang="en-US"/>
          </a:p>
        </p:txBody>
      </p:sp>
      <p:sp>
        <p:nvSpPr>
          <p:cNvPr id="5" name="TextBox 5"/>
          <p:cNvSpPr txBox="1"/>
          <p:nvPr/>
        </p:nvSpPr>
        <p:spPr>
          <a:xfrm>
            <a:off x="4881763" y="722447"/>
            <a:ext cx="8524474" cy="1031747"/>
          </a:xfrm>
          <a:prstGeom prst="rect">
            <a:avLst/>
          </a:prstGeom>
        </p:spPr>
        <p:txBody>
          <a:bodyPr lIns="0" tIns="0" rIns="0" bIns="0" rtlCol="0" anchor="t">
            <a:spAutoFit/>
          </a:bodyPr>
          <a:lstStyle/>
          <a:p>
            <a:pPr algn="ctr">
              <a:lnSpc>
                <a:spcPts val="8241"/>
              </a:lnSpc>
            </a:pPr>
            <a:r>
              <a:rPr lang="en-US" sz="6700" b="1">
                <a:solidFill>
                  <a:srgbClr val="000000"/>
                </a:solidFill>
                <a:latin typeface="Garet Bold"/>
                <a:ea typeface="Garet Bold"/>
                <a:cs typeface="Garet Bold"/>
                <a:sym typeface="Garet Bold"/>
              </a:rPr>
              <a:t>The Trust Deficit</a:t>
            </a:r>
          </a:p>
        </p:txBody>
      </p:sp>
      <p:sp>
        <p:nvSpPr>
          <p:cNvPr id="6" name="TextBox 6"/>
          <p:cNvSpPr txBox="1"/>
          <p:nvPr/>
        </p:nvSpPr>
        <p:spPr>
          <a:xfrm>
            <a:off x="1099268" y="7128653"/>
            <a:ext cx="16089465" cy="2063877"/>
          </a:xfrm>
          <a:prstGeom prst="rect">
            <a:avLst/>
          </a:prstGeom>
        </p:spPr>
        <p:txBody>
          <a:bodyPr lIns="0" tIns="0" rIns="0" bIns="0" rtlCol="0" anchor="t">
            <a:spAutoFit/>
          </a:bodyPr>
          <a:lstStyle/>
          <a:p>
            <a:pPr algn="l">
              <a:lnSpc>
                <a:spcPts val="4059"/>
              </a:lnSpc>
            </a:pPr>
            <a:r>
              <a:rPr lang="en-US" sz="3300" dirty="0">
                <a:solidFill>
                  <a:srgbClr val="000000"/>
                </a:solidFill>
                <a:latin typeface="Inter"/>
                <a:ea typeface="Inter"/>
                <a:cs typeface="Inter"/>
                <a:sym typeface="Inter"/>
              </a:rPr>
              <a:t>A strong majority of Gen Z users (75%) know that algorithms decide what news they see, yet 50% hold the lowest levels (Little/None) of trust in news apps to use their data responsibly for personalization. This is a crisis of trust for an audience that is highly aware of the systems at play.</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AutoShape 2"/>
          <p:cNvSpPr/>
          <p:nvPr/>
        </p:nvSpPr>
        <p:spPr>
          <a:xfrm flipH="1">
            <a:off x="9585519" y="4946922"/>
            <a:ext cx="3831604" cy="0"/>
          </a:xfrm>
          <a:prstGeom prst="line">
            <a:avLst/>
          </a:prstGeom>
          <a:ln w="47625" cap="rnd">
            <a:solidFill>
              <a:srgbClr val="000000"/>
            </a:solidFill>
            <a:prstDash val="solid"/>
            <a:headEnd type="none" w="sm" len="sm"/>
            <a:tailEnd type="none" w="sm" len="sm"/>
          </a:ln>
        </p:spPr>
        <p:txBody>
          <a:bodyPr/>
          <a:lstStyle/>
          <a:p>
            <a:endParaRPr lang="en-US"/>
          </a:p>
        </p:txBody>
      </p:sp>
      <p:sp>
        <p:nvSpPr>
          <p:cNvPr id="3" name="AutoShape 3"/>
          <p:cNvSpPr/>
          <p:nvPr/>
        </p:nvSpPr>
        <p:spPr>
          <a:xfrm>
            <a:off x="13396497" y="4946922"/>
            <a:ext cx="20626" cy="644702"/>
          </a:xfrm>
          <a:prstGeom prst="line">
            <a:avLst/>
          </a:prstGeom>
          <a:ln w="47625" cap="rnd">
            <a:solidFill>
              <a:srgbClr val="000000"/>
            </a:solidFill>
            <a:prstDash val="solid"/>
            <a:headEnd type="none" w="sm" len="sm"/>
            <a:tailEnd type="oval" w="lg" len="lg"/>
          </a:ln>
        </p:spPr>
        <p:txBody>
          <a:bodyPr/>
          <a:lstStyle/>
          <a:p>
            <a:endParaRPr lang="en-US"/>
          </a:p>
        </p:txBody>
      </p:sp>
      <p:sp>
        <p:nvSpPr>
          <p:cNvPr id="4" name="AutoShape 4"/>
          <p:cNvSpPr/>
          <p:nvPr/>
        </p:nvSpPr>
        <p:spPr>
          <a:xfrm flipH="1" flipV="1">
            <a:off x="9254240" y="2496188"/>
            <a:ext cx="20626" cy="1077857"/>
          </a:xfrm>
          <a:prstGeom prst="line">
            <a:avLst/>
          </a:prstGeom>
          <a:ln w="47625" cap="rnd">
            <a:solidFill>
              <a:srgbClr val="000000"/>
            </a:solidFill>
            <a:prstDash val="solid"/>
            <a:headEnd type="none" w="sm" len="sm"/>
            <a:tailEnd type="none" w="sm" len="sm"/>
          </a:ln>
        </p:spPr>
        <p:txBody>
          <a:bodyPr/>
          <a:lstStyle/>
          <a:p>
            <a:endParaRPr lang="en-US"/>
          </a:p>
        </p:txBody>
      </p:sp>
      <p:sp>
        <p:nvSpPr>
          <p:cNvPr id="5" name="Freeform 5"/>
          <p:cNvSpPr/>
          <p:nvPr/>
        </p:nvSpPr>
        <p:spPr>
          <a:xfrm rot="8100000">
            <a:off x="8266566" y="3437173"/>
            <a:ext cx="2978245" cy="2978245"/>
          </a:xfrm>
          <a:custGeom>
            <a:avLst/>
            <a:gdLst/>
            <a:ahLst/>
            <a:cxnLst/>
            <a:rect l="l" t="t" r="r" b="b"/>
            <a:pathLst>
              <a:path w="2978245" h="2978245">
                <a:moveTo>
                  <a:pt x="0" y="0"/>
                </a:moveTo>
                <a:lnTo>
                  <a:pt x="2978245" y="0"/>
                </a:lnTo>
                <a:lnTo>
                  <a:pt x="2978245" y="2978245"/>
                </a:lnTo>
                <a:lnTo>
                  <a:pt x="0" y="2978245"/>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6" name="AutoShape 6"/>
          <p:cNvSpPr/>
          <p:nvPr/>
        </p:nvSpPr>
        <p:spPr>
          <a:xfrm>
            <a:off x="3690183" y="5076513"/>
            <a:ext cx="3831604" cy="0"/>
          </a:xfrm>
          <a:prstGeom prst="line">
            <a:avLst/>
          </a:prstGeom>
          <a:ln w="47625" cap="rnd">
            <a:solidFill>
              <a:srgbClr val="000000"/>
            </a:solidFill>
            <a:prstDash val="solid"/>
            <a:headEnd type="none" w="sm" len="sm"/>
            <a:tailEnd type="none" w="sm" len="sm"/>
          </a:ln>
        </p:spPr>
        <p:txBody>
          <a:bodyPr/>
          <a:lstStyle/>
          <a:p>
            <a:endParaRPr lang="en-US"/>
          </a:p>
        </p:txBody>
      </p:sp>
      <p:sp>
        <p:nvSpPr>
          <p:cNvPr id="7" name="AutoShape 7"/>
          <p:cNvSpPr/>
          <p:nvPr/>
        </p:nvSpPr>
        <p:spPr>
          <a:xfrm>
            <a:off x="7521787" y="6415418"/>
            <a:ext cx="0" cy="1722975"/>
          </a:xfrm>
          <a:prstGeom prst="line">
            <a:avLst/>
          </a:prstGeom>
          <a:ln w="47625" cap="rnd">
            <a:solidFill>
              <a:srgbClr val="000000"/>
            </a:solidFill>
            <a:prstDash val="solid"/>
            <a:headEnd type="none" w="sm" len="sm"/>
            <a:tailEnd type="none" w="sm" len="sm"/>
          </a:ln>
        </p:spPr>
        <p:txBody>
          <a:bodyPr/>
          <a:lstStyle/>
          <a:p>
            <a:endParaRPr lang="en-US"/>
          </a:p>
        </p:txBody>
      </p:sp>
      <p:sp>
        <p:nvSpPr>
          <p:cNvPr id="8" name="AutoShape 8"/>
          <p:cNvSpPr/>
          <p:nvPr/>
        </p:nvSpPr>
        <p:spPr>
          <a:xfrm flipH="1">
            <a:off x="6930885" y="8138393"/>
            <a:ext cx="590902" cy="0"/>
          </a:xfrm>
          <a:prstGeom prst="line">
            <a:avLst/>
          </a:prstGeom>
          <a:ln w="47625" cap="rnd">
            <a:solidFill>
              <a:srgbClr val="000000"/>
            </a:solidFill>
            <a:prstDash val="solid"/>
            <a:headEnd type="none" w="sm" len="sm"/>
            <a:tailEnd type="oval" w="lg" len="lg"/>
          </a:ln>
        </p:spPr>
        <p:txBody>
          <a:bodyPr/>
          <a:lstStyle/>
          <a:p>
            <a:endParaRPr lang="en-US"/>
          </a:p>
        </p:txBody>
      </p:sp>
      <p:sp>
        <p:nvSpPr>
          <p:cNvPr id="9" name="Freeform 9"/>
          <p:cNvSpPr/>
          <p:nvPr/>
        </p:nvSpPr>
        <p:spPr>
          <a:xfrm>
            <a:off x="6032664" y="3437173"/>
            <a:ext cx="2978245" cy="2978245"/>
          </a:xfrm>
          <a:custGeom>
            <a:avLst/>
            <a:gdLst/>
            <a:ahLst/>
            <a:cxnLst/>
            <a:rect l="l" t="t" r="r" b="b"/>
            <a:pathLst>
              <a:path w="2978245" h="2978245">
                <a:moveTo>
                  <a:pt x="0" y="0"/>
                </a:moveTo>
                <a:lnTo>
                  <a:pt x="2978245" y="0"/>
                </a:lnTo>
                <a:lnTo>
                  <a:pt x="2978245" y="2978245"/>
                </a:lnTo>
                <a:lnTo>
                  <a:pt x="0" y="2978245"/>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sp>
        <p:nvSpPr>
          <p:cNvPr id="10" name="AutoShape 10"/>
          <p:cNvSpPr/>
          <p:nvPr/>
        </p:nvSpPr>
        <p:spPr>
          <a:xfrm flipH="1" flipV="1">
            <a:off x="3690183" y="4210269"/>
            <a:ext cx="20626" cy="866244"/>
          </a:xfrm>
          <a:prstGeom prst="line">
            <a:avLst/>
          </a:prstGeom>
          <a:ln w="47625" cap="rnd">
            <a:solidFill>
              <a:srgbClr val="000000"/>
            </a:solidFill>
            <a:prstDash val="solid"/>
            <a:headEnd type="none" w="sm" len="sm"/>
            <a:tailEnd type="oval" w="lg" len="lg"/>
          </a:ln>
        </p:spPr>
        <p:txBody>
          <a:bodyPr/>
          <a:lstStyle/>
          <a:p>
            <a:endParaRPr lang="en-US"/>
          </a:p>
        </p:txBody>
      </p:sp>
      <p:sp>
        <p:nvSpPr>
          <p:cNvPr id="11" name="AutoShape 11"/>
          <p:cNvSpPr/>
          <p:nvPr/>
        </p:nvSpPr>
        <p:spPr>
          <a:xfrm>
            <a:off x="9248053" y="2495793"/>
            <a:ext cx="1896807" cy="0"/>
          </a:xfrm>
          <a:prstGeom prst="line">
            <a:avLst/>
          </a:prstGeom>
          <a:ln w="47625" cap="rnd">
            <a:solidFill>
              <a:srgbClr val="000000"/>
            </a:solidFill>
            <a:prstDash val="solid"/>
            <a:headEnd type="none" w="sm" len="sm"/>
            <a:tailEnd type="oval" w="lg" len="lg"/>
          </a:ln>
        </p:spPr>
        <p:txBody>
          <a:bodyPr/>
          <a:lstStyle/>
          <a:p>
            <a:endParaRPr lang="en-US"/>
          </a:p>
        </p:txBody>
      </p:sp>
      <p:sp>
        <p:nvSpPr>
          <p:cNvPr id="12" name="TextBox 12"/>
          <p:cNvSpPr txBox="1"/>
          <p:nvPr/>
        </p:nvSpPr>
        <p:spPr>
          <a:xfrm>
            <a:off x="6573728" y="4573284"/>
            <a:ext cx="4408357" cy="686972"/>
          </a:xfrm>
          <a:prstGeom prst="rect">
            <a:avLst/>
          </a:prstGeom>
        </p:spPr>
        <p:txBody>
          <a:bodyPr lIns="0" tIns="0" rIns="0" bIns="0" rtlCol="0" anchor="t">
            <a:spAutoFit/>
          </a:bodyPr>
          <a:lstStyle/>
          <a:p>
            <a:pPr algn="ctr">
              <a:lnSpc>
                <a:spcPts val="5446"/>
              </a:lnSpc>
            </a:pPr>
            <a:r>
              <a:rPr lang="en-US" sz="4428" b="1" spc="442">
                <a:solidFill>
                  <a:srgbClr val="FFFFFF"/>
                </a:solidFill>
                <a:latin typeface="Inter Bold"/>
                <a:ea typeface="Inter Bold"/>
                <a:cs typeface="Inter Bold"/>
                <a:sym typeface="Inter Bold"/>
              </a:rPr>
              <a:t>HYPOTHESIS</a:t>
            </a:r>
          </a:p>
        </p:txBody>
      </p:sp>
      <p:sp>
        <p:nvSpPr>
          <p:cNvPr id="13" name="TextBox 13"/>
          <p:cNvSpPr txBox="1"/>
          <p:nvPr/>
        </p:nvSpPr>
        <p:spPr>
          <a:xfrm>
            <a:off x="2417997" y="1983607"/>
            <a:ext cx="3614667" cy="580958"/>
          </a:xfrm>
          <a:prstGeom prst="rect">
            <a:avLst/>
          </a:prstGeom>
        </p:spPr>
        <p:txBody>
          <a:bodyPr lIns="0" tIns="0" rIns="0" bIns="0" rtlCol="0" anchor="t">
            <a:spAutoFit/>
          </a:bodyPr>
          <a:lstStyle/>
          <a:p>
            <a:pPr algn="l">
              <a:lnSpc>
                <a:spcPts val="4634"/>
              </a:lnSpc>
            </a:pPr>
            <a:r>
              <a:rPr lang="en-US" sz="3767" b="1">
                <a:solidFill>
                  <a:srgbClr val="000000"/>
                </a:solidFill>
                <a:latin typeface="Garet Bold"/>
                <a:ea typeface="Garet Bold"/>
                <a:cs typeface="Garet Bold"/>
                <a:sym typeface="Garet Bold"/>
              </a:rPr>
              <a:t>User Problem</a:t>
            </a:r>
          </a:p>
        </p:txBody>
      </p:sp>
      <p:sp>
        <p:nvSpPr>
          <p:cNvPr id="14" name="TextBox 14"/>
          <p:cNvSpPr txBox="1"/>
          <p:nvPr/>
        </p:nvSpPr>
        <p:spPr>
          <a:xfrm>
            <a:off x="2417997" y="2555039"/>
            <a:ext cx="4136391" cy="1399069"/>
          </a:xfrm>
          <a:prstGeom prst="rect">
            <a:avLst/>
          </a:prstGeom>
        </p:spPr>
        <p:txBody>
          <a:bodyPr lIns="0" tIns="0" rIns="0" bIns="0" rtlCol="0" anchor="t">
            <a:spAutoFit/>
          </a:bodyPr>
          <a:lstStyle/>
          <a:p>
            <a:pPr algn="l">
              <a:lnSpc>
                <a:spcPts val="2795"/>
              </a:lnSpc>
            </a:pPr>
            <a:r>
              <a:rPr lang="en-US" sz="2272" dirty="0">
                <a:solidFill>
                  <a:srgbClr val="000000"/>
                </a:solidFill>
                <a:latin typeface="Inter"/>
                <a:ea typeface="Inter"/>
                <a:cs typeface="Inter"/>
                <a:sym typeface="Inter"/>
              </a:rPr>
              <a:t>Gen Z distrusts the "black box" of news personalization: 50% have low trust, and 26% never notice the features.</a:t>
            </a:r>
          </a:p>
        </p:txBody>
      </p:sp>
      <p:sp>
        <p:nvSpPr>
          <p:cNvPr id="15" name="TextBox 15"/>
          <p:cNvSpPr txBox="1"/>
          <p:nvPr/>
        </p:nvSpPr>
        <p:spPr>
          <a:xfrm>
            <a:off x="2417997" y="6335440"/>
            <a:ext cx="3614667" cy="580958"/>
          </a:xfrm>
          <a:prstGeom prst="rect">
            <a:avLst/>
          </a:prstGeom>
        </p:spPr>
        <p:txBody>
          <a:bodyPr lIns="0" tIns="0" rIns="0" bIns="0" rtlCol="0" anchor="t">
            <a:spAutoFit/>
          </a:bodyPr>
          <a:lstStyle/>
          <a:p>
            <a:pPr algn="l">
              <a:lnSpc>
                <a:spcPts val="4634"/>
              </a:lnSpc>
            </a:pPr>
            <a:r>
              <a:rPr lang="en-US" sz="3767" b="1">
                <a:solidFill>
                  <a:srgbClr val="000000"/>
                </a:solidFill>
                <a:latin typeface="Garet Bold"/>
                <a:ea typeface="Garet Bold"/>
                <a:cs typeface="Garet Bold"/>
                <a:sym typeface="Garet Bold"/>
              </a:rPr>
              <a:t>Core Insight</a:t>
            </a:r>
          </a:p>
        </p:txBody>
      </p:sp>
      <p:sp>
        <p:nvSpPr>
          <p:cNvPr id="16" name="TextBox 16"/>
          <p:cNvSpPr txBox="1"/>
          <p:nvPr/>
        </p:nvSpPr>
        <p:spPr>
          <a:xfrm>
            <a:off x="2494115" y="7022708"/>
            <a:ext cx="4212633" cy="2098169"/>
          </a:xfrm>
          <a:prstGeom prst="rect">
            <a:avLst/>
          </a:prstGeom>
        </p:spPr>
        <p:txBody>
          <a:bodyPr lIns="0" tIns="0" rIns="0" bIns="0" rtlCol="0" anchor="t">
            <a:spAutoFit/>
          </a:bodyPr>
          <a:lstStyle/>
          <a:p>
            <a:pPr algn="l">
              <a:lnSpc>
                <a:spcPts val="2795"/>
              </a:lnSpc>
            </a:pPr>
            <a:r>
              <a:rPr lang="en-US" sz="2272" dirty="0">
                <a:solidFill>
                  <a:srgbClr val="000000"/>
                </a:solidFill>
                <a:latin typeface="Inter"/>
                <a:ea typeface="Inter"/>
                <a:cs typeface="Inter"/>
                <a:sym typeface="Inter"/>
              </a:rPr>
              <a:t>Users demand granular, functional control over how content is delivered, specifically Length (10 respondents) and Format (9 respondents).</a:t>
            </a:r>
          </a:p>
        </p:txBody>
      </p:sp>
      <p:sp>
        <p:nvSpPr>
          <p:cNvPr id="17" name="TextBox 17"/>
          <p:cNvSpPr txBox="1"/>
          <p:nvPr/>
        </p:nvSpPr>
        <p:spPr>
          <a:xfrm>
            <a:off x="11494828" y="2200552"/>
            <a:ext cx="3477128" cy="580958"/>
          </a:xfrm>
          <a:prstGeom prst="rect">
            <a:avLst/>
          </a:prstGeom>
        </p:spPr>
        <p:txBody>
          <a:bodyPr lIns="0" tIns="0" rIns="0" bIns="0" rtlCol="0" anchor="t">
            <a:spAutoFit/>
          </a:bodyPr>
          <a:lstStyle/>
          <a:p>
            <a:pPr algn="l">
              <a:lnSpc>
                <a:spcPts val="4634"/>
              </a:lnSpc>
            </a:pPr>
            <a:r>
              <a:rPr lang="en-US" sz="3767" b="1">
                <a:solidFill>
                  <a:srgbClr val="000000"/>
                </a:solidFill>
                <a:latin typeface="Garet Bold"/>
                <a:ea typeface="Garet Bold"/>
                <a:cs typeface="Garet Bold"/>
                <a:sym typeface="Garet Bold"/>
              </a:rPr>
              <a:t>Goal</a:t>
            </a:r>
          </a:p>
        </p:txBody>
      </p:sp>
      <p:sp>
        <p:nvSpPr>
          <p:cNvPr id="18" name="TextBox 18"/>
          <p:cNvSpPr txBox="1"/>
          <p:nvPr/>
        </p:nvSpPr>
        <p:spPr>
          <a:xfrm>
            <a:off x="11494828" y="2810833"/>
            <a:ext cx="4054553" cy="1748619"/>
          </a:xfrm>
          <a:prstGeom prst="rect">
            <a:avLst/>
          </a:prstGeom>
        </p:spPr>
        <p:txBody>
          <a:bodyPr lIns="0" tIns="0" rIns="0" bIns="0" rtlCol="0" anchor="t">
            <a:spAutoFit/>
          </a:bodyPr>
          <a:lstStyle/>
          <a:p>
            <a:pPr algn="l">
              <a:lnSpc>
                <a:spcPts val="2795"/>
              </a:lnSpc>
            </a:pPr>
            <a:r>
              <a:rPr lang="en-US" sz="2272" dirty="0">
                <a:solidFill>
                  <a:srgbClr val="000000"/>
                </a:solidFill>
                <a:latin typeface="Inter"/>
                <a:ea typeface="Inter"/>
                <a:cs typeface="Inter"/>
                <a:sym typeface="Inter"/>
              </a:rPr>
              <a:t>Personalization by adapting news feeds based on three critical factors: Location, Length/Depth, and Format (Photo/Video priority).</a:t>
            </a:r>
          </a:p>
        </p:txBody>
      </p:sp>
      <p:sp>
        <p:nvSpPr>
          <p:cNvPr id="19" name="TextBox 19"/>
          <p:cNvSpPr txBox="1"/>
          <p:nvPr/>
        </p:nvSpPr>
        <p:spPr>
          <a:xfrm>
            <a:off x="11366327" y="5745843"/>
            <a:ext cx="3222126" cy="580958"/>
          </a:xfrm>
          <a:prstGeom prst="rect">
            <a:avLst/>
          </a:prstGeom>
        </p:spPr>
        <p:txBody>
          <a:bodyPr lIns="0" tIns="0" rIns="0" bIns="0" rtlCol="0" anchor="t">
            <a:spAutoFit/>
          </a:bodyPr>
          <a:lstStyle/>
          <a:p>
            <a:pPr algn="l">
              <a:lnSpc>
                <a:spcPts val="4634"/>
              </a:lnSpc>
            </a:pPr>
            <a:r>
              <a:rPr lang="en-US" sz="3767" b="1">
                <a:solidFill>
                  <a:srgbClr val="000000"/>
                </a:solidFill>
                <a:latin typeface="Garet Bold"/>
                <a:ea typeface="Garet Bold"/>
                <a:cs typeface="Garet Bold"/>
                <a:sym typeface="Garet Bold"/>
              </a:rPr>
              <a:t>Next Steps</a:t>
            </a:r>
          </a:p>
        </p:txBody>
      </p:sp>
      <p:sp>
        <p:nvSpPr>
          <p:cNvPr id="20" name="TextBox 20"/>
          <p:cNvSpPr txBox="1"/>
          <p:nvPr/>
        </p:nvSpPr>
        <p:spPr>
          <a:xfrm>
            <a:off x="11366327" y="6432774"/>
            <a:ext cx="4864271" cy="2018886"/>
          </a:xfrm>
          <a:prstGeom prst="rect">
            <a:avLst/>
          </a:prstGeom>
        </p:spPr>
        <p:txBody>
          <a:bodyPr wrap="square" lIns="0" tIns="0" rIns="0" bIns="0" rtlCol="0" anchor="t">
            <a:spAutoFit/>
          </a:bodyPr>
          <a:lstStyle/>
          <a:p>
            <a:pPr algn="l">
              <a:lnSpc>
                <a:spcPts val="3196"/>
              </a:lnSpc>
            </a:pPr>
            <a:r>
              <a:rPr lang="en-US" sz="2270" dirty="0">
                <a:solidFill>
                  <a:srgbClr val="000000"/>
                </a:solidFill>
                <a:latin typeface="Inter"/>
                <a:ea typeface="Inter"/>
                <a:cs typeface="Inter"/>
                <a:sym typeface="Inter"/>
              </a:rPr>
              <a:t>Prototype &amp; Test these dimensional controls. Measure their impact by reducing the 26% `Never Notice` score and increasing the Trust Score.</a:t>
            </a:r>
            <a:endParaRPr lang="en-US" sz="2598" dirty="0">
              <a:solidFill>
                <a:srgbClr val="000000"/>
              </a:solidFill>
              <a:latin typeface="Futura"/>
              <a:ea typeface="Futura"/>
              <a:cs typeface="Futura"/>
              <a:sym typeface="Futura"/>
            </a:endParaRPr>
          </a:p>
        </p:txBody>
      </p:sp>
      <p:sp>
        <p:nvSpPr>
          <p:cNvPr id="21" name="Freeform 21"/>
          <p:cNvSpPr/>
          <p:nvPr/>
        </p:nvSpPr>
        <p:spPr>
          <a:xfrm>
            <a:off x="16936882" y="9614472"/>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
        <p:nvSpPr>
          <p:cNvPr id="22" name="TextBox 22"/>
          <p:cNvSpPr txBox="1"/>
          <p:nvPr/>
        </p:nvSpPr>
        <p:spPr>
          <a:xfrm>
            <a:off x="2949459" y="284944"/>
            <a:ext cx="12389082" cy="927138"/>
          </a:xfrm>
          <a:prstGeom prst="rect">
            <a:avLst/>
          </a:prstGeom>
        </p:spPr>
        <p:txBody>
          <a:bodyPr lIns="0" tIns="0" rIns="0" bIns="0" rtlCol="0" anchor="t">
            <a:spAutoFit/>
          </a:bodyPr>
          <a:lstStyle/>
          <a:p>
            <a:pPr algn="ctr">
              <a:lnSpc>
                <a:spcPts val="7389"/>
              </a:lnSpc>
            </a:pPr>
            <a:r>
              <a:rPr lang="en-US" sz="6008" b="1">
                <a:solidFill>
                  <a:srgbClr val="000000"/>
                </a:solidFill>
                <a:latin typeface="Garet Bold"/>
                <a:ea typeface="Garet Bold"/>
                <a:cs typeface="Garet Bold"/>
                <a:sym typeface="Garet Bold"/>
              </a:rPr>
              <a:t>AI Dimensional Personalization</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8100000">
            <a:off x="3904424" y="3226537"/>
            <a:ext cx="3833925" cy="3833925"/>
          </a:xfrm>
          <a:custGeom>
            <a:avLst/>
            <a:gdLst/>
            <a:ahLst/>
            <a:cxnLst/>
            <a:rect l="l" t="t" r="r" b="b"/>
            <a:pathLst>
              <a:path w="3833925" h="3833925">
                <a:moveTo>
                  <a:pt x="0" y="0"/>
                </a:moveTo>
                <a:lnTo>
                  <a:pt x="3833925" y="0"/>
                </a:lnTo>
                <a:lnTo>
                  <a:pt x="3833925" y="3833926"/>
                </a:lnTo>
                <a:lnTo>
                  <a:pt x="0" y="3833926"/>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1028700" y="3226537"/>
            <a:ext cx="3833925" cy="3833925"/>
          </a:xfrm>
          <a:custGeom>
            <a:avLst/>
            <a:gdLst/>
            <a:ahLst/>
            <a:cxnLst/>
            <a:rect l="l" t="t" r="r" b="b"/>
            <a:pathLst>
              <a:path w="3833925" h="3833925">
                <a:moveTo>
                  <a:pt x="0" y="0"/>
                </a:moveTo>
                <a:lnTo>
                  <a:pt x="3833925" y="0"/>
                </a:lnTo>
                <a:lnTo>
                  <a:pt x="3833925" y="3833926"/>
                </a:lnTo>
                <a:lnTo>
                  <a:pt x="0" y="3833926"/>
                </a:lnTo>
                <a:lnTo>
                  <a:pt x="0" y="0"/>
                </a:lnTo>
                <a:close/>
              </a:path>
            </a:pathLst>
          </a:custGeom>
          <a:blipFill>
            <a:blip r:embed="rId5">
              <a:extLst>
                <a:ext uri="{96DAC541-7B7A-43D3-8B79-37D633B846F1}">
                  <asvg:svgBlip xmlns:asvg="http://schemas.microsoft.com/office/drawing/2016/SVG/main" r:embed="rId6"/>
                </a:ext>
              </a:extLst>
            </a:blip>
            <a:stretch>
              <a:fillRect/>
            </a:stretch>
          </a:blipFill>
        </p:spPr>
        <p:txBody>
          <a:bodyPr/>
          <a:lstStyle/>
          <a:p>
            <a:endParaRPr lang="en-US"/>
          </a:p>
        </p:txBody>
      </p:sp>
      <p:grpSp>
        <p:nvGrpSpPr>
          <p:cNvPr id="4" name="Group 4"/>
          <p:cNvGrpSpPr/>
          <p:nvPr/>
        </p:nvGrpSpPr>
        <p:grpSpPr>
          <a:xfrm>
            <a:off x="0" y="9474040"/>
            <a:ext cx="18288000" cy="5657850"/>
            <a:chOff x="0" y="0"/>
            <a:chExt cx="6186311" cy="1913890"/>
          </a:xfrm>
        </p:grpSpPr>
        <p:sp>
          <p:nvSpPr>
            <p:cNvPr id="5" name="Freeform 5"/>
            <p:cNvSpPr/>
            <p:nvPr/>
          </p:nvSpPr>
          <p:spPr>
            <a:xfrm>
              <a:off x="0" y="0"/>
              <a:ext cx="6186311" cy="1913890"/>
            </a:xfrm>
            <a:custGeom>
              <a:avLst/>
              <a:gdLst/>
              <a:ahLst/>
              <a:cxnLst/>
              <a:rect l="l" t="t" r="r" b="b"/>
              <a:pathLst>
                <a:path w="6186311" h="1913890">
                  <a:moveTo>
                    <a:pt x="0" y="0"/>
                  </a:moveTo>
                  <a:lnTo>
                    <a:pt x="6186311" y="0"/>
                  </a:lnTo>
                  <a:lnTo>
                    <a:pt x="6186311" y="1913890"/>
                  </a:lnTo>
                  <a:lnTo>
                    <a:pt x="0" y="1913890"/>
                  </a:lnTo>
                  <a:close/>
                </a:path>
              </a:pathLst>
            </a:custGeom>
            <a:solidFill>
              <a:srgbClr val="35589A"/>
            </a:solidFill>
          </p:spPr>
          <p:txBody>
            <a:bodyPr/>
            <a:lstStyle/>
            <a:p>
              <a:endParaRPr lang="en-US"/>
            </a:p>
          </p:txBody>
        </p:sp>
      </p:grpSp>
      <p:sp>
        <p:nvSpPr>
          <p:cNvPr id="6" name="TextBox 6"/>
          <p:cNvSpPr txBox="1"/>
          <p:nvPr/>
        </p:nvSpPr>
        <p:spPr>
          <a:xfrm>
            <a:off x="8842091" y="911092"/>
            <a:ext cx="9195556" cy="2352318"/>
          </a:xfrm>
          <a:prstGeom prst="rect">
            <a:avLst/>
          </a:prstGeom>
        </p:spPr>
        <p:txBody>
          <a:bodyPr lIns="0" tIns="0" rIns="0" bIns="0" rtlCol="0" anchor="t">
            <a:spAutoFit/>
          </a:bodyPr>
          <a:lstStyle/>
          <a:p>
            <a:pPr algn="ctr">
              <a:lnSpc>
                <a:spcPts val="9340"/>
              </a:lnSpc>
            </a:pPr>
            <a:r>
              <a:rPr lang="en-US" sz="7593" b="1">
                <a:solidFill>
                  <a:srgbClr val="000000"/>
                </a:solidFill>
                <a:latin typeface="Garet Bold"/>
                <a:ea typeface="Garet Bold"/>
                <a:cs typeface="Garet Bold"/>
                <a:sym typeface="Garet Bold"/>
              </a:rPr>
              <a:t>Product Feature</a:t>
            </a:r>
          </a:p>
          <a:p>
            <a:pPr algn="l">
              <a:lnSpc>
                <a:spcPts val="9340"/>
              </a:lnSpc>
            </a:pPr>
            <a:r>
              <a:rPr lang="en-US" sz="7593" b="1">
                <a:solidFill>
                  <a:srgbClr val="000000"/>
                </a:solidFill>
                <a:latin typeface="Garet Bold"/>
                <a:ea typeface="Garet Bold"/>
                <a:cs typeface="Garet Bold"/>
                <a:sym typeface="Garet Bold"/>
              </a:rPr>
              <a:t>Recommendation</a:t>
            </a:r>
          </a:p>
        </p:txBody>
      </p:sp>
      <p:sp>
        <p:nvSpPr>
          <p:cNvPr id="7" name="AutoShape 7"/>
          <p:cNvSpPr/>
          <p:nvPr/>
        </p:nvSpPr>
        <p:spPr>
          <a:xfrm>
            <a:off x="8532381" y="3639086"/>
            <a:ext cx="11146522" cy="0"/>
          </a:xfrm>
          <a:prstGeom prst="line">
            <a:avLst/>
          </a:prstGeom>
          <a:ln w="28575" cap="rnd">
            <a:solidFill>
              <a:srgbClr val="000000"/>
            </a:solidFill>
            <a:prstDash val="solid"/>
            <a:headEnd type="none" w="sm" len="sm"/>
            <a:tailEnd type="none" w="sm" len="sm"/>
          </a:ln>
        </p:spPr>
        <p:txBody>
          <a:bodyPr/>
          <a:lstStyle/>
          <a:p>
            <a:endParaRPr lang="en-US"/>
          </a:p>
        </p:txBody>
      </p:sp>
      <p:sp>
        <p:nvSpPr>
          <p:cNvPr id="8" name="AutoShape 8"/>
          <p:cNvSpPr/>
          <p:nvPr/>
        </p:nvSpPr>
        <p:spPr>
          <a:xfrm>
            <a:off x="2608326" y="5143500"/>
            <a:ext cx="3523483" cy="129905"/>
          </a:xfrm>
          <a:prstGeom prst="line">
            <a:avLst/>
          </a:prstGeom>
          <a:ln w="19050" cap="rnd">
            <a:solidFill>
              <a:srgbClr val="FFFFFF"/>
            </a:solidFill>
            <a:prstDash val="solid"/>
            <a:headEnd type="none" w="sm" len="sm"/>
            <a:tailEnd type="none" w="sm" len="sm"/>
          </a:ln>
        </p:spPr>
        <p:txBody>
          <a:bodyPr/>
          <a:lstStyle/>
          <a:p>
            <a:endParaRPr lang="en-US"/>
          </a:p>
        </p:txBody>
      </p:sp>
      <p:sp>
        <p:nvSpPr>
          <p:cNvPr id="9" name="Freeform 9"/>
          <p:cNvSpPr/>
          <p:nvPr/>
        </p:nvSpPr>
        <p:spPr>
          <a:xfrm>
            <a:off x="17201468" y="9783284"/>
            <a:ext cx="816303" cy="204076"/>
          </a:xfrm>
          <a:custGeom>
            <a:avLst/>
            <a:gdLst/>
            <a:ahLst/>
            <a:cxnLst/>
            <a:rect l="l" t="t" r="r" b="b"/>
            <a:pathLst>
              <a:path w="816303" h="204076">
                <a:moveTo>
                  <a:pt x="0" y="0"/>
                </a:moveTo>
                <a:lnTo>
                  <a:pt x="816303" y="0"/>
                </a:lnTo>
                <a:lnTo>
                  <a:pt x="816303" y="204076"/>
                </a:lnTo>
                <a:lnTo>
                  <a:pt x="0" y="204076"/>
                </a:lnTo>
                <a:lnTo>
                  <a:pt x="0" y="0"/>
                </a:lnTo>
                <a:close/>
              </a:path>
            </a:pathLst>
          </a:custGeom>
          <a:blipFill>
            <a:blip r:embed="rId7">
              <a:extLst>
                <a:ext uri="{96DAC541-7B7A-43D3-8B79-37D633B846F1}">
                  <asvg:svgBlip xmlns:asvg="http://schemas.microsoft.com/office/drawing/2016/SVG/main" r:embed="rId8"/>
                </a:ext>
              </a:extLst>
            </a:blip>
            <a:stretch>
              <a:fillRect/>
            </a:stretch>
          </a:blipFill>
        </p:spPr>
        <p:txBody>
          <a:bodyPr/>
          <a:lstStyle/>
          <a:p>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35589A"/>
        </a:solidFill>
        <a:effectLst/>
      </p:bgPr>
    </p:bg>
    <p:spTree>
      <p:nvGrpSpPr>
        <p:cNvPr id="1" name=""/>
        <p:cNvGrpSpPr/>
        <p:nvPr/>
      </p:nvGrpSpPr>
      <p:grpSpPr>
        <a:xfrm>
          <a:off x="0" y="0"/>
          <a:ext cx="0" cy="0"/>
          <a:chOff x="0" y="0"/>
          <a:chExt cx="0" cy="0"/>
        </a:xfrm>
      </p:grpSpPr>
      <p:graphicFrame>
        <p:nvGraphicFramePr>
          <p:cNvPr id="2" name="Table 2"/>
          <p:cNvGraphicFramePr>
            <a:graphicFrameLocks noGrp="1"/>
          </p:cNvGraphicFramePr>
          <p:nvPr>
            <p:extLst>
              <p:ext uri="{D42A27DB-BD31-4B8C-83A1-F6EECF244321}">
                <p14:modId xmlns:p14="http://schemas.microsoft.com/office/powerpoint/2010/main" val="1964032113"/>
              </p:ext>
            </p:extLst>
          </p:nvPr>
        </p:nvGraphicFramePr>
        <p:xfrm>
          <a:off x="303588" y="3157866"/>
          <a:ext cx="17680822" cy="6773243"/>
        </p:xfrm>
        <a:graphic>
          <a:graphicData uri="http://schemas.openxmlformats.org/drawingml/2006/table">
            <a:tbl>
              <a:tblPr/>
              <a:tblGrid>
                <a:gridCol w="2333086">
                  <a:extLst>
                    <a:ext uri="{9D8B030D-6E8A-4147-A177-3AD203B41FA5}">
                      <a16:colId xmlns:a16="http://schemas.microsoft.com/office/drawing/2014/main" val="20000"/>
                    </a:ext>
                  </a:extLst>
                </a:gridCol>
                <a:gridCol w="2032063">
                  <a:extLst>
                    <a:ext uri="{9D8B030D-6E8A-4147-A177-3AD203B41FA5}">
                      <a16:colId xmlns:a16="http://schemas.microsoft.com/office/drawing/2014/main" val="20001"/>
                    </a:ext>
                  </a:extLst>
                </a:gridCol>
                <a:gridCol w="3463791">
                  <a:extLst>
                    <a:ext uri="{9D8B030D-6E8A-4147-A177-3AD203B41FA5}">
                      <a16:colId xmlns:a16="http://schemas.microsoft.com/office/drawing/2014/main" val="20002"/>
                    </a:ext>
                  </a:extLst>
                </a:gridCol>
                <a:gridCol w="3318544">
                  <a:extLst>
                    <a:ext uri="{9D8B030D-6E8A-4147-A177-3AD203B41FA5}">
                      <a16:colId xmlns:a16="http://schemas.microsoft.com/office/drawing/2014/main" val="20003"/>
                    </a:ext>
                  </a:extLst>
                </a:gridCol>
                <a:gridCol w="3069547">
                  <a:extLst>
                    <a:ext uri="{9D8B030D-6E8A-4147-A177-3AD203B41FA5}">
                      <a16:colId xmlns:a16="http://schemas.microsoft.com/office/drawing/2014/main" val="20004"/>
                    </a:ext>
                  </a:extLst>
                </a:gridCol>
                <a:gridCol w="3463791">
                  <a:extLst>
                    <a:ext uri="{9D8B030D-6E8A-4147-A177-3AD203B41FA5}">
                      <a16:colId xmlns:a16="http://schemas.microsoft.com/office/drawing/2014/main" val="20005"/>
                    </a:ext>
                  </a:extLst>
                </a:gridCol>
              </a:tblGrid>
              <a:tr h="1187163">
                <a:tc>
                  <a:txBody>
                    <a:bodyPr/>
                    <a:lstStyle/>
                    <a:p>
                      <a:pPr algn="ctr">
                        <a:lnSpc>
                          <a:spcPts val="2519"/>
                        </a:lnSpc>
                        <a:defRPr/>
                      </a:pPr>
                      <a:r>
                        <a:rPr lang="en-US" sz="1799" b="1">
                          <a:solidFill>
                            <a:srgbClr val="FFFFFF"/>
                          </a:solidFill>
                          <a:latin typeface="Inter Bold"/>
                          <a:ea typeface="Inter Bold"/>
                          <a:cs typeface="Inter Bold"/>
                          <a:sym typeface="Inter Bold"/>
                        </a:rPr>
                        <a:t>Section</a:t>
                      </a:r>
                      <a:endParaRPr lang="en-US" sz="1100"/>
                    </a:p>
                  </a:txBody>
                  <a:tcPr marL="190500" marR="190500" marT="190500" marB="190500" anchor="ctr">
                    <a:lnL w="9525" cap="flat" cmpd="sng" algn="ctr">
                      <a:solidFill>
                        <a:srgbClr val="99ACFF"/>
                      </a:solidFill>
                      <a:prstDash val="solid"/>
                      <a:round/>
                      <a:headEnd type="none" w="med" len="med"/>
                      <a:tailEnd type="none" w="med" len="med"/>
                    </a:lnL>
                    <a:lnR w="9525" cap="flat" cmpd="sng" algn="ctr">
                      <a:solidFill>
                        <a:srgbClr val="99ACFF"/>
                      </a:solidFill>
                      <a:prstDash val="solid"/>
                      <a:round/>
                      <a:headEnd type="none" w="med" len="med"/>
                      <a:tailEnd type="none" w="med" len="med"/>
                    </a:lnR>
                    <a:lnT w="9525" cap="flat" cmpd="sng" algn="ctr">
                      <a:solidFill>
                        <a:srgbClr val="99ACFF"/>
                      </a:solidFill>
                      <a:prstDash val="solid"/>
                      <a:round/>
                      <a:headEnd type="none" w="med" len="med"/>
                      <a:tailEnd type="none" w="med" len="med"/>
                    </a:lnT>
                    <a:lnB w="9525" cap="flat" cmpd="sng" algn="ctr">
                      <a:solidFill>
                        <a:srgbClr val="99ACFF"/>
                      </a:solidFill>
                      <a:prstDash val="solid"/>
                      <a:round/>
                      <a:headEnd type="none" w="med" len="med"/>
                      <a:tailEnd type="none" w="med" len="med"/>
                    </a:lnB>
                    <a:solidFill>
                      <a:srgbClr val="000000"/>
                    </a:solidFill>
                  </a:tcPr>
                </a:tc>
                <a:tc>
                  <a:txBody>
                    <a:bodyPr/>
                    <a:lstStyle/>
                    <a:p>
                      <a:pPr algn="ctr">
                        <a:lnSpc>
                          <a:spcPts val="2519"/>
                        </a:lnSpc>
                        <a:defRPr/>
                      </a:pPr>
                      <a:r>
                        <a:rPr lang="en-US" sz="1799" b="1">
                          <a:solidFill>
                            <a:srgbClr val="FFFFFF"/>
                          </a:solidFill>
                          <a:latin typeface="Inter Bold"/>
                          <a:ea typeface="Inter Bold"/>
                          <a:cs typeface="Inter Bold"/>
                          <a:sym typeface="Inter Bold"/>
                        </a:rPr>
                        <a:t>Layer</a:t>
                      </a:r>
                      <a:endParaRPr lang="en-US" sz="1100"/>
                    </a:p>
                  </a:txBody>
                  <a:tcPr marL="190500" marR="190500" marT="190500" marB="190500" anchor="ctr">
                    <a:lnL w="9525"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00000"/>
                    </a:solidFill>
                  </a:tcPr>
                </a:tc>
                <a:tc>
                  <a:txBody>
                    <a:bodyPr/>
                    <a:lstStyle/>
                    <a:p>
                      <a:pPr algn="ctr">
                        <a:lnSpc>
                          <a:spcPts val="2519"/>
                        </a:lnSpc>
                        <a:defRPr/>
                      </a:pPr>
                      <a:r>
                        <a:rPr lang="en-US" sz="1799" b="1">
                          <a:solidFill>
                            <a:srgbClr val="FFFFFF"/>
                          </a:solidFill>
                          <a:latin typeface="Inter Bold"/>
                          <a:ea typeface="Inter Bold"/>
                          <a:cs typeface="Inter Bold"/>
                          <a:sym typeface="Inter Bold"/>
                        </a:rPr>
                        <a:t>What Gen Z Tries To Do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00000"/>
                    </a:solidFill>
                  </a:tcPr>
                </a:tc>
                <a:tc>
                  <a:txBody>
                    <a:bodyPr/>
                    <a:lstStyle/>
                    <a:p>
                      <a:pPr algn="ctr">
                        <a:lnSpc>
                          <a:spcPts val="2519"/>
                        </a:lnSpc>
                        <a:defRPr/>
                      </a:pPr>
                      <a:r>
                        <a:rPr lang="en-US" sz="1799" b="1">
                          <a:solidFill>
                            <a:srgbClr val="FFFFFF"/>
                          </a:solidFill>
                          <a:latin typeface="Inter Bold"/>
                          <a:ea typeface="Inter Bold"/>
                          <a:cs typeface="Inter Bold"/>
                          <a:sym typeface="Inter Bold"/>
                        </a:rPr>
                        <a:t>Friction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00000"/>
                    </a:solidFill>
                  </a:tcPr>
                </a:tc>
                <a:tc>
                  <a:txBody>
                    <a:bodyPr/>
                    <a:lstStyle/>
                    <a:p>
                      <a:pPr algn="ctr">
                        <a:lnSpc>
                          <a:spcPts val="2519"/>
                        </a:lnSpc>
                        <a:defRPr/>
                      </a:pPr>
                      <a:r>
                        <a:rPr lang="en-US" sz="1799" b="1">
                          <a:solidFill>
                            <a:srgbClr val="FFFFFF"/>
                          </a:solidFill>
                          <a:latin typeface="Inter Bold"/>
                          <a:ea typeface="Inter Bold"/>
                          <a:cs typeface="Inter Bold"/>
                          <a:sym typeface="Inter Bold"/>
                        </a:rPr>
                        <a:t>User Sentiment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00000"/>
                    </a:solidFill>
                  </a:tcPr>
                </a:tc>
                <a:tc>
                  <a:txBody>
                    <a:bodyPr/>
                    <a:lstStyle/>
                    <a:p>
                      <a:pPr algn="ctr">
                        <a:lnSpc>
                          <a:spcPts val="2519"/>
                        </a:lnSpc>
                        <a:defRPr/>
                      </a:pPr>
                      <a:r>
                        <a:rPr lang="en-US" sz="1799" b="1">
                          <a:solidFill>
                            <a:srgbClr val="FFFFFF"/>
                          </a:solidFill>
                          <a:latin typeface="Inter Bold"/>
                          <a:ea typeface="Inter Bold"/>
                          <a:cs typeface="Inter Bold"/>
                          <a:sym typeface="Inter Bold"/>
                        </a:rPr>
                        <a:t>Design Fix</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000000"/>
                    </a:solidFill>
                  </a:tcPr>
                </a:tc>
                <a:extLst>
                  <a:ext uri="{0D108BD9-81ED-4DB2-BD59-A6C34878D82A}">
                    <a16:rowId xmlns:a16="http://schemas.microsoft.com/office/drawing/2014/main" val="10000"/>
                  </a:ext>
                </a:extLst>
              </a:tr>
              <a:tr h="1607127">
                <a:tc>
                  <a:txBody>
                    <a:bodyPr/>
                    <a:lstStyle/>
                    <a:p>
                      <a:pPr marL="388618" lvl="1" indent="-194309" algn="ctr">
                        <a:lnSpc>
                          <a:spcPts val="2519"/>
                        </a:lnSpc>
                        <a:buAutoNum type="arabicPeriod"/>
                        <a:defRPr/>
                      </a:pPr>
                      <a:r>
                        <a:rPr lang="en-US" sz="1799" b="1">
                          <a:solidFill>
                            <a:srgbClr val="FFFFFF"/>
                          </a:solidFill>
                          <a:latin typeface="Inter Bold"/>
                          <a:ea typeface="Inter Bold"/>
                          <a:cs typeface="Inter Bold"/>
                          <a:sym typeface="Inter Bold"/>
                        </a:rPr>
                        <a:t>Invisibility &amp; Trust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9525"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555555"/>
                    </a:solidFill>
                  </a:tcPr>
                </a:tc>
                <a:tc>
                  <a:txBody>
                    <a:bodyPr/>
                    <a:lstStyle/>
                    <a:p>
                      <a:pPr algn="ctr">
                        <a:lnSpc>
                          <a:spcPts val="1960"/>
                        </a:lnSpc>
                        <a:defRPr/>
                      </a:pPr>
                      <a:r>
                        <a:rPr lang="en-US" sz="1400">
                          <a:solidFill>
                            <a:srgbClr val="000000"/>
                          </a:solidFill>
                          <a:latin typeface="Inter"/>
                          <a:ea typeface="Inter"/>
                          <a:cs typeface="Inter"/>
                          <a:sym typeface="Inter"/>
                        </a:rPr>
                        <a:t>Discovery Layer</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Inter"/>
                          <a:ea typeface="Inter"/>
                          <a:cs typeface="Inter"/>
                          <a:sym typeface="Inter"/>
                        </a:rPr>
                        <a:t>Assess if the news feed is relevant/personalized, and why.</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Inter"/>
                          <a:ea typeface="Inter"/>
                          <a:cs typeface="Inter"/>
                          <a:sym typeface="Inter"/>
                        </a:rPr>
                        <a:t>Personalization features (Like a “For You” tab) are too generic or buried, making the AI’s effort invisible (26% never notice).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dirty="0">
                          <a:solidFill>
                            <a:srgbClr val="000000"/>
                          </a:solidFill>
                          <a:latin typeface="Inter"/>
                          <a:ea typeface="Inter"/>
                          <a:cs typeface="Inter"/>
                          <a:sym typeface="Inter"/>
                        </a:rPr>
                        <a:t>"I wish news apps would do what Spotify does. Actually learn what I care about.”</a:t>
                      </a:r>
                      <a:endParaRPr lang="en-US" sz="1100" dirty="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b="1">
                          <a:solidFill>
                            <a:srgbClr val="000000"/>
                          </a:solidFill>
                          <a:latin typeface="Inter Bold"/>
                          <a:ea typeface="Inter Bold"/>
                          <a:cs typeface="Inter Bold"/>
                          <a:sym typeface="Inter Bold"/>
                        </a:rPr>
                        <a:t>Transparency X-ray 🧐</a:t>
                      </a:r>
                      <a:endParaRPr lang="en-US" sz="1100"/>
                    </a:p>
                    <a:p>
                      <a:pPr algn="ctr">
                        <a:lnSpc>
                          <a:spcPts val="1960"/>
                        </a:lnSpc>
                      </a:pPr>
                      <a:r>
                        <a:rPr lang="en-US" sz="1400">
                          <a:solidFill>
                            <a:srgbClr val="000000"/>
                          </a:solidFill>
                          <a:latin typeface="Inter"/>
                          <a:ea typeface="Inter"/>
                          <a:cs typeface="Inter"/>
                          <a:sym typeface="Inter"/>
                        </a:rPr>
                        <a:t>Add a subtle clickable “i” icon that instantly explains the core AI reason fr the story’s placement.</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148070">
                <a:tc>
                  <a:txBody>
                    <a:bodyPr/>
                    <a:lstStyle/>
                    <a:p>
                      <a:pPr algn="ctr">
                        <a:lnSpc>
                          <a:spcPts val="2519"/>
                        </a:lnSpc>
                        <a:defRPr/>
                      </a:pPr>
                      <a:r>
                        <a:rPr lang="en-US" sz="1799" b="1">
                          <a:solidFill>
                            <a:srgbClr val="FFFFFF"/>
                          </a:solidFill>
                          <a:latin typeface="Inter Bold"/>
                          <a:ea typeface="Inter Bold"/>
                          <a:cs typeface="Inter Bold"/>
                          <a:sym typeface="Inter Bold"/>
                        </a:rPr>
                        <a:t>2. Time &amp; Depth</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555555"/>
                    </a:solidFill>
                  </a:tcPr>
                </a:tc>
                <a:tc>
                  <a:txBody>
                    <a:bodyPr/>
                    <a:lstStyle/>
                    <a:p>
                      <a:pPr algn="ctr">
                        <a:lnSpc>
                          <a:spcPts val="1960"/>
                        </a:lnSpc>
                        <a:defRPr/>
                      </a:pPr>
                      <a:r>
                        <a:rPr lang="en-US" sz="1400">
                          <a:solidFill>
                            <a:srgbClr val="000000"/>
                          </a:solidFill>
                          <a:latin typeface="Inter"/>
                          <a:ea typeface="Inter"/>
                          <a:cs typeface="Inter"/>
                          <a:sym typeface="Inter"/>
                        </a:rPr>
                        <a:t>Content Layer</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Inter"/>
                          <a:ea typeface="Inter"/>
                          <a:cs typeface="Inter"/>
                          <a:sym typeface="Inter"/>
                        </a:rPr>
                        <a:t>Find a news story that perfectly matches their current attention span (e.g., a quick update vs. a deep dive).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a:solidFill>
                            <a:srgbClr val="000000"/>
                          </a:solidFill>
                          <a:latin typeface="Inter"/>
                          <a:ea typeface="Inter"/>
                          <a:cs typeface="Inter"/>
                          <a:sym typeface="Inter"/>
                        </a:rPr>
                        <a:t>The feed mixes article lengths randomly, forcing the user to waste time tapping and leaving articles that are too long or too short for the moment.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l">
                        <a:lnSpc>
                          <a:spcPts val="1960"/>
                        </a:lnSpc>
                        <a:defRPr/>
                      </a:pPr>
                      <a:r>
                        <a:rPr lang="en-US" sz="1400" u="none" strike="noStrike">
                          <a:solidFill>
                            <a:srgbClr val="000000"/>
                          </a:solidFill>
                          <a:latin typeface="Inter"/>
                          <a:ea typeface="Inter"/>
                          <a:cs typeface="Inter"/>
                          <a:sym typeface="Inter"/>
                        </a:rPr>
                        <a:t>10 respondents</a:t>
                      </a:r>
                      <a:r>
                        <a:rPr lang="en-US" sz="1400">
                          <a:solidFill>
                            <a:srgbClr val="000000"/>
                          </a:solidFill>
                          <a:latin typeface="Inter"/>
                          <a:ea typeface="Inter"/>
                          <a:cs typeface="Inter"/>
                          <a:sym typeface="Inter"/>
                        </a:rPr>
                        <a:t> cited Length or depth as a desired customization.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b="1" u="none" strike="noStrike">
                          <a:solidFill>
                            <a:srgbClr val="000000"/>
                          </a:solidFill>
                          <a:latin typeface="Inter Bold"/>
                          <a:ea typeface="Inter Bold"/>
                          <a:cs typeface="Inter Bold"/>
                          <a:sym typeface="Inter Bold"/>
                        </a:rPr>
                        <a:t>Length Toggles ⏱️</a:t>
                      </a:r>
                      <a:endParaRPr lang="en-US" sz="1100"/>
                    </a:p>
                    <a:p>
                      <a:pPr algn="ctr">
                        <a:lnSpc>
                          <a:spcPts val="1960"/>
                        </a:lnSpc>
                      </a:pPr>
                      <a:r>
                        <a:rPr lang="en-US" sz="1400">
                          <a:solidFill>
                            <a:srgbClr val="000000"/>
                          </a:solidFill>
                          <a:latin typeface="Inter"/>
                          <a:ea typeface="Inter"/>
                          <a:cs typeface="Inter"/>
                          <a:sym typeface="Inter"/>
                        </a:rPr>
                        <a:t>Implement a persistent, AI-powered toggle (like "Brief" / "In-Depth") that filters the feed instantly by predicted reading time.</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1830883">
                <a:tc>
                  <a:txBody>
                    <a:bodyPr/>
                    <a:lstStyle/>
                    <a:p>
                      <a:pPr algn="ctr">
                        <a:lnSpc>
                          <a:spcPts val="2519"/>
                        </a:lnSpc>
                        <a:defRPr/>
                      </a:pPr>
                      <a:r>
                        <a:rPr lang="en-US" sz="1799" b="1">
                          <a:solidFill>
                            <a:srgbClr val="FFFFFF"/>
                          </a:solidFill>
                          <a:latin typeface="Inter Bold"/>
                          <a:ea typeface="Inter Bold"/>
                          <a:cs typeface="Inter Bold"/>
                          <a:sym typeface="Inter Bold"/>
                        </a:rPr>
                        <a:t>3. Media &amp; Context</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555555"/>
                    </a:solidFill>
                  </a:tcPr>
                </a:tc>
                <a:tc>
                  <a:txBody>
                    <a:bodyPr/>
                    <a:lstStyle/>
                    <a:p>
                      <a:pPr algn="ctr">
                        <a:lnSpc>
                          <a:spcPts val="1960"/>
                        </a:lnSpc>
                        <a:defRPr/>
                      </a:pPr>
                      <a:r>
                        <a:rPr lang="en-US" sz="1400">
                          <a:solidFill>
                            <a:srgbClr val="000000"/>
                          </a:solidFill>
                          <a:latin typeface="Inter"/>
                          <a:ea typeface="Inter"/>
                          <a:cs typeface="Inter"/>
                          <a:sym typeface="Inter"/>
                        </a:rPr>
                        <a:t>Format Layer</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l">
                        <a:lnSpc>
                          <a:spcPts val="1960"/>
                        </a:lnSpc>
                        <a:defRPr/>
                      </a:pPr>
                      <a:r>
                        <a:rPr lang="en-US" sz="1400" u="none" strike="noStrike">
                          <a:solidFill>
                            <a:srgbClr val="000000"/>
                          </a:solidFill>
                          <a:latin typeface="Inter"/>
                          <a:ea typeface="Inter"/>
                          <a:cs typeface="Inter"/>
                          <a:sym typeface="Inter"/>
                        </a:rPr>
                        <a:t>Get news in the format best suited for their environment (e.g., on-the-go audio vs. at-home video).</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l">
                        <a:lnSpc>
                          <a:spcPts val="1960"/>
                        </a:lnSpc>
                        <a:defRPr/>
                      </a:pPr>
                      <a:r>
                        <a:rPr lang="en-US" sz="1400" u="none" strike="noStrike">
                          <a:solidFill>
                            <a:srgbClr val="000000"/>
                          </a:solidFill>
                          <a:latin typeface="Inter"/>
                          <a:ea typeface="Inter"/>
                          <a:cs typeface="Inter"/>
                          <a:sym typeface="Inter"/>
                        </a:rPr>
                        <a:t>The feed defaults to text, failing to prioritize video/audio even when the user has shown a clear preference for streaming/YouTube.</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l">
                        <a:lnSpc>
                          <a:spcPts val="1960"/>
                        </a:lnSpc>
                        <a:defRPr/>
                      </a:pPr>
                      <a:r>
                        <a:rPr lang="en-US" sz="1400" u="none" strike="noStrike">
                          <a:solidFill>
                            <a:srgbClr val="000000"/>
                          </a:solidFill>
                          <a:latin typeface="Inter"/>
                          <a:ea typeface="Inter"/>
                          <a:cs typeface="Inter"/>
                          <a:sym typeface="Inter"/>
                        </a:rPr>
                        <a:t>9 respondents</a:t>
                      </a:r>
                      <a:r>
                        <a:rPr lang="en-US" sz="1400">
                          <a:solidFill>
                            <a:srgbClr val="000000"/>
                          </a:solidFill>
                          <a:latin typeface="Inter"/>
                          <a:ea typeface="Inter"/>
                          <a:cs typeface="Inter"/>
                          <a:sym typeface="Inter"/>
                        </a:rPr>
                        <a:t> cited Format (text, video, audio) as a desired customization.</a:t>
                      </a:r>
                      <a:endParaRPr lang="en-US" sz="1100"/>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tc>
                  <a:txBody>
                    <a:bodyPr/>
                    <a:lstStyle/>
                    <a:p>
                      <a:pPr algn="ctr">
                        <a:lnSpc>
                          <a:spcPts val="1960"/>
                        </a:lnSpc>
                        <a:defRPr/>
                      </a:pPr>
                      <a:r>
                        <a:rPr lang="en-US" sz="1400" b="1" u="none" strike="noStrike" dirty="0">
                          <a:solidFill>
                            <a:srgbClr val="000000"/>
                          </a:solidFill>
                          <a:latin typeface="Inter Bold"/>
                          <a:ea typeface="Inter Bold"/>
                          <a:cs typeface="Inter Bold"/>
                          <a:sym typeface="Inter Bold"/>
                        </a:rPr>
                        <a:t>Format Prioritization 🎬</a:t>
                      </a:r>
                      <a:endParaRPr lang="en-US" sz="1100" dirty="0"/>
                    </a:p>
                    <a:p>
                      <a:pPr algn="ctr">
                        <a:lnSpc>
                          <a:spcPts val="1960"/>
                        </a:lnSpc>
                      </a:pPr>
                      <a:r>
                        <a:rPr lang="en-US" sz="1400" dirty="0">
                          <a:solidFill>
                            <a:srgbClr val="000000"/>
                          </a:solidFill>
                          <a:latin typeface="Inter"/>
                          <a:ea typeface="Inter"/>
                          <a:cs typeface="Inter"/>
                          <a:sym typeface="Inter"/>
                        </a:rPr>
                        <a:t>A simple feed setting that uses AI to elevate video/photo stories above text when the user has set a preference for visual content.</a:t>
                      </a:r>
                    </a:p>
                  </a:txBody>
                  <a:tcPr marL="190500" marR="190500" marT="190500" marB="190500" anchor="ctr">
                    <a:lnL w="0" cap="flat" cmpd="sng" algn="ctr">
                      <a:solidFill>
                        <a:srgbClr val="99ACFF"/>
                      </a:solidFill>
                      <a:prstDash val="solid"/>
                      <a:round/>
                      <a:headEnd type="none" w="med" len="med"/>
                      <a:tailEnd type="none" w="med" len="med"/>
                    </a:lnL>
                    <a:lnR w="0" cap="flat" cmpd="sng" algn="ctr">
                      <a:solidFill>
                        <a:srgbClr val="99ACFF"/>
                      </a:solidFill>
                      <a:prstDash val="solid"/>
                      <a:round/>
                      <a:headEnd type="none" w="med" len="med"/>
                      <a:tailEnd type="none" w="med" len="med"/>
                    </a:lnR>
                    <a:lnT w="0" cap="flat" cmpd="sng" algn="ctr">
                      <a:solidFill>
                        <a:srgbClr val="99ACFF"/>
                      </a:solidFill>
                      <a:prstDash val="solid"/>
                      <a:round/>
                      <a:headEnd type="none" w="med" len="med"/>
                      <a:tailEnd type="none" w="med" len="med"/>
                    </a:lnT>
                    <a:lnB w="0" cap="flat" cmpd="sng" algn="ctr">
                      <a:solidFill>
                        <a:srgbClr val="99ACFF"/>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grpSp>
        <p:nvGrpSpPr>
          <p:cNvPr id="3" name="Group 3"/>
          <p:cNvGrpSpPr>
            <a:grpSpLocks noChangeAspect="1"/>
          </p:cNvGrpSpPr>
          <p:nvPr/>
        </p:nvGrpSpPr>
        <p:grpSpPr>
          <a:xfrm>
            <a:off x="2811053" y="435022"/>
            <a:ext cx="1284637" cy="2448774"/>
            <a:chOff x="0" y="0"/>
            <a:chExt cx="8624570" cy="16440150"/>
          </a:xfrm>
        </p:grpSpPr>
        <p:sp>
          <p:nvSpPr>
            <p:cNvPr id="4" name="Freeform 4"/>
            <p:cNvSpPr/>
            <p:nvPr/>
          </p:nvSpPr>
          <p:spPr>
            <a:xfrm>
              <a:off x="410210" y="3481070"/>
              <a:ext cx="7757160" cy="9696450"/>
            </a:xfrm>
            <a:custGeom>
              <a:avLst/>
              <a:gdLst/>
              <a:ahLst/>
              <a:cxnLst/>
              <a:rect l="l" t="t" r="r" b="b"/>
              <a:pathLst>
                <a:path w="7757160" h="9696450">
                  <a:moveTo>
                    <a:pt x="0" y="0"/>
                  </a:moveTo>
                  <a:lnTo>
                    <a:pt x="7757160" y="0"/>
                  </a:lnTo>
                  <a:lnTo>
                    <a:pt x="7757160" y="9696450"/>
                  </a:lnTo>
                  <a:lnTo>
                    <a:pt x="0" y="9696450"/>
                  </a:lnTo>
                  <a:close/>
                </a:path>
              </a:pathLst>
            </a:custGeom>
            <a:blipFill>
              <a:blip r:embed="rId3"/>
              <a:stretch>
                <a:fillRect l="-43632" r="-43632"/>
              </a:stretch>
            </a:blipFill>
          </p:spPr>
          <p:txBody>
            <a:bodyPr/>
            <a:lstStyle/>
            <a:p>
              <a:endParaRPr lang="en-US"/>
            </a:p>
          </p:txBody>
        </p:sp>
        <p:sp>
          <p:nvSpPr>
            <p:cNvPr id="5" name="Freeform 5"/>
            <p:cNvSpPr/>
            <p:nvPr/>
          </p:nvSpPr>
          <p:spPr>
            <a:xfrm>
              <a:off x="0" y="0"/>
              <a:ext cx="8636000" cy="16446500"/>
            </a:xfrm>
            <a:custGeom>
              <a:avLst/>
              <a:gdLst/>
              <a:ahLst/>
              <a:cxnLst/>
              <a:rect l="l" t="t" r="r" b="b"/>
              <a:pathLst>
                <a:path w="8636000" h="16446500">
                  <a:moveTo>
                    <a:pt x="0" y="0"/>
                  </a:moveTo>
                  <a:lnTo>
                    <a:pt x="8636000" y="0"/>
                  </a:lnTo>
                  <a:lnTo>
                    <a:pt x="8636000" y="16446500"/>
                  </a:lnTo>
                  <a:lnTo>
                    <a:pt x="0" y="16446500"/>
                  </a:lnTo>
                  <a:close/>
                </a:path>
              </a:pathLst>
            </a:custGeom>
          </p:spPr>
          <p:txBody>
            <a:bodyPr/>
            <a:lstStyle/>
            <a:p>
              <a:endParaRPr lang="en-US"/>
            </a:p>
          </p:txBody>
        </p:sp>
      </p:grpSp>
      <p:sp>
        <p:nvSpPr>
          <p:cNvPr id="6" name="TextBox 6"/>
          <p:cNvSpPr txBox="1"/>
          <p:nvPr/>
        </p:nvSpPr>
        <p:spPr>
          <a:xfrm>
            <a:off x="303588" y="2058931"/>
            <a:ext cx="2291514" cy="824865"/>
          </a:xfrm>
          <a:prstGeom prst="rect">
            <a:avLst/>
          </a:prstGeom>
        </p:spPr>
        <p:txBody>
          <a:bodyPr lIns="0" tIns="0" rIns="0" bIns="0" rtlCol="0" anchor="t">
            <a:spAutoFit/>
          </a:bodyPr>
          <a:lstStyle/>
          <a:p>
            <a:pPr algn="l">
              <a:lnSpc>
                <a:spcPts val="3359"/>
              </a:lnSpc>
              <a:spcBef>
                <a:spcPct val="0"/>
              </a:spcBef>
            </a:pPr>
            <a:r>
              <a:rPr lang="en-US" sz="2400" spc="-103">
                <a:solidFill>
                  <a:srgbClr val="FFFFFF"/>
                </a:solidFill>
                <a:latin typeface="Inter"/>
                <a:ea typeface="Inter"/>
                <a:cs typeface="Inter"/>
                <a:sym typeface="Inter"/>
              </a:rPr>
              <a:t>AI Dimensional Personalization</a:t>
            </a:r>
          </a:p>
        </p:txBody>
      </p:sp>
      <p:sp>
        <p:nvSpPr>
          <p:cNvPr id="7" name="TextBox 7"/>
          <p:cNvSpPr txBox="1"/>
          <p:nvPr/>
        </p:nvSpPr>
        <p:spPr>
          <a:xfrm>
            <a:off x="3656122" y="460862"/>
            <a:ext cx="10222633" cy="1049377"/>
          </a:xfrm>
          <a:prstGeom prst="rect">
            <a:avLst/>
          </a:prstGeom>
        </p:spPr>
        <p:txBody>
          <a:bodyPr lIns="0" tIns="0" rIns="0" bIns="0" rtlCol="0" anchor="t">
            <a:spAutoFit/>
          </a:bodyPr>
          <a:lstStyle/>
          <a:p>
            <a:pPr algn="ctr">
              <a:lnSpc>
                <a:spcPts val="7851"/>
              </a:lnSpc>
            </a:pPr>
            <a:r>
              <a:rPr lang="en-US" sz="8178" b="1">
                <a:solidFill>
                  <a:srgbClr val="FFFFFF"/>
                </a:solidFill>
                <a:latin typeface="Garet Bold"/>
                <a:ea typeface="Garet Bold"/>
                <a:cs typeface="Garet Bold"/>
                <a:sym typeface="Garet Bold"/>
              </a:rPr>
              <a:t>High Impact UX </a:t>
            </a:r>
          </a:p>
        </p:txBody>
      </p:sp>
      <p:sp>
        <p:nvSpPr>
          <p:cNvPr id="8" name="TextBox 8"/>
          <p:cNvSpPr txBox="1"/>
          <p:nvPr/>
        </p:nvSpPr>
        <p:spPr>
          <a:xfrm>
            <a:off x="6721940" y="1691214"/>
            <a:ext cx="10222633" cy="1011660"/>
          </a:xfrm>
          <a:prstGeom prst="rect">
            <a:avLst/>
          </a:prstGeom>
        </p:spPr>
        <p:txBody>
          <a:bodyPr lIns="0" tIns="0" rIns="0" bIns="0" rtlCol="0" anchor="t">
            <a:spAutoFit/>
          </a:bodyPr>
          <a:lstStyle/>
          <a:p>
            <a:pPr algn="ctr">
              <a:lnSpc>
                <a:spcPts val="7563"/>
              </a:lnSpc>
            </a:pPr>
            <a:r>
              <a:rPr lang="en-US" sz="7878" b="1">
                <a:solidFill>
                  <a:srgbClr val="FFFFFF"/>
                </a:solidFill>
                <a:latin typeface="Garet Bold"/>
                <a:ea typeface="Garet Bold"/>
                <a:cs typeface="Garet Bold"/>
                <a:sym typeface="Garet Bold"/>
              </a:rPr>
              <a:t>Friction Zones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35589A"/>
        </a:solidFill>
        <a:effectLst/>
      </p:bgPr>
    </p:bg>
    <p:spTree>
      <p:nvGrpSpPr>
        <p:cNvPr id="1" name=""/>
        <p:cNvGrpSpPr/>
        <p:nvPr/>
      </p:nvGrpSpPr>
      <p:grpSpPr>
        <a:xfrm>
          <a:off x="0" y="0"/>
          <a:ext cx="0" cy="0"/>
          <a:chOff x="0" y="0"/>
          <a:chExt cx="0" cy="0"/>
        </a:xfrm>
      </p:grpSpPr>
      <p:sp>
        <p:nvSpPr>
          <p:cNvPr id="20" name="Freeform 8">
            <a:extLst>
              <a:ext uri="{FF2B5EF4-FFF2-40B4-BE49-F238E27FC236}">
                <a16:creationId xmlns:a16="http://schemas.microsoft.com/office/drawing/2014/main" id="{E741F14F-85A7-EC74-7501-DAE4C1CE1F3D}"/>
              </a:ext>
            </a:extLst>
          </p:cNvPr>
          <p:cNvSpPr/>
          <p:nvPr/>
        </p:nvSpPr>
        <p:spPr>
          <a:xfrm>
            <a:off x="644523" y="1797081"/>
            <a:ext cx="5827530" cy="8372127"/>
          </a:xfrm>
          <a:custGeom>
            <a:avLst/>
            <a:gdLst/>
            <a:ahLst/>
            <a:cxnLst/>
            <a:rect l="l" t="t" r="r" b="b"/>
            <a:pathLst>
              <a:path w="5827530" h="8372127">
                <a:moveTo>
                  <a:pt x="0" y="0"/>
                </a:moveTo>
                <a:lnTo>
                  <a:pt x="5827530" y="0"/>
                </a:lnTo>
                <a:lnTo>
                  <a:pt x="5827530" y="8372128"/>
                </a:lnTo>
                <a:lnTo>
                  <a:pt x="0" y="8372128"/>
                </a:lnTo>
                <a:lnTo>
                  <a:pt x="0" y="0"/>
                </a:lnTo>
                <a:close/>
              </a:path>
            </a:pathLst>
          </a:custGeom>
          <a:blipFill>
            <a:blip r:embed="rId3"/>
            <a:stretch>
              <a:fillRect l="-26887" r="-27276" b="-7307"/>
            </a:stretch>
          </a:blipFill>
        </p:spPr>
        <p:txBody>
          <a:bodyPr/>
          <a:lstStyle/>
          <a:p>
            <a:endParaRPr lang="en-US"/>
          </a:p>
        </p:txBody>
      </p:sp>
      <p:grpSp>
        <p:nvGrpSpPr>
          <p:cNvPr id="2" name="Group 2"/>
          <p:cNvGrpSpPr/>
          <p:nvPr/>
        </p:nvGrpSpPr>
        <p:grpSpPr>
          <a:xfrm>
            <a:off x="0" y="0"/>
            <a:ext cx="10070810" cy="1664963"/>
            <a:chOff x="0" y="0"/>
            <a:chExt cx="2652394" cy="438509"/>
          </a:xfrm>
        </p:grpSpPr>
        <p:sp>
          <p:nvSpPr>
            <p:cNvPr id="3" name="Freeform 3"/>
            <p:cNvSpPr/>
            <p:nvPr/>
          </p:nvSpPr>
          <p:spPr>
            <a:xfrm>
              <a:off x="0" y="0"/>
              <a:ext cx="2652394" cy="438509"/>
            </a:xfrm>
            <a:custGeom>
              <a:avLst/>
              <a:gdLst/>
              <a:ahLst/>
              <a:cxnLst/>
              <a:rect l="l" t="t" r="r" b="b"/>
              <a:pathLst>
                <a:path w="2652394" h="438509">
                  <a:moveTo>
                    <a:pt x="0" y="0"/>
                  </a:moveTo>
                  <a:lnTo>
                    <a:pt x="2652394" y="0"/>
                  </a:lnTo>
                  <a:lnTo>
                    <a:pt x="2652394" y="438509"/>
                  </a:lnTo>
                  <a:lnTo>
                    <a:pt x="0" y="438509"/>
                  </a:lnTo>
                  <a:close/>
                </a:path>
              </a:pathLst>
            </a:custGeom>
            <a:solidFill>
              <a:srgbClr val="202020"/>
            </a:solidFill>
          </p:spPr>
          <p:txBody>
            <a:bodyPr/>
            <a:lstStyle/>
            <a:p>
              <a:endParaRPr lang="en-US"/>
            </a:p>
          </p:txBody>
        </p:sp>
        <p:sp>
          <p:nvSpPr>
            <p:cNvPr id="4" name="TextBox 4"/>
            <p:cNvSpPr txBox="1"/>
            <p:nvPr/>
          </p:nvSpPr>
          <p:spPr>
            <a:xfrm>
              <a:off x="0" y="-38100"/>
              <a:ext cx="2652394" cy="476609"/>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0" y="0"/>
            <a:ext cx="313774" cy="9949609"/>
            <a:chOff x="0" y="0"/>
            <a:chExt cx="82640" cy="2620473"/>
          </a:xfrm>
        </p:grpSpPr>
        <p:sp>
          <p:nvSpPr>
            <p:cNvPr id="6" name="Freeform 6"/>
            <p:cNvSpPr/>
            <p:nvPr/>
          </p:nvSpPr>
          <p:spPr>
            <a:xfrm>
              <a:off x="0" y="0"/>
              <a:ext cx="82640" cy="2620473"/>
            </a:xfrm>
            <a:custGeom>
              <a:avLst/>
              <a:gdLst/>
              <a:ahLst/>
              <a:cxnLst/>
              <a:rect l="l" t="t" r="r" b="b"/>
              <a:pathLst>
                <a:path w="82640" h="2620473">
                  <a:moveTo>
                    <a:pt x="0" y="0"/>
                  </a:moveTo>
                  <a:lnTo>
                    <a:pt x="82640" y="0"/>
                  </a:lnTo>
                  <a:lnTo>
                    <a:pt x="82640" y="2620473"/>
                  </a:lnTo>
                  <a:lnTo>
                    <a:pt x="0" y="2620473"/>
                  </a:lnTo>
                  <a:close/>
                </a:path>
              </a:pathLst>
            </a:custGeom>
            <a:solidFill>
              <a:srgbClr val="000000"/>
            </a:solidFill>
          </p:spPr>
          <p:txBody>
            <a:bodyPr/>
            <a:lstStyle/>
            <a:p>
              <a:endParaRPr lang="en-US"/>
            </a:p>
          </p:txBody>
        </p:sp>
        <p:sp>
          <p:nvSpPr>
            <p:cNvPr id="7" name="TextBox 7"/>
            <p:cNvSpPr txBox="1"/>
            <p:nvPr/>
          </p:nvSpPr>
          <p:spPr>
            <a:xfrm>
              <a:off x="0" y="-38100"/>
              <a:ext cx="82640" cy="2658573"/>
            </a:xfrm>
            <a:prstGeom prst="rect">
              <a:avLst/>
            </a:prstGeom>
          </p:spPr>
          <p:txBody>
            <a:bodyPr lIns="50800" tIns="50800" rIns="50800" bIns="50800" rtlCol="0" anchor="ctr"/>
            <a:lstStyle/>
            <a:p>
              <a:pPr algn="ctr">
                <a:lnSpc>
                  <a:spcPts val="2520"/>
                </a:lnSpc>
              </a:pPr>
              <a:endParaRPr/>
            </a:p>
          </p:txBody>
        </p:sp>
      </p:grpSp>
      <p:sp>
        <p:nvSpPr>
          <p:cNvPr id="9" name="TextBox 9"/>
          <p:cNvSpPr txBox="1"/>
          <p:nvPr/>
        </p:nvSpPr>
        <p:spPr>
          <a:xfrm>
            <a:off x="644523" y="486098"/>
            <a:ext cx="9757036" cy="835641"/>
          </a:xfrm>
          <a:prstGeom prst="rect">
            <a:avLst/>
          </a:prstGeom>
        </p:spPr>
        <p:txBody>
          <a:bodyPr lIns="0" tIns="0" rIns="0" bIns="0" rtlCol="0" anchor="t">
            <a:spAutoFit/>
          </a:bodyPr>
          <a:lstStyle/>
          <a:p>
            <a:pPr algn="l">
              <a:lnSpc>
                <a:spcPts val="6219"/>
              </a:lnSpc>
            </a:pPr>
            <a:r>
              <a:rPr lang="en-US" sz="6478" b="1">
                <a:solidFill>
                  <a:srgbClr val="FFFFFF"/>
                </a:solidFill>
                <a:latin typeface="Garet Bold"/>
                <a:ea typeface="Garet Bold"/>
                <a:cs typeface="Garet Bold"/>
                <a:sym typeface="Garet Bold"/>
              </a:rPr>
              <a:t>Transparency X-Ray</a:t>
            </a:r>
          </a:p>
        </p:txBody>
      </p:sp>
      <p:sp>
        <p:nvSpPr>
          <p:cNvPr id="10" name="TextBox 10"/>
          <p:cNvSpPr txBox="1"/>
          <p:nvPr/>
        </p:nvSpPr>
        <p:spPr>
          <a:xfrm>
            <a:off x="2785613" y="1991654"/>
            <a:ext cx="1545350" cy="335772"/>
          </a:xfrm>
          <a:prstGeom prst="rect">
            <a:avLst/>
          </a:prstGeom>
        </p:spPr>
        <p:txBody>
          <a:bodyPr lIns="0" tIns="0" rIns="0" bIns="0" rtlCol="0" anchor="t">
            <a:spAutoFit/>
          </a:bodyPr>
          <a:lstStyle/>
          <a:p>
            <a:pPr algn="l">
              <a:lnSpc>
                <a:spcPts val="2475"/>
              </a:lnSpc>
            </a:pPr>
            <a:r>
              <a:rPr lang="en-US" sz="2578" b="1" dirty="0">
                <a:solidFill>
                  <a:srgbClr val="35589A"/>
                </a:solidFill>
                <a:latin typeface="Inter Bold"/>
                <a:ea typeface="Inter Bold"/>
                <a:cs typeface="Inter Bold"/>
                <a:sym typeface="Inter Bold"/>
              </a:rPr>
              <a:t>Mockup</a:t>
            </a:r>
          </a:p>
        </p:txBody>
      </p:sp>
      <p:sp>
        <p:nvSpPr>
          <p:cNvPr id="11" name="TextBox 11"/>
          <p:cNvSpPr txBox="1"/>
          <p:nvPr/>
        </p:nvSpPr>
        <p:spPr>
          <a:xfrm>
            <a:off x="7312520" y="1867829"/>
            <a:ext cx="9946780" cy="1313693"/>
          </a:xfrm>
          <a:prstGeom prst="rect">
            <a:avLst/>
          </a:prstGeom>
        </p:spPr>
        <p:txBody>
          <a:bodyPr lIns="0" tIns="0" rIns="0" bIns="0" rtlCol="0" anchor="t">
            <a:spAutoFit/>
          </a:bodyPr>
          <a:lstStyle/>
          <a:p>
            <a:pPr algn="l">
              <a:lnSpc>
                <a:spcPts val="3319"/>
              </a:lnSpc>
            </a:pPr>
            <a:r>
              <a:rPr lang="en-US" sz="2698">
                <a:solidFill>
                  <a:srgbClr val="FFFFFF"/>
                </a:solidFill>
                <a:latin typeface="Futura"/>
                <a:ea typeface="Futura"/>
                <a:cs typeface="Futura"/>
                <a:sym typeface="Futura"/>
              </a:rPr>
              <a:t>This image shows a news feed with a specific article highlighted, and a pop-up window explaining why that article was recommended to the user.</a:t>
            </a:r>
          </a:p>
        </p:txBody>
      </p:sp>
      <p:sp>
        <p:nvSpPr>
          <p:cNvPr id="12" name="TextBox 12"/>
          <p:cNvSpPr txBox="1"/>
          <p:nvPr/>
        </p:nvSpPr>
        <p:spPr>
          <a:xfrm>
            <a:off x="7312520" y="5822690"/>
            <a:ext cx="9946780" cy="894593"/>
          </a:xfrm>
          <a:prstGeom prst="rect">
            <a:avLst/>
          </a:prstGeom>
        </p:spPr>
        <p:txBody>
          <a:bodyPr lIns="0" tIns="0" rIns="0" bIns="0" rtlCol="0" anchor="t">
            <a:spAutoFit/>
          </a:bodyPr>
          <a:lstStyle/>
          <a:p>
            <a:pPr algn="l">
              <a:lnSpc>
                <a:spcPts val="3319"/>
              </a:lnSpc>
            </a:pPr>
            <a:r>
              <a:rPr lang="en-US" sz="2698" dirty="0">
                <a:solidFill>
                  <a:srgbClr val="FFFFFF"/>
                </a:solidFill>
                <a:latin typeface="Futura"/>
                <a:ea typeface="Futura"/>
                <a:cs typeface="Futura"/>
                <a:sym typeface="Futura"/>
              </a:rPr>
              <a:t>User Trust Score (Dimensionally): Increase the percentage of users who express moderate or high trust in the app's use of their data.</a:t>
            </a:r>
          </a:p>
        </p:txBody>
      </p:sp>
      <p:sp>
        <p:nvSpPr>
          <p:cNvPr id="13" name="TextBox 13"/>
          <p:cNvSpPr txBox="1"/>
          <p:nvPr/>
        </p:nvSpPr>
        <p:spPr>
          <a:xfrm>
            <a:off x="7312520" y="5296418"/>
            <a:ext cx="2585838" cy="320601"/>
          </a:xfrm>
          <a:prstGeom prst="rect">
            <a:avLst/>
          </a:prstGeom>
        </p:spPr>
        <p:txBody>
          <a:bodyPr lIns="0" tIns="0" rIns="0" bIns="0" rtlCol="0" anchor="t">
            <a:spAutoFit/>
          </a:bodyPr>
          <a:lstStyle/>
          <a:p>
            <a:pPr algn="l">
              <a:lnSpc>
                <a:spcPts val="2475"/>
              </a:lnSpc>
            </a:pPr>
            <a:r>
              <a:rPr lang="en-US" sz="2578" b="1" dirty="0">
                <a:solidFill>
                  <a:srgbClr val="C2BFC1"/>
                </a:solidFill>
                <a:latin typeface="Inter Bold"/>
                <a:ea typeface="Inter Bold"/>
                <a:cs typeface="Inter Bold"/>
                <a:sym typeface="Inter Bold"/>
              </a:rPr>
              <a:t>Success Metric</a:t>
            </a:r>
          </a:p>
        </p:txBody>
      </p:sp>
      <p:sp>
        <p:nvSpPr>
          <p:cNvPr id="14" name="TextBox 14"/>
          <p:cNvSpPr txBox="1"/>
          <p:nvPr/>
        </p:nvSpPr>
        <p:spPr>
          <a:xfrm>
            <a:off x="7158385" y="8216816"/>
            <a:ext cx="10100915" cy="1732793"/>
          </a:xfrm>
          <a:prstGeom prst="rect">
            <a:avLst/>
          </a:prstGeom>
        </p:spPr>
        <p:txBody>
          <a:bodyPr lIns="0" tIns="0" rIns="0" bIns="0" rtlCol="0" anchor="t">
            <a:spAutoFit/>
          </a:bodyPr>
          <a:lstStyle/>
          <a:p>
            <a:pPr marL="582626" lvl="1" indent="-291313" algn="l">
              <a:lnSpc>
                <a:spcPts val="3319"/>
              </a:lnSpc>
              <a:buFont typeface="Arial"/>
              <a:buChar char="•"/>
            </a:pPr>
            <a:r>
              <a:rPr lang="en-US" sz="2698" b="1">
                <a:solidFill>
                  <a:srgbClr val="FFFFFF"/>
                </a:solidFill>
                <a:latin typeface="Futura Bold"/>
                <a:ea typeface="Futura Bold"/>
                <a:cs typeface="Futura Bold"/>
                <a:sym typeface="Futura Bold"/>
              </a:rPr>
              <a:t>Future Survey:</a:t>
            </a:r>
            <a:r>
              <a:rPr lang="en-US" sz="2698">
                <a:solidFill>
                  <a:srgbClr val="FFFFFF"/>
                </a:solidFill>
                <a:latin typeface="Futura"/>
                <a:ea typeface="Futura"/>
                <a:cs typeface="Futura"/>
                <a:sym typeface="Futura"/>
              </a:rPr>
              <a:t> Rerun Q21 (Trust in news apps) and add: "Did the 'Why This Story?' tag increase your faith in the app's fairness?" </a:t>
            </a:r>
          </a:p>
          <a:p>
            <a:pPr marL="582626" lvl="1" indent="-291313" algn="l">
              <a:lnSpc>
                <a:spcPts val="3319"/>
              </a:lnSpc>
              <a:buFont typeface="Arial"/>
              <a:buChar char="•"/>
            </a:pPr>
            <a:r>
              <a:rPr lang="en-US" sz="2698" b="1">
                <a:solidFill>
                  <a:srgbClr val="FFFFFF"/>
                </a:solidFill>
                <a:latin typeface="Futura Bold"/>
                <a:ea typeface="Futura Bold"/>
                <a:cs typeface="Futura Bold"/>
                <a:sym typeface="Futura Bold"/>
              </a:rPr>
              <a:t>Target: </a:t>
            </a:r>
            <a:r>
              <a:rPr lang="en-US" sz="2698">
                <a:solidFill>
                  <a:srgbClr val="FFFFFF"/>
                </a:solidFill>
                <a:latin typeface="Futura"/>
                <a:ea typeface="Futura"/>
                <a:cs typeface="Futura"/>
                <a:sym typeface="Futura"/>
              </a:rPr>
              <a:t>+15% in "Trust Somewhat/A lot" responses.</a:t>
            </a:r>
          </a:p>
        </p:txBody>
      </p:sp>
      <p:sp>
        <p:nvSpPr>
          <p:cNvPr id="15" name="TextBox 15"/>
          <p:cNvSpPr txBox="1"/>
          <p:nvPr/>
        </p:nvSpPr>
        <p:spPr>
          <a:xfrm>
            <a:off x="7312520" y="7803134"/>
            <a:ext cx="2978476" cy="335772"/>
          </a:xfrm>
          <a:prstGeom prst="rect">
            <a:avLst/>
          </a:prstGeom>
        </p:spPr>
        <p:txBody>
          <a:bodyPr lIns="0" tIns="0" rIns="0" bIns="0" rtlCol="0" anchor="t">
            <a:spAutoFit/>
          </a:bodyPr>
          <a:lstStyle/>
          <a:p>
            <a:pPr algn="l">
              <a:lnSpc>
                <a:spcPts val="2475"/>
              </a:lnSpc>
            </a:pPr>
            <a:r>
              <a:rPr lang="en-US" sz="2578" b="1">
                <a:solidFill>
                  <a:srgbClr val="C2BFC1"/>
                </a:solidFill>
                <a:latin typeface="Inter Bold"/>
                <a:ea typeface="Inter Bold"/>
                <a:cs typeface="Inter Bold"/>
                <a:sym typeface="Inter Bold"/>
              </a:rPr>
              <a:t>How to Measure</a:t>
            </a:r>
          </a:p>
        </p:txBody>
      </p:sp>
      <p:grpSp>
        <p:nvGrpSpPr>
          <p:cNvPr id="16" name="Group 16"/>
          <p:cNvGrpSpPr/>
          <p:nvPr/>
        </p:nvGrpSpPr>
        <p:grpSpPr>
          <a:xfrm>
            <a:off x="7276176" y="4091530"/>
            <a:ext cx="7249216" cy="886170"/>
            <a:chOff x="0" y="0"/>
            <a:chExt cx="1909259" cy="233395"/>
          </a:xfrm>
        </p:grpSpPr>
        <p:sp>
          <p:nvSpPr>
            <p:cNvPr id="17" name="Freeform 17"/>
            <p:cNvSpPr/>
            <p:nvPr/>
          </p:nvSpPr>
          <p:spPr>
            <a:xfrm>
              <a:off x="0" y="0"/>
              <a:ext cx="1909259" cy="233395"/>
            </a:xfrm>
            <a:custGeom>
              <a:avLst/>
              <a:gdLst/>
              <a:ahLst/>
              <a:cxnLst/>
              <a:rect l="l" t="t" r="r" b="b"/>
              <a:pathLst>
                <a:path w="1909259" h="233395">
                  <a:moveTo>
                    <a:pt x="0" y="0"/>
                  </a:moveTo>
                  <a:lnTo>
                    <a:pt x="1909259" y="0"/>
                  </a:lnTo>
                  <a:lnTo>
                    <a:pt x="1909259" y="233395"/>
                  </a:lnTo>
                  <a:lnTo>
                    <a:pt x="0" y="233395"/>
                  </a:lnTo>
                  <a:close/>
                </a:path>
              </a:pathLst>
            </a:custGeom>
            <a:solidFill>
              <a:srgbClr val="202020"/>
            </a:solidFill>
          </p:spPr>
          <p:txBody>
            <a:bodyPr/>
            <a:lstStyle/>
            <a:p>
              <a:endParaRPr lang="en-US"/>
            </a:p>
          </p:txBody>
        </p:sp>
        <p:sp>
          <p:nvSpPr>
            <p:cNvPr id="18" name="TextBox 18"/>
            <p:cNvSpPr txBox="1"/>
            <p:nvPr/>
          </p:nvSpPr>
          <p:spPr>
            <a:xfrm>
              <a:off x="0" y="-38100"/>
              <a:ext cx="1909259" cy="271495"/>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7502998" y="4298844"/>
            <a:ext cx="7022394" cy="546464"/>
          </a:xfrm>
          <a:prstGeom prst="rect">
            <a:avLst/>
          </a:prstGeom>
        </p:spPr>
        <p:txBody>
          <a:bodyPr lIns="0" tIns="0" rIns="0" bIns="0" rtlCol="0" anchor="t">
            <a:spAutoFit/>
          </a:bodyPr>
          <a:lstStyle/>
          <a:p>
            <a:pPr algn="l">
              <a:lnSpc>
                <a:spcPts val="4011"/>
              </a:lnSpc>
            </a:pPr>
            <a:r>
              <a:rPr lang="en-US" sz="4178" b="1">
                <a:solidFill>
                  <a:srgbClr val="FFFFFF"/>
                </a:solidFill>
                <a:latin typeface="Inter Bold"/>
                <a:ea typeface="Inter Bold"/>
                <a:cs typeface="Inter Bold"/>
                <a:sym typeface="Inter Bold"/>
              </a:rPr>
              <a:t>Defining Success Metrics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35589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070810" cy="1664963"/>
            <a:chOff x="0" y="0"/>
            <a:chExt cx="2652394" cy="438509"/>
          </a:xfrm>
        </p:grpSpPr>
        <p:sp>
          <p:nvSpPr>
            <p:cNvPr id="3" name="Freeform 3"/>
            <p:cNvSpPr/>
            <p:nvPr/>
          </p:nvSpPr>
          <p:spPr>
            <a:xfrm>
              <a:off x="0" y="0"/>
              <a:ext cx="2652394" cy="438509"/>
            </a:xfrm>
            <a:custGeom>
              <a:avLst/>
              <a:gdLst/>
              <a:ahLst/>
              <a:cxnLst/>
              <a:rect l="l" t="t" r="r" b="b"/>
              <a:pathLst>
                <a:path w="2652394" h="438509">
                  <a:moveTo>
                    <a:pt x="0" y="0"/>
                  </a:moveTo>
                  <a:lnTo>
                    <a:pt x="2652394" y="0"/>
                  </a:lnTo>
                  <a:lnTo>
                    <a:pt x="2652394" y="438509"/>
                  </a:lnTo>
                  <a:lnTo>
                    <a:pt x="0" y="438509"/>
                  </a:lnTo>
                  <a:close/>
                </a:path>
              </a:pathLst>
            </a:custGeom>
            <a:solidFill>
              <a:srgbClr val="202020"/>
            </a:solidFill>
          </p:spPr>
          <p:txBody>
            <a:bodyPr/>
            <a:lstStyle/>
            <a:p>
              <a:endParaRPr lang="en-US"/>
            </a:p>
          </p:txBody>
        </p:sp>
        <p:sp>
          <p:nvSpPr>
            <p:cNvPr id="4" name="TextBox 4"/>
            <p:cNvSpPr txBox="1"/>
            <p:nvPr/>
          </p:nvSpPr>
          <p:spPr>
            <a:xfrm>
              <a:off x="0" y="-38100"/>
              <a:ext cx="2652394" cy="476609"/>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0" y="0"/>
            <a:ext cx="313774" cy="9949609"/>
            <a:chOff x="0" y="0"/>
            <a:chExt cx="82640" cy="2620473"/>
          </a:xfrm>
        </p:grpSpPr>
        <p:sp>
          <p:nvSpPr>
            <p:cNvPr id="6" name="Freeform 6"/>
            <p:cNvSpPr/>
            <p:nvPr/>
          </p:nvSpPr>
          <p:spPr>
            <a:xfrm>
              <a:off x="0" y="0"/>
              <a:ext cx="82640" cy="2620473"/>
            </a:xfrm>
            <a:custGeom>
              <a:avLst/>
              <a:gdLst/>
              <a:ahLst/>
              <a:cxnLst/>
              <a:rect l="l" t="t" r="r" b="b"/>
              <a:pathLst>
                <a:path w="82640" h="2620473">
                  <a:moveTo>
                    <a:pt x="0" y="0"/>
                  </a:moveTo>
                  <a:lnTo>
                    <a:pt x="82640" y="0"/>
                  </a:lnTo>
                  <a:lnTo>
                    <a:pt x="82640" y="2620473"/>
                  </a:lnTo>
                  <a:lnTo>
                    <a:pt x="0" y="2620473"/>
                  </a:lnTo>
                  <a:close/>
                </a:path>
              </a:pathLst>
            </a:custGeom>
            <a:solidFill>
              <a:srgbClr val="000000"/>
            </a:solidFill>
          </p:spPr>
          <p:txBody>
            <a:bodyPr/>
            <a:lstStyle/>
            <a:p>
              <a:endParaRPr lang="en-US"/>
            </a:p>
          </p:txBody>
        </p:sp>
        <p:sp>
          <p:nvSpPr>
            <p:cNvPr id="7" name="TextBox 7"/>
            <p:cNvSpPr txBox="1"/>
            <p:nvPr/>
          </p:nvSpPr>
          <p:spPr>
            <a:xfrm>
              <a:off x="0" y="-38100"/>
              <a:ext cx="82640" cy="2658573"/>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a:off x="644523" y="1797081"/>
            <a:ext cx="6716860" cy="8372127"/>
          </a:xfrm>
          <a:custGeom>
            <a:avLst/>
            <a:gdLst/>
            <a:ahLst/>
            <a:cxnLst/>
            <a:rect l="l" t="t" r="r" b="b"/>
            <a:pathLst>
              <a:path w="6716860" h="8372127">
                <a:moveTo>
                  <a:pt x="0" y="0"/>
                </a:moveTo>
                <a:lnTo>
                  <a:pt x="6716860" y="0"/>
                </a:lnTo>
                <a:lnTo>
                  <a:pt x="6716860" y="8372128"/>
                </a:lnTo>
                <a:lnTo>
                  <a:pt x="0" y="8372128"/>
                </a:lnTo>
                <a:lnTo>
                  <a:pt x="0" y="0"/>
                </a:lnTo>
                <a:close/>
              </a:path>
            </a:pathLst>
          </a:custGeom>
          <a:blipFill>
            <a:blip r:embed="rId3"/>
            <a:stretch>
              <a:fillRect l="-15121" t="-4492" r="-15121"/>
            </a:stretch>
          </a:blipFill>
        </p:spPr>
        <p:txBody>
          <a:bodyPr/>
          <a:lstStyle/>
          <a:p>
            <a:endParaRPr lang="en-US"/>
          </a:p>
        </p:txBody>
      </p:sp>
      <p:sp>
        <p:nvSpPr>
          <p:cNvPr id="9" name="TextBox 9"/>
          <p:cNvSpPr txBox="1"/>
          <p:nvPr/>
        </p:nvSpPr>
        <p:spPr>
          <a:xfrm>
            <a:off x="3230278" y="1854231"/>
            <a:ext cx="1545350" cy="335772"/>
          </a:xfrm>
          <a:prstGeom prst="rect">
            <a:avLst/>
          </a:prstGeom>
        </p:spPr>
        <p:txBody>
          <a:bodyPr lIns="0" tIns="0" rIns="0" bIns="0" rtlCol="0" anchor="t">
            <a:spAutoFit/>
          </a:bodyPr>
          <a:lstStyle/>
          <a:p>
            <a:pPr algn="l">
              <a:lnSpc>
                <a:spcPts val="2475"/>
              </a:lnSpc>
            </a:pPr>
            <a:r>
              <a:rPr lang="en-US" sz="2578" b="1">
                <a:solidFill>
                  <a:srgbClr val="35589A"/>
                </a:solidFill>
                <a:latin typeface="Inter Bold"/>
                <a:ea typeface="Inter Bold"/>
                <a:cs typeface="Inter Bold"/>
                <a:sym typeface="Inter Bold"/>
              </a:rPr>
              <a:t>Mockup</a:t>
            </a:r>
          </a:p>
        </p:txBody>
      </p:sp>
      <p:sp>
        <p:nvSpPr>
          <p:cNvPr id="10" name="TextBox 10"/>
          <p:cNvSpPr txBox="1"/>
          <p:nvPr/>
        </p:nvSpPr>
        <p:spPr>
          <a:xfrm>
            <a:off x="644523" y="486098"/>
            <a:ext cx="9757036" cy="835641"/>
          </a:xfrm>
          <a:prstGeom prst="rect">
            <a:avLst/>
          </a:prstGeom>
        </p:spPr>
        <p:txBody>
          <a:bodyPr lIns="0" tIns="0" rIns="0" bIns="0" rtlCol="0" anchor="t">
            <a:spAutoFit/>
          </a:bodyPr>
          <a:lstStyle/>
          <a:p>
            <a:pPr algn="l">
              <a:lnSpc>
                <a:spcPts val="6219"/>
              </a:lnSpc>
            </a:pPr>
            <a:r>
              <a:rPr lang="en-US" sz="6478" b="1">
                <a:solidFill>
                  <a:srgbClr val="FFFFFF"/>
                </a:solidFill>
                <a:latin typeface="Garet Bold"/>
                <a:ea typeface="Garet Bold"/>
                <a:cs typeface="Garet Bold"/>
                <a:sym typeface="Garet Bold"/>
              </a:rPr>
              <a:t>Format Prioritization</a:t>
            </a:r>
          </a:p>
        </p:txBody>
      </p:sp>
      <p:sp>
        <p:nvSpPr>
          <p:cNvPr id="11" name="TextBox 11"/>
          <p:cNvSpPr txBox="1"/>
          <p:nvPr/>
        </p:nvSpPr>
        <p:spPr>
          <a:xfrm>
            <a:off x="7934316" y="1936392"/>
            <a:ext cx="9324984" cy="1247399"/>
          </a:xfrm>
          <a:prstGeom prst="rect">
            <a:avLst/>
          </a:prstGeom>
        </p:spPr>
        <p:txBody>
          <a:bodyPr lIns="0" tIns="0" rIns="0" bIns="0" rtlCol="0" anchor="t">
            <a:spAutoFit/>
          </a:bodyPr>
          <a:lstStyle/>
          <a:p>
            <a:pPr algn="l">
              <a:lnSpc>
                <a:spcPts val="3196"/>
              </a:lnSpc>
            </a:pPr>
            <a:r>
              <a:rPr lang="en-US" sz="2598">
                <a:solidFill>
                  <a:srgbClr val="FFFFFF"/>
                </a:solidFill>
                <a:latin typeface="Futura"/>
                <a:ea typeface="Futura"/>
                <a:cs typeface="Futura"/>
                <a:sym typeface="Futura"/>
              </a:rPr>
              <a:t>This image shows a news feed with a toggle to prioritize content format (e.g., "Text" vs. "Photo/Video"), immediately adjusting the display to show more visual content.</a:t>
            </a:r>
          </a:p>
        </p:txBody>
      </p:sp>
      <p:sp>
        <p:nvSpPr>
          <p:cNvPr id="12" name="TextBox 12"/>
          <p:cNvSpPr txBox="1"/>
          <p:nvPr/>
        </p:nvSpPr>
        <p:spPr>
          <a:xfrm>
            <a:off x="7934316" y="5618010"/>
            <a:ext cx="9946780" cy="1313693"/>
          </a:xfrm>
          <a:prstGeom prst="rect">
            <a:avLst/>
          </a:prstGeom>
        </p:spPr>
        <p:txBody>
          <a:bodyPr lIns="0" tIns="0" rIns="0" bIns="0" rtlCol="0" anchor="t">
            <a:spAutoFit/>
          </a:bodyPr>
          <a:lstStyle/>
          <a:p>
            <a:pPr algn="l">
              <a:lnSpc>
                <a:spcPts val="3319"/>
              </a:lnSpc>
            </a:pPr>
            <a:r>
              <a:rPr lang="en-US" sz="2698" b="1">
                <a:solidFill>
                  <a:srgbClr val="FFFFFF"/>
                </a:solidFill>
                <a:latin typeface="Futura Bold"/>
                <a:ea typeface="Futura Bold"/>
                <a:cs typeface="Futura Bold"/>
                <a:sym typeface="Futura Bold"/>
              </a:rPr>
              <a:t>Engagement Rate on Preferred Format:</a:t>
            </a:r>
            <a:r>
              <a:rPr lang="en-US" sz="2698">
                <a:solidFill>
                  <a:srgbClr val="FFFFFF"/>
                </a:solidFill>
                <a:latin typeface="Futura"/>
                <a:ea typeface="Futura"/>
                <a:cs typeface="Futura"/>
                <a:sym typeface="Futura"/>
              </a:rPr>
              <a:t> Measure how frequently users consume (click or view) articles in their explicitly set preferred format (Video/Photo).</a:t>
            </a:r>
          </a:p>
        </p:txBody>
      </p:sp>
      <p:sp>
        <p:nvSpPr>
          <p:cNvPr id="13" name="TextBox 13"/>
          <p:cNvSpPr txBox="1"/>
          <p:nvPr/>
        </p:nvSpPr>
        <p:spPr>
          <a:xfrm>
            <a:off x="7934316" y="5091737"/>
            <a:ext cx="2585838" cy="320601"/>
          </a:xfrm>
          <a:prstGeom prst="rect">
            <a:avLst/>
          </a:prstGeom>
        </p:spPr>
        <p:txBody>
          <a:bodyPr lIns="0" tIns="0" rIns="0" bIns="0" rtlCol="0" anchor="t">
            <a:spAutoFit/>
          </a:bodyPr>
          <a:lstStyle/>
          <a:p>
            <a:pPr algn="l">
              <a:lnSpc>
                <a:spcPts val="2475"/>
              </a:lnSpc>
            </a:pPr>
            <a:r>
              <a:rPr lang="en-US" sz="2578" b="1" dirty="0">
                <a:solidFill>
                  <a:srgbClr val="C2BFC1"/>
                </a:solidFill>
                <a:latin typeface="Inter Bold"/>
                <a:ea typeface="Inter Bold"/>
                <a:cs typeface="Inter Bold"/>
                <a:sym typeface="Inter Bold"/>
              </a:rPr>
              <a:t>Success Metric</a:t>
            </a:r>
          </a:p>
        </p:txBody>
      </p:sp>
      <p:sp>
        <p:nvSpPr>
          <p:cNvPr id="14" name="TextBox 14"/>
          <p:cNvSpPr txBox="1"/>
          <p:nvPr/>
        </p:nvSpPr>
        <p:spPr>
          <a:xfrm>
            <a:off x="7934316" y="7936459"/>
            <a:ext cx="10100915" cy="2151893"/>
          </a:xfrm>
          <a:prstGeom prst="rect">
            <a:avLst/>
          </a:prstGeom>
        </p:spPr>
        <p:txBody>
          <a:bodyPr lIns="0" tIns="0" rIns="0" bIns="0" rtlCol="0" anchor="t">
            <a:spAutoFit/>
          </a:bodyPr>
          <a:lstStyle/>
          <a:p>
            <a:pPr marL="582626" lvl="1" indent="-291313" algn="l">
              <a:lnSpc>
                <a:spcPts val="3319"/>
              </a:lnSpc>
              <a:buFont typeface="Arial"/>
              <a:buChar char="•"/>
            </a:pPr>
            <a:r>
              <a:rPr lang="en-US" sz="2698" b="1">
                <a:solidFill>
                  <a:srgbClr val="FFFFFF"/>
                </a:solidFill>
                <a:latin typeface="Futura Bold"/>
                <a:ea typeface="Futura Bold"/>
                <a:cs typeface="Futura Bold"/>
                <a:sym typeface="Futura Bold"/>
              </a:rPr>
              <a:t>Analytics: </a:t>
            </a:r>
            <a:r>
              <a:rPr lang="en-US" sz="2698">
                <a:solidFill>
                  <a:srgbClr val="FFFFFF"/>
                </a:solidFill>
                <a:latin typeface="Futura"/>
                <a:ea typeface="Futura"/>
                <a:cs typeface="Futura"/>
                <a:sym typeface="Futura"/>
              </a:rPr>
              <a:t>Track Click-Through Rate (CTR) on visual content among users who have set a "Photo/Video Priority" preference. </a:t>
            </a:r>
          </a:p>
          <a:p>
            <a:pPr marL="582626" lvl="1" indent="-291313" algn="l">
              <a:lnSpc>
                <a:spcPts val="3319"/>
              </a:lnSpc>
              <a:buFont typeface="Arial"/>
              <a:buChar char="•"/>
            </a:pPr>
            <a:r>
              <a:rPr lang="en-US" sz="2698" b="1">
                <a:solidFill>
                  <a:srgbClr val="FFFFFF"/>
                </a:solidFill>
                <a:latin typeface="Futura Bold"/>
                <a:ea typeface="Futura Bold"/>
                <a:cs typeface="Futura Bold"/>
                <a:sym typeface="Futura Bold"/>
              </a:rPr>
              <a:t>Target: </a:t>
            </a:r>
            <a:r>
              <a:rPr lang="en-US" sz="2698">
                <a:solidFill>
                  <a:srgbClr val="FFFFFF"/>
                </a:solidFill>
                <a:latin typeface="Futura"/>
                <a:ea typeface="Futura"/>
                <a:cs typeface="Futura"/>
                <a:sym typeface="Futura"/>
              </a:rPr>
              <a:t>+10% CTR on video/photo articles compared to users on the default feed.</a:t>
            </a:r>
          </a:p>
        </p:txBody>
      </p:sp>
      <p:sp>
        <p:nvSpPr>
          <p:cNvPr id="15" name="TextBox 15"/>
          <p:cNvSpPr txBox="1"/>
          <p:nvPr/>
        </p:nvSpPr>
        <p:spPr>
          <a:xfrm>
            <a:off x="8052107" y="7503203"/>
            <a:ext cx="2978476" cy="335772"/>
          </a:xfrm>
          <a:prstGeom prst="rect">
            <a:avLst/>
          </a:prstGeom>
        </p:spPr>
        <p:txBody>
          <a:bodyPr lIns="0" tIns="0" rIns="0" bIns="0" rtlCol="0" anchor="t">
            <a:spAutoFit/>
          </a:bodyPr>
          <a:lstStyle/>
          <a:p>
            <a:pPr algn="l">
              <a:lnSpc>
                <a:spcPts val="2475"/>
              </a:lnSpc>
            </a:pPr>
            <a:r>
              <a:rPr lang="en-US" sz="2578" b="1">
                <a:solidFill>
                  <a:srgbClr val="C2BFC1"/>
                </a:solidFill>
                <a:latin typeface="Inter Bold"/>
                <a:ea typeface="Inter Bold"/>
                <a:cs typeface="Inter Bold"/>
                <a:sym typeface="Inter Bold"/>
              </a:rPr>
              <a:t>How to Measure</a:t>
            </a:r>
          </a:p>
        </p:txBody>
      </p:sp>
      <p:grpSp>
        <p:nvGrpSpPr>
          <p:cNvPr id="16" name="Group 16"/>
          <p:cNvGrpSpPr/>
          <p:nvPr/>
        </p:nvGrpSpPr>
        <p:grpSpPr>
          <a:xfrm>
            <a:off x="7934316" y="3768445"/>
            <a:ext cx="7249216" cy="886170"/>
            <a:chOff x="0" y="0"/>
            <a:chExt cx="1909259" cy="233395"/>
          </a:xfrm>
        </p:grpSpPr>
        <p:sp>
          <p:nvSpPr>
            <p:cNvPr id="17" name="Freeform 17"/>
            <p:cNvSpPr/>
            <p:nvPr/>
          </p:nvSpPr>
          <p:spPr>
            <a:xfrm>
              <a:off x="0" y="0"/>
              <a:ext cx="1909259" cy="233395"/>
            </a:xfrm>
            <a:custGeom>
              <a:avLst/>
              <a:gdLst/>
              <a:ahLst/>
              <a:cxnLst/>
              <a:rect l="l" t="t" r="r" b="b"/>
              <a:pathLst>
                <a:path w="1909259" h="233395">
                  <a:moveTo>
                    <a:pt x="0" y="0"/>
                  </a:moveTo>
                  <a:lnTo>
                    <a:pt x="1909259" y="0"/>
                  </a:lnTo>
                  <a:lnTo>
                    <a:pt x="1909259" y="233395"/>
                  </a:lnTo>
                  <a:lnTo>
                    <a:pt x="0" y="233395"/>
                  </a:lnTo>
                  <a:close/>
                </a:path>
              </a:pathLst>
            </a:custGeom>
            <a:solidFill>
              <a:srgbClr val="202020"/>
            </a:solidFill>
          </p:spPr>
          <p:txBody>
            <a:bodyPr/>
            <a:lstStyle/>
            <a:p>
              <a:endParaRPr lang="en-US"/>
            </a:p>
          </p:txBody>
        </p:sp>
        <p:sp>
          <p:nvSpPr>
            <p:cNvPr id="18" name="TextBox 18"/>
            <p:cNvSpPr txBox="1"/>
            <p:nvPr/>
          </p:nvSpPr>
          <p:spPr>
            <a:xfrm>
              <a:off x="0" y="-38100"/>
              <a:ext cx="1909259" cy="271495"/>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8161139" y="3975759"/>
            <a:ext cx="7022394" cy="546464"/>
          </a:xfrm>
          <a:prstGeom prst="rect">
            <a:avLst/>
          </a:prstGeom>
        </p:spPr>
        <p:txBody>
          <a:bodyPr lIns="0" tIns="0" rIns="0" bIns="0" rtlCol="0" anchor="t">
            <a:spAutoFit/>
          </a:bodyPr>
          <a:lstStyle/>
          <a:p>
            <a:pPr algn="l">
              <a:lnSpc>
                <a:spcPts val="4011"/>
              </a:lnSpc>
            </a:pPr>
            <a:r>
              <a:rPr lang="en-US" sz="4178" b="1">
                <a:solidFill>
                  <a:srgbClr val="FFFFFF"/>
                </a:solidFill>
                <a:latin typeface="Inter Bold"/>
                <a:ea typeface="Inter Bold"/>
                <a:cs typeface="Inter Bold"/>
                <a:sym typeface="Inter Bold"/>
              </a:rPr>
              <a:t>Defining Success Metrics</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35589A"/>
        </a:solidFill>
        <a:effectLst/>
      </p:bgPr>
    </p:bg>
    <p:spTree>
      <p:nvGrpSpPr>
        <p:cNvPr id="1" name=""/>
        <p:cNvGrpSpPr/>
        <p:nvPr/>
      </p:nvGrpSpPr>
      <p:grpSpPr>
        <a:xfrm>
          <a:off x="0" y="0"/>
          <a:ext cx="0" cy="0"/>
          <a:chOff x="0" y="0"/>
          <a:chExt cx="0" cy="0"/>
        </a:xfrm>
      </p:grpSpPr>
      <p:grpSp>
        <p:nvGrpSpPr>
          <p:cNvPr id="2" name="Group 2"/>
          <p:cNvGrpSpPr/>
          <p:nvPr/>
        </p:nvGrpSpPr>
        <p:grpSpPr>
          <a:xfrm>
            <a:off x="0" y="0"/>
            <a:ext cx="10070810" cy="1664963"/>
            <a:chOff x="0" y="0"/>
            <a:chExt cx="2652394" cy="438509"/>
          </a:xfrm>
        </p:grpSpPr>
        <p:sp>
          <p:nvSpPr>
            <p:cNvPr id="3" name="Freeform 3"/>
            <p:cNvSpPr/>
            <p:nvPr/>
          </p:nvSpPr>
          <p:spPr>
            <a:xfrm>
              <a:off x="0" y="0"/>
              <a:ext cx="2652394" cy="438509"/>
            </a:xfrm>
            <a:custGeom>
              <a:avLst/>
              <a:gdLst/>
              <a:ahLst/>
              <a:cxnLst/>
              <a:rect l="l" t="t" r="r" b="b"/>
              <a:pathLst>
                <a:path w="2652394" h="438509">
                  <a:moveTo>
                    <a:pt x="0" y="0"/>
                  </a:moveTo>
                  <a:lnTo>
                    <a:pt x="2652394" y="0"/>
                  </a:lnTo>
                  <a:lnTo>
                    <a:pt x="2652394" y="438509"/>
                  </a:lnTo>
                  <a:lnTo>
                    <a:pt x="0" y="438509"/>
                  </a:lnTo>
                  <a:close/>
                </a:path>
              </a:pathLst>
            </a:custGeom>
            <a:solidFill>
              <a:srgbClr val="202020"/>
            </a:solidFill>
          </p:spPr>
          <p:txBody>
            <a:bodyPr/>
            <a:lstStyle/>
            <a:p>
              <a:endParaRPr lang="en-US"/>
            </a:p>
          </p:txBody>
        </p:sp>
        <p:sp>
          <p:nvSpPr>
            <p:cNvPr id="4" name="TextBox 4"/>
            <p:cNvSpPr txBox="1"/>
            <p:nvPr/>
          </p:nvSpPr>
          <p:spPr>
            <a:xfrm>
              <a:off x="0" y="-38100"/>
              <a:ext cx="2652394" cy="476609"/>
            </a:xfrm>
            <a:prstGeom prst="rect">
              <a:avLst/>
            </a:prstGeom>
          </p:spPr>
          <p:txBody>
            <a:bodyPr lIns="50800" tIns="50800" rIns="50800" bIns="50800" rtlCol="0" anchor="ctr"/>
            <a:lstStyle/>
            <a:p>
              <a:pPr algn="ctr">
                <a:lnSpc>
                  <a:spcPts val="2520"/>
                </a:lnSpc>
              </a:pPr>
              <a:endParaRPr/>
            </a:p>
          </p:txBody>
        </p:sp>
      </p:grpSp>
      <p:grpSp>
        <p:nvGrpSpPr>
          <p:cNvPr id="5" name="Group 5"/>
          <p:cNvGrpSpPr/>
          <p:nvPr/>
        </p:nvGrpSpPr>
        <p:grpSpPr>
          <a:xfrm>
            <a:off x="0" y="0"/>
            <a:ext cx="313774" cy="9949609"/>
            <a:chOff x="0" y="0"/>
            <a:chExt cx="82640" cy="2620473"/>
          </a:xfrm>
        </p:grpSpPr>
        <p:sp>
          <p:nvSpPr>
            <p:cNvPr id="6" name="Freeform 6"/>
            <p:cNvSpPr/>
            <p:nvPr/>
          </p:nvSpPr>
          <p:spPr>
            <a:xfrm>
              <a:off x="0" y="0"/>
              <a:ext cx="82640" cy="2620473"/>
            </a:xfrm>
            <a:custGeom>
              <a:avLst/>
              <a:gdLst/>
              <a:ahLst/>
              <a:cxnLst/>
              <a:rect l="l" t="t" r="r" b="b"/>
              <a:pathLst>
                <a:path w="82640" h="2620473">
                  <a:moveTo>
                    <a:pt x="0" y="0"/>
                  </a:moveTo>
                  <a:lnTo>
                    <a:pt x="82640" y="0"/>
                  </a:lnTo>
                  <a:lnTo>
                    <a:pt x="82640" y="2620473"/>
                  </a:lnTo>
                  <a:lnTo>
                    <a:pt x="0" y="2620473"/>
                  </a:lnTo>
                  <a:close/>
                </a:path>
              </a:pathLst>
            </a:custGeom>
            <a:solidFill>
              <a:srgbClr val="000000"/>
            </a:solidFill>
          </p:spPr>
          <p:txBody>
            <a:bodyPr/>
            <a:lstStyle/>
            <a:p>
              <a:endParaRPr lang="en-US"/>
            </a:p>
          </p:txBody>
        </p:sp>
        <p:sp>
          <p:nvSpPr>
            <p:cNvPr id="7" name="TextBox 7"/>
            <p:cNvSpPr txBox="1"/>
            <p:nvPr/>
          </p:nvSpPr>
          <p:spPr>
            <a:xfrm>
              <a:off x="0" y="-38100"/>
              <a:ext cx="82640" cy="2658573"/>
            </a:xfrm>
            <a:prstGeom prst="rect">
              <a:avLst/>
            </a:prstGeom>
          </p:spPr>
          <p:txBody>
            <a:bodyPr lIns="50800" tIns="50800" rIns="50800" bIns="50800" rtlCol="0" anchor="ctr"/>
            <a:lstStyle/>
            <a:p>
              <a:pPr algn="ctr">
                <a:lnSpc>
                  <a:spcPts val="2520"/>
                </a:lnSpc>
              </a:pPr>
              <a:endParaRPr/>
            </a:p>
          </p:txBody>
        </p:sp>
      </p:grpSp>
      <p:sp>
        <p:nvSpPr>
          <p:cNvPr id="8" name="Freeform 8"/>
          <p:cNvSpPr/>
          <p:nvPr/>
        </p:nvSpPr>
        <p:spPr>
          <a:xfrm>
            <a:off x="644523" y="1797081"/>
            <a:ext cx="6716860" cy="8372127"/>
          </a:xfrm>
          <a:custGeom>
            <a:avLst/>
            <a:gdLst/>
            <a:ahLst/>
            <a:cxnLst/>
            <a:rect l="l" t="t" r="r" b="b"/>
            <a:pathLst>
              <a:path w="6716860" h="8372127">
                <a:moveTo>
                  <a:pt x="0" y="0"/>
                </a:moveTo>
                <a:lnTo>
                  <a:pt x="6716860" y="0"/>
                </a:lnTo>
                <a:lnTo>
                  <a:pt x="6716860" y="8372128"/>
                </a:lnTo>
                <a:lnTo>
                  <a:pt x="0" y="8372128"/>
                </a:lnTo>
                <a:lnTo>
                  <a:pt x="0" y="0"/>
                </a:lnTo>
                <a:close/>
              </a:path>
            </a:pathLst>
          </a:custGeom>
          <a:blipFill>
            <a:blip r:embed="rId3"/>
            <a:stretch>
              <a:fillRect l="-12321" r="-12321"/>
            </a:stretch>
          </a:blipFill>
        </p:spPr>
        <p:txBody>
          <a:bodyPr/>
          <a:lstStyle/>
          <a:p>
            <a:endParaRPr lang="en-US"/>
          </a:p>
        </p:txBody>
      </p:sp>
      <p:sp>
        <p:nvSpPr>
          <p:cNvPr id="9" name="TextBox 9"/>
          <p:cNvSpPr txBox="1"/>
          <p:nvPr/>
        </p:nvSpPr>
        <p:spPr>
          <a:xfrm>
            <a:off x="3230278" y="1972023"/>
            <a:ext cx="1545350" cy="335772"/>
          </a:xfrm>
          <a:prstGeom prst="rect">
            <a:avLst/>
          </a:prstGeom>
        </p:spPr>
        <p:txBody>
          <a:bodyPr lIns="0" tIns="0" rIns="0" bIns="0" rtlCol="0" anchor="t">
            <a:spAutoFit/>
          </a:bodyPr>
          <a:lstStyle/>
          <a:p>
            <a:pPr algn="l">
              <a:lnSpc>
                <a:spcPts val="2475"/>
              </a:lnSpc>
            </a:pPr>
            <a:r>
              <a:rPr lang="en-US" sz="2578" b="1">
                <a:solidFill>
                  <a:srgbClr val="35589A"/>
                </a:solidFill>
                <a:latin typeface="Inter Bold"/>
                <a:ea typeface="Inter Bold"/>
                <a:cs typeface="Inter Bold"/>
                <a:sym typeface="Inter Bold"/>
              </a:rPr>
              <a:t>Mockup</a:t>
            </a:r>
          </a:p>
        </p:txBody>
      </p:sp>
      <p:sp>
        <p:nvSpPr>
          <p:cNvPr id="10" name="TextBox 10"/>
          <p:cNvSpPr txBox="1"/>
          <p:nvPr/>
        </p:nvSpPr>
        <p:spPr>
          <a:xfrm>
            <a:off x="644523" y="486098"/>
            <a:ext cx="9757036" cy="835641"/>
          </a:xfrm>
          <a:prstGeom prst="rect">
            <a:avLst/>
          </a:prstGeom>
        </p:spPr>
        <p:txBody>
          <a:bodyPr lIns="0" tIns="0" rIns="0" bIns="0" rtlCol="0" anchor="t">
            <a:spAutoFit/>
          </a:bodyPr>
          <a:lstStyle/>
          <a:p>
            <a:pPr algn="l">
              <a:lnSpc>
                <a:spcPts val="6219"/>
              </a:lnSpc>
            </a:pPr>
            <a:r>
              <a:rPr lang="en-US" sz="6478" b="1">
                <a:solidFill>
                  <a:srgbClr val="FFFFFF"/>
                </a:solidFill>
                <a:latin typeface="Garet Bold"/>
                <a:ea typeface="Garet Bold"/>
                <a:cs typeface="Garet Bold"/>
                <a:sym typeface="Garet Bold"/>
              </a:rPr>
              <a:t>Length Toggles</a:t>
            </a:r>
          </a:p>
        </p:txBody>
      </p:sp>
      <p:sp>
        <p:nvSpPr>
          <p:cNvPr id="11" name="TextBox 11"/>
          <p:cNvSpPr txBox="1"/>
          <p:nvPr/>
        </p:nvSpPr>
        <p:spPr>
          <a:xfrm>
            <a:off x="7926825" y="1857723"/>
            <a:ext cx="7232504" cy="1647449"/>
          </a:xfrm>
          <a:prstGeom prst="rect">
            <a:avLst/>
          </a:prstGeom>
        </p:spPr>
        <p:txBody>
          <a:bodyPr lIns="0" tIns="0" rIns="0" bIns="0" rtlCol="0" anchor="t">
            <a:spAutoFit/>
          </a:bodyPr>
          <a:lstStyle/>
          <a:p>
            <a:pPr algn="l">
              <a:lnSpc>
                <a:spcPts val="3196"/>
              </a:lnSpc>
            </a:pPr>
            <a:r>
              <a:rPr lang="en-US" sz="2598">
                <a:solidFill>
                  <a:srgbClr val="FFFFFF"/>
                </a:solidFill>
                <a:latin typeface="Futura"/>
                <a:ea typeface="Futura"/>
                <a:cs typeface="Futura"/>
                <a:sym typeface="Futura"/>
              </a:rPr>
              <a:t>This image shows a news feed with clear toggle buttons at the top, allowing the user to filter the displayed articles by their desired length (e.g., "Brief" or "In-Depth").</a:t>
            </a:r>
          </a:p>
        </p:txBody>
      </p:sp>
      <p:sp>
        <p:nvSpPr>
          <p:cNvPr id="12" name="TextBox 12"/>
          <p:cNvSpPr txBox="1"/>
          <p:nvPr/>
        </p:nvSpPr>
        <p:spPr>
          <a:xfrm>
            <a:off x="8080959" y="5665636"/>
            <a:ext cx="9946780" cy="894593"/>
          </a:xfrm>
          <a:prstGeom prst="rect">
            <a:avLst/>
          </a:prstGeom>
        </p:spPr>
        <p:txBody>
          <a:bodyPr lIns="0" tIns="0" rIns="0" bIns="0" rtlCol="0" anchor="t">
            <a:spAutoFit/>
          </a:bodyPr>
          <a:lstStyle/>
          <a:p>
            <a:pPr algn="l">
              <a:lnSpc>
                <a:spcPts val="3319"/>
              </a:lnSpc>
            </a:pPr>
            <a:r>
              <a:rPr lang="en-US" sz="2698" b="1">
                <a:solidFill>
                  <a:srgbClr val="FFFFFF"/>
                </a:solidFill>
                <a:latin typeface="Futura Bold"/>
                <a:ea typeface="Futura Bold"/>
                <a:cs typeface="Futura Bold"/>
                <a:sym typeface="Futura Bold"/>
              </a:rPr>
              <a:t>Time-to-Content Success Rate:</a:t>
            </a:r>
            <a:r>
              <a:rPr lang="en-US" sz="2698">
                <a:solidFill>
                  <a:srgbClr val="FFFFFF"/>
                </a:solidFill>
                <a:latin typeface="Futura"/>
                <a:ea typeface="Futura"/>
                <a:cs typeface="Futura"/>
                <a:sym typeface="Futura"/>
              </a:rPr>
              <a:t> Measure how often users successfully find a story of their desired length on the first click.</a:t>
            </a:r>
          </a:p>
        </p:txBody>
      </p:sp>
      <p:sp>
        <p:nvSpPr>
          <p:cNvPr id="13" name="TextBox 13"/>
          <p:cNvSpPr txBox="1"/>
          <p:nvPr/>
        </p:nvSpPr>
        <p:spPr>
          <a:xfrm>
            <a:off x="8080959" y="5139363"/>
            <a:ext cx="2585838" cy="320601"/>
          </a:xfrm>
          <a:prstGeom prst="rect">
            <a:avLst/>
          </a:prstGeom>
        </p:spPr>
        <p:txBody>
          <a:bodyPr lIns="0" tIns="0" rIns="0" bIns="0" rtlCol="0" anchor="t">
            <a:spAutoFit/>
          </a:bodyPr>
          <a:lstStyle/>
          <a:p>
            <a:pPr algn="l">
              <a:lnSpc>
                <a:spcPts val="2475"/>
              </a:lnSpc>
            </a:pPr>
            <a:r>
              <a:rPr lang="en-US" sz="2578" b="1">
                <a:solidFill>
                  <a:srgbClr val="C2BFC1"/>
                </a:solidFill>
                <a:latin typeface="Inter Bold"/>
                <a:ea typeface="Inter Bold"/>
                <a:cs typeface="Inter Bold"/>
                <a:sym typeface="Inter Bold"/>
              </a:rPr>
              <a:t>Success </a:t>
            </a:r>
            <a:r>
              <a:rPr lang="en-US" sz="2578" b="1" dirty="0">
                <a:solidFill>
                  <a:srgbClr val="C2BFC1"/>
                </a:solidFill>
                <a:latin typeface="Inter Bold"/>
                <a:ea typeface="Inter Bold"/>
                <a:cs typeface="Inter Bold"/>
                <a:sym typeface="Inter Bold"/>
              </a:rPr>
              <a:t>Metric</a:t>
            </a:r>
          </a:p>
        </p:txBody>
      </p:sp>
      <p:sp>
        <p:nvSpPr>
          <p:cNvPr id="14" name="TextBox 14"/>
          <p:cNvSpPr txBox="1"/>
          <p:nvPr/>
        </p:nvSpPr>
        <p:spPr>
          <a:xfrm>
            <a:off x="7926824" y="7810500"/>
            <a:ext cx="10100915" cy="1732793"/>
          </a:xfrm>
          <a:prstGeom prst="rect">
            <a:avLst/>
          </a:prstGeom>
        </p:spPr>
        <p:txBody>
          <a:bodyPr lIns="0" tIns="0" rIns="0" bIns="0" rtlCol="0" anchor="t">
            <a:spAutoFit/>
          </a:bodyPr>
          <a:lstStyle/>
          <a:p>
            <a:pPr marL="582626" lvl="1" indent="-291313" algn="l">
              <a:lnSpc>
                <a:spcPts val="3319"/>
              </a:lnSpc>
              <a:buFont typeface="Arial"/>
              <a:buChar char="•"/>
            </a:pPr>
            <a:r>
              <a:rPr lang="en-US" sz="2698" b="1" dirty="0">
                <a:solidFill>
                  <a:srgbClr val="FFFFFF"/>
                </a:solidFill>
                <a:latin typeface="Futura Bold"/>
                <a:ea typeface="Futura Bold"/>
                <a:cs typeface="Futura Bold"/>
                <a:sym typeface="Futura Bold"/>
              </a:rPr>
              <a:t>Analytics: </a:t>
            </a:r>
            <a:r>
              <a:rPr lang="en-US" sz="2698" dirty="0">
                <a:solidFill>
                  <a:srgbClr val="FFFFFF"/>
                </a:solidFill>
                <a:latin typeface="Futura"/>
                <a:ea typeface="Futura"/>
                <a:cs typeface="Futura"/>
                <a:sym typeface="Futura"/>
              </a:rPr>
              <a:t>Track the App Exit Rate after a user applies the "Brief" or "In-Depth" toggle. </a:t>
            </a:r>
          </a:p>
          <a:p>
            <a:pPr marL="582626" lvl="1" indent="-291313" algn="l">
              <a:lnSpc>
                <a:spcPts val="3319"/>
              </a:lnSpc>
              <a:buFont typeface="Arial"/>
              <a:buChar char="•"/>
            </a:pPr>
            <a:r>
              <a:rPr lang="en-US" sz="2698" b="1" dirty="0">
                <a:solidFill>
                  <a:srgbClr val="FFFFFF"/>
                </a:solidFill>
                <a:latin typeface="Futura Bold"/>
                <a:ea typeface="Futura Bold"/>
                <a:cs typeface="Futura Bold"/>
                <a:sym typeface="Futura Bold"/>
              </a:rPr>
              <a:t>Target: </a:t>
            </a:r>
            <a:r>
              <a:rPr lang="en-US" sz="2698" dirty="0">
                <a:solidFill>
                  <a:srgbClr val="FFFFFF"/>
                </a:solidFill>
                <a:latin typeface="Futura"/>
                <a:ea typeface="Futura"/>
                <a:cs typeface="Futura"/>
                <a:sym typeface="Futura"/>
              </a:rPr>
              <a:t>Reduce the exit rate by 10% compared to the uncontrolled feed.</a:t>
            </a:r>
          </a:p>
        </p:txBody>
      </p:sp>
      <p:sp>
        <p:nvSpPr>
          <p:cNvPr id="15" name="TextBox 15"/>
          <p:cNvSpPr txBox="1"/>
          <p:nvPr/>
        </p:nvSpPr>
        <p:spPr>
          <a:xfrm>
            <a:off x="8080959" y="7369726"/>
            <a:ext cx="2978476" cy="335772"/>
          </a:xfrm>
          <a:prstGeom prst="rect">
            <a:avLst/>
          </a:prstGeom>
        </p:spPr>
        <p:txBody>
          <a:bodyPr lIns="0" tIns="0" rIns="0" bIns="0" rtlCol="0" anchor="t">
            <a:spAutoFit/>
          </a:bodyPr>
          <a:lstStyle/>
          <a:p>
            <a:pPr algn="l">
              <a:lnSpc>
                <a:spcPts val="2475"/>
              </a:lnSpc>
            </a:pPr>
            <a:r>
              <a:rPr lang="en-US" sz="2578" b="1" dirty="0">
                <a:solidFill>
                  <a:srgbClr val="C2BFC1"/>
                </a:solidFill>
                <a:latin typeface="Inter Bold"/>
                <a:ea typeface="Inter Bold"/>
                <a:cs typeface="Inter Bold"/>
                <a:sym typeface="Inter Bold"/>
              </a:rPr>
              <a:t>How to Measure</a:t>
            </a:r>
          </a:p>
        </p:txBody>
      </p:sp>
      <p:grpSp>
        <p:nvGrpSpPr>
          <p:cNvPr id="16" name="Group 16"/>
          <p:cNvGrpSpPr/>
          <p:nvPr/>
        </p:nvGrpSpPr>
        <p:grpSpPr>
          <a:xfrm>
            <a:off x="8044616" y="3934476"/>
            <a:ext cx="7249216" cy="886170"/>
            <a:chOff x="0" y="0"/>
            <a:chExt cx="1909259" cy="233395"/>
          </a:xfrm>
        </p:grpSpPr>
        <p:sp>
          <p:nvSpPr>
            <p:cNvPr id="17" name="Freeform 17"/>
            <p:cNvSpPr/>
            <p:nvPr/>
          </p:nvSpPr>
          <p:spPr>
            <a:xfrm>
              <a:off x="0" y="0"/>
              <a:ext cx="1909259" cy="233395"/>
            </a:xfrm>
            <a:custGeom>
              <a:avLst/>
              <a:gdLst/>
              <a:ahLst/>
              <a:cxnLst/>
              <a:rect l="l" t="t" r="r" b="b"/>
              <a:pathLst>
                <a:path w="1909259" h="233395">
                  <a:moveTo>
                    <a:pt x="0" y="0"/>
                  </a:moveTo>
                  <a:lnTo>
                    <a:pt x="1909259" y="0"/>
                  </a:lnTo>
                  <a:lnTo>
                    <a:pt x="1909259" y="233395"/>
                  </a:lnTo>
                  <a:lnTo>
                    <a:pt x="0" y="233395"/>
                  </a:lnTo>
                  <a:close/>
                </a:path>
              </a:pathLst>
            </a:custGeom>
            <a:solidFill>
              <a:srgbClr val="202020"/>
            </a:solidFill>
          </p:spPr>
          <p:txBody>
            <a:bodyPr/>
            <a:lstStyle/>
            <a:p>
              <a:endParaRPr lang="en-US"/>
            </a:p>
          </p:txBody>
        </p:sp>
        <p:sp>
          <p:nvSpPr>
            <p:cNvPr id="18" name="TextBox 18"/>
            <p:cNvSpPr txBox="1"/>
            <p:nvPr/>
          </p:nvSpPr>
          <p:spPr>
            <a:xfrm>
              <a:off x="0" y="-38100"/>
              <a:ext cx="1909259" cy="271495"/>
            </a:xfrm>
            <a:prstGeom prst="rect">
              <a:avLst/>
            </a:prstGeom>
          </p:spPr>
          <p:txBody>
            <a:bodyPr lIns="50800" tIns="50800" rIns="50800" bIns="50800" rtlCol="0" anchor="ctr"/>
            <a:lstStyle/>
            <a:p>
              <a:pPr algn="ctr">
                <a:lnSpc>
                  <a:spcPts val="2520"/>
                </a:lnSpc>
              </a:pPr>
              <a:endParaRPr/>
            </a:p>
          </p:txBody>
        </p:sp>
      </p:grpSp>
      <p:sp>
        <p:nvSpPr>
          <p:cNvPr id="19" name="TextBox 19"/>
          <p:cNvSpPr txBox="1"/>
          <p:nvPr/>
        </p:nvSpPr>
        <p:spPr>
          <a:xfrm>
            <a:off x="8271438" y="4141789"/>
            <a:ext cx="7022394" cy="546464"/>
          </a:xfrm>
          <a:prstGeom prst="rect">
            <a:avLst/>
          </a:prstGeom>
        </p:spPr>
        <p:txBody>
          <a:bodyPr lIns="0" tIns="0" rIns="0" bIns="0" rtlCol="0" anchor="t">
            <a:spAutoFit/>
          </a:bodyPr>
          <a:lstStyle/>
          <a:p>
            <a:pPr algn="l">
              <a:lnSpc>
                <a:spcPts val="4011"/>
              </a:lnSpc>
            </a:pPr>
            <a:r>
              <a:rPr lang="en-US" sz="4178" b="1">
                <a:solidFill>
                  <a:srgbClr val="FFFFFF"/>
                </a:solidFill>
                <a:latin typeface="Inter Bold"/>
                <a:ea typeface="Inter Bold"/>
                <a:cs typeface="Inter Bold"/>
                <a:sym typeface="Inter Bold"/>
              </a:rPr>
              <a:t>Defining Success Metrics</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2" name="AutoShape 2"/>
          <p:cNvSpPr/>
          <p:nvPr/>
        </p:nvSpPr>
        <p:spPr>
          <a:xfrm rot="-2699999">
            <a:off x="15772690" y="-5296318"/>
            <a:ext cx="4267069" cy="13341001"/>
          </a:xfrm>
          <a:prstGeom prst="rect">
            <a:avLst/>
          </a:prstGeom>
          <a:solidFill>
            <a:srgbClr val="35589A"/>
          </a:solidFill>
        </p:spPr>
        <p:txBody>
          <a:bodyPr/>
          <a:lstStyle/>
          <a:p>
            <a:endParaRPr lang="en-US"/>
          </a:p>
        </p:txBody>
      </p:sp>
      <p:sp>
        <p:nvSpPr>
          <p:cNvPr id="3" name="TextBox 3"/>
          <p:cNvSpPr txBox="1"/>
          <p:nvPr/>
        </p:nvSpPr>
        <p:spPr>
          <a:xfrm>
            <a:off x="1028700" y="1967229"/>
            <a:ext cx="14545252" cy="7853046"/>
          </a:xfrm>
          <a:prstGeom prst="rect">
            <a:avLst/>
          </a:prstGeom>
        </p:spPr>
        <p:txBody>
          <a:bodyPr lIns="0" tIns="0" rIns="0" bIns="0" rtlCol="0" anchor="t">
            <a:spAutoFit/>
          </a:bodyPr>
          <a:lstStyle/>
          <a:p>
            <a:pPr marL="690874" lvl="1" indent="-345437" algn="l">
              <a:lnSpc>
                <a:spcPts val="4479"/>
              </a:lnSpc>
              <a:buFont typeface="Arial"/>
              <a:buChar char="•"/>
            </a:pPr>
            <a:r>
              <a:rPr lang="en-US" sz="3199" b="1">
                <a:solidFill>
                  <a:srgbClr val="FFFFFF"/>
                </a:solidFill>
                <a:latin typeface="Inter Bold"/>
                <a:ea typeface="Inter Bold"/>
                <a:cs typeface="Inter Bold"/>
                <a:sym typeface="Inter Bold"/>
              </a:rPr>
              <a:t>Personalization Failure &amp; Trust Crisis:</a:t>
            </a:r>
            <a:r>
              <a:rPr lang="en-US" sz="3199">
                <a:solidFill>
                  <a:srgbClr val="FFFFFF"/>
                </a:solidFill>
                <a:latin typeface="Inter"/>
                <a:ea typeface="Inter"/>
                <a:cs typeface="Inter"/>
                <a:sym typeface="Inter"/>
              </a:rPr>
              <a:t> </a:t>
            </a:r>
          </a:p>
          <a:p>
            <a:pPr marL="1381748" lvl="2" indent="-460583" algn="l">
              <a:lnSpc>
                <a:spcPts val="4479"/>
              </a:lnSpc>
              <a:buFont typeface="Arial"/>
              <a:buChar char="⚬"/>
            </a:pPr>
            <a:r>
              <a:rPr lang="en-US" sz="3199">
                <a:solidFill>
                  <a:srgbClr val="FFFFFF"/>
                </a:solidFill>
                <a:latin typeface="Inter"/>
                <a:ea typeface="Inter"/>
                <a:cs typeface="Inter"/>
                <a:sym typeface="Inter"/>
              </a:rPr>
              <a:t>Current news AI is largely invisible and ineffective, resulting in 26% of Gen Z users never noticing personalized features and contributing to a 42% trust deficit compared to social/streaming platforms.</a:t>
            </a:r>
          </a:p>
          <a:p>
            <a:pPr marL="690874" lvl="1" indent="-345437" algn="l">
              <a:lnSpc>
                <a:spcPts val="4479"/>
              </a:lnSpc>
              <a:buFont typeface="Arial"/>
              <a:buChar char="•"/>
            </a:pPr>
            <a:r>
              <a:rPr lang="en-US" sz="3199" b="1">
                <a:solidFill>
                  <a:srgbClr val="FFFFFF"/>
                </a:solidFill>
                <a:latin typeface="Inter Bold"/>
                <a:ea typeface="Inter Bold"/>
                <a:cs typeface="Inter Bold"/>
                <a:sym typeface="Inter Bold"/>
              </a:rPr>
              <a:t>Demand for Dimensional Control:</a:t>
            </a:r>
            <a:r>
              <a:rPr lang="en-US" sz="3199">
                <a:solidFill>
                  <a:srgbClr val="FFFFFF"/>
                </a:solidFill>
                <a:latin typeface="Inter"/>
                <a:ea typeface="Inter"/>
                <a:cs typeface="Inter"/>
                <a:sym typeface="Inter"/>
              </a:rPr>
              <a:t> </a:t>
            </a:r>
          </a:p>
          <a:p>
            <a:pPr marL="1381748" lvl="2" indent="-460583" algn="l">
              <a:lnSpc>
                <a:spcPts val="4479"/>
              </a:lnSpc>
              <a:buFont typeface="Arial"/>
              <a:buChar char="⚬"/>
            </a:pPr>
            <a:r>
              <a:rPr lang="en-US" sz="3199">
                <a:solidFill>
                  <a:srgbClr val="FFFFFF"/>
                </a:solidFill>
                <a:latin typeface="Inter"/>
                <a:ea typeface="Inter"/>
                <a:cs typeface="Inter"/>
                <a:sym typeface="Inter"/>
              </a:rPr>
              <a:t>Gen Z is moving past simple topic filtering and demands functional control over the content's delivery dimensions.</a:t>
            </a:r>
          </a:p>
          <a:p>
            <a:pPr marL="690874" lvl="1" indent="-345437" algn="l">
              <a:lnSpc>
                <a:spcPts val="4479"/>
              </a:lnSpc>
              <a:buFont typeface="Arial"/>
              <a:buChar char="•"/>
            </a:pPr>
            <a:r>
              <a:rPr lang="en-US" sz="3199" b="1">
                <a:solidFill>
                  <a:srgbClr val="FFFFFF"/>
                </a:solidFill>
                <a:latin typeface="Inter Bold"/>
                <a:ea typeface="Inter Bold"/>
                <a:cs typeface="Inter Bold"/>
                <a:sym typeface="Inter Bold"/>
              </a:rPr>
              <a:t>The Strategic Shift: </a:t>
            </a:r>
          </a:p>
          <a:p>
            <a:pPr marL="1381748" lvl="2" indent="-460583" algn="l">
              <a:lnSpc>
                <a:spcPts val="4479"/>
              </a:lnSpc>
              <a:buFont typeface="Arial"/>
              <a:buChar char="⚬"/>
            </a:pPr>
            <a:r>
              <a:rPr lang="en-US" sz="3199">
                <a:solidFill>
                  <a:srgbClr val="FFFFFF"/>
                </a:solidFill>
                <a:latin typeface="Inter"/>
                <a:ea typeface="Inter"/>
                <a:cs typeface="Inter"/>
                <a:sym typeface="Inter"/>
              </a:rPr>
              <a:t>he focus must pivot from merely answering "What topics?" to dynamically adapting the news experience based on "How, where, and when," by personalizing factors like article length, media format, and user location.</a:t>
            </a:r>
          </a:p>
          <a:p>
            <a:pPr algn="l">
              <a:lnSpc>
                <a:spcPts val="4479"/>
              </a:lnSpc>
            </a:pPr>
            <a:endParaRPr lang="en-US" sz="3199">
              <a:solidFill>
                <a:srgbClr val="FFFFFF"/>
              </a:solidFill>
              <a:latin typeface="Inter"/>
              <a:ea typeface="Inter"/>
              <a:cs typeface="Inter"/>
              <a:sym typeface="Inter"/>
            </a:endParaRPr>
          </a:p>
        </p:txBody>
      </p:sp>
      <p:sp>
        <p:nvSpPr>
          <p:cNvPr id="4" name="TextBox 4"/>
          <p:cNvSpPr txBox="1"/>
          <p:nvPr/>
        </p:nvSpPr>
        <p:spPr>
          <a:xfrm>
            <a:off x="3600822" y="637538"/>
            <a:ext cx="9401009" cy="906149"/>
          </a:xfrm>
          <a:prstGeom prst="rect">
            <a:avLst/>
          </a:prstGeom>
        </p:spPr>
        <p:txBody>
          <a:bodyPr lIns="0" tIns="0" rIns="0" bIns="0" rtlCol="0" anchor="t">
            <a:spAutoFit/>
          </a:bodyPr>
          <a:lstStyle/>
          <a:p>
            <a:pPr algn="ctr">
              <a:lnSpc>
                <a:spcPts val="6800"/>
              </a:lnSpc>
            </a:pPr>
            <a:r>
              <a:rPr lang="en-US" sz="6800" b="1">
                <a:solidFill>
                  <a:srgbClr val="FFFFFF"/>
                </a:solidFill>
                <a:latin typeface="Garet Bold"/>
                <a:ea typeface="Garet Bold"/>
                <a:cs typeface="Garet Bold"/>
                <a:sym typeface="Garet Bold"/>
              </a:rPr>
              <a:t>Key Takeaways</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flipH="1" flipV="1">
            <a:off x="-8700837" y="285459"/>
            <a:ext cx="17742538" cy="8907185"/>
          </a:xfrm>
          <a:custGeom>
            <a:avLst/>
            <a:gdLst/>
            <a:ahLst/>
            <a:cxnLst/>
            <a:rect l="l" t="t" r="r" b="b"/>
            <a:pathLst>
              <a:path w="17742538" h="8907185">
                <a:moveTo>
                  <a:pt x="17742538" y="8907185"/>
                </a:moveTo>
                <a:lnTo>
                  <a:pt x="0" y="8907185"/>
                </a:lnTo>
                <a:lnTo>
                  <a:pt x="0" y="0"/>
                </a:lnTo>
                <a:lnTo>
                  <a:pt x="17742538" y="0"/>
                </a:lnTo>
                <a:lnTo>
                  <a:pt x="17742538" y="8907185"/>
                </a:lnTo>
                <a:close/>
              </a:path>
            </a:pathLst>
          </a:custGeom>
          <a:blipFill>
            <a:blip r:embed="rId3">
              <a:extLst>
                <a:ext uri="{96DAC541-7B7A-43D3-8B79-37D633B846F1}">
                  <asvg:svgBlip xmlns:asvg="http://schemas.microsoft.com/office/drawing/2016/SVG/main" r:embed="rId4"/>
                </a:ext>
              </a:extLst>
            </a:blip>
            <a:stretch>
              <a:fillRect/>
            </a:stretch>
          </a:blipFill>
        </p:spPr>
        <p:txBody>
          <a:bodyPr/>
          <a:lstStyle/>
          <a:p>
            <a:endParaRPr lang="en-US"/>
          </a:p>
        </p:txBody>
      </p:sp>
      <p:sp>
        <p:nvSpPr>
          <p:cNvPr id="3" name="Freeform 3"/>
          <p:cNvSpPr/>
          <p:nvPr/>
        </p:nvSpPr>
        <p:spPr>
          <a:xfrm>
            <a:off x="2212059" y="1586304"/>
            <a:ext cx="14418141" cy="7524958"/>
          </a:xfrm>
          <a:custGeom>
            <a:avLst/>
            <a:gdLst/>
            <a:ahLst/>
            <a:cxnLst/>
            <a:rect l="l" t="t" r="r" b="b"/>
            <a:pathLst>
              <a:path w="14418141" h="7524958">
                <a:moveTo>
                  <a:pt x="0" y="0"/>
                </a:moveTo>
                <a:lnTo>
                  <a:pt x="14418141" y="0"/>
                </a:lnTo>
                <a:lnTo>
                  <a:pt x="14418141" y="7524958"/>
                </a:lnTo>
                <a:lnTo>
                  <a:pt x="0" y="7524958"/>
                </a:lnTo>
                <a:lnTo>
                  <a:pt x="0" y="0"/>
                </a:lnTo>
                <a:close/>
              </a:path>
            </a:pathLst>
          </a:custGeom>
          <a:blipFill>
            <a:blip r:embed="rId5">
              <a:alphaModFix amt="57000"/>
            </a:blip>
            <a:stretch>
              <a:fillRect l="-12549" t="-26719" b="-158"/>
            </a:stretch>
          </a:blipFill>
        </p:spPr>
        <p:txBody>
          <a:bodyPr/>
          <a:lstStyle/>
          <a:p>
            <a:endParaRPr lang="en-US"/>
          </a:p>
        </p:txBody>
      </p:sp>
      <p:grpSp>
        <p:nvGrpSpPr>
          <p:cNvPr id="4" name="Group 4"/>
          <p:cNvGrpSpPr/>
          <p:nvPr/>
        </p:nvGrpSpPr>
        <p:grpSpPr>
          <a:xfrm>
            <a:off x="2212059" y="1586304"/>
            <a:ext cx="13863882" cy="6964159"/>
            <a:chOff x="0" y="0"/>
            <a:chExt cx="3651393" cy="1834182"/>
          </a:xfrm>
        </p:grpSpPr>
        <p:sp>
          <p:nvSpPr>
            <p:cNvPr id="5" name="Freeform 5"/>
            <p:cNvSpPr/>
            <p:nvPr/>
          </p:nvSpPr>
          <p:spPr>
            <a:xfrm>
              <a:off x="0" y="0"/>
              <a:ext cx="3651393" cy="1834182"/>
            </a:xfrm>
            <a:custGeom>
              <a:avLst/>
              <a:gdLst/>
              <a:ahLst/>
              <a:cxnLst/>
              <a:rect l="l" t="t" r="r" b="b"/>
              <a:pathLst>
                <a:path w="3651393" h="1834182">
                  <a:moveTo>
                    <a:pt x="0" y="0"/>
                  </a:moveTo>
                  <a:lnTo>
                    <a:pt x="3651393" y="0"/>
                  </a:lnTo>
                  <a:lnTo>
                    <a:pt x="3651393" y="1834182"/>
                  </a:lnTo>
                  <a:lnTo>
                    <a:pt x="0" y="1834182"/>
                  </a:lnTo>
                  <a:close/>
                </a:path>
              </a:pathLst>
            </a:custGeom>
            <a:solidFill>
              <a:srgbClr val="2E2E2E"/>
            </a:solidFill>
          </p:spPr>
          <p:txBody>
            <a:bodyPr/>
            <a:lstStyle/>
            <a:p>
              <a:endParaRPr lang="en-US"/>
            </a:p>
          </p:txBody>
        </p:sp>
        <p:sp>
          <p:nvSpPr>
            <p:cNvPr id="6" name="TextBox 6"/>
            <p:cNvSpPr txBox="1"/>
            <p:nvPr/>
          </p:nvSpPr>
          <p:spPr>
            <a:xfrm>
              <a:off x="0" y="-38100"/>
              <a:ext cx="3651393" cy="1872282"/>
            </a:xfrm>
            <a:prstGeom prst="rect">
              <a:avLst/>
            </a:prstGeom>
          </p:spPr>
          <p:txBody>
            <a:bodyPr lIns="50800" tIns="50800" rIns="50800" bIns="50800" rtlCol="0" anchor="ctr"/>
            <a:lstStyle/>
            <a:p>
              <a:pPr algn="ctr">
                <a:lnSpc>
                  <a:spcPts val="2520"/>
                </a:lnSpc>
              </a:pPr>
              <a:endParaRPr/>
            </a:p>
          </p:txBody>
        </p:sp>
      </p:grpSp>
      <p:sp>
        <p:nvSpPr>
          <p:cNvPr id="7" name="Freeform 7"/>
          <p:cNvSpPr/>
          <p:nvPr/>
        </p:nvSpPr>
        <p:spPr>
          <a:xfrm>
            <a:off x="10076564" y="1586304"/>
            <a:ext cx="6025878" cy="3012939"/>
          </a:xfrm>
          <a:custGeom>
            <a:avLst/>
            <a:gdLst/>
            <a:ahLst/>
            <a:cxnLst/>
            <a:rect l="l" t="t" r="r" b="b"/>
            <a:pathLst>
              <a:path w="6025878" h="3012939">
                <a:moveTo>
                  <a:pt x="0" y="0"/>
                </a:moveTo>
                <a:lnTo>
                  <a:pt x="6025879" y="0"/>
                </a:lnTo>
                <a:lnTo>
                  <a:pt x="6025879" y="3012939"/>
                </a:lnTo>
                <a:lnTo>
                  <a:pt x="0" y="3012939"/>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8" name="Freeform 8"/>
          <p:cNvSpPr/>
          <p:nvPr/>
        </p:nvSpPr>
        <p:spPr>
          <a:xfrm rot="5400000">
            <a:off x="13792889" y="6271879"/>
            <a:ext cx="3079405" cy="1539702"/>
          </a:xfrm>
          <a:custGeom>
            <a:avLst/>
            <a:gdLst/>
            <a:ahLst/>
            <a:cxnLst/>
            <a:rect l="l" t="t" r="r" b="b"/>
            <a:pathLst>
              <a:path w="3079405" h="1539702">
                <a:moveTo>
                  <a:pt x="0" y="0"/>
                </a:moveTo>
                <a:lnTo>
                  <a:pt x="3079405" y="0"/>
                </a:lnTo>
                <a:lnTo>
                  <a:pt x="3079405" y="1539703"/>
                </a:lnTo>
                <a:lnTo>
                  <a:pt x="0" y="1539703"/>
                </a:lnTo>
                <a:lnTo>
                  <a:pt x="0" y="0"/>
                </a:lnTo>
                <a:close/>
              </a:path>
            </a:pathLst>
          </a:custGeom>
          <a:blipFill>
            <a:blip r:embed="rId6">
              <a:extLst>
                <a:ext uri="{96DAC541-7B7A-43D3-8B79-37D633B846F1}">
                  <asvg:svgBlip xmlns:asvg="http://schemas.microsoft.com/office/drawing/2016/SVG/main" r:embed="rId7"/>
                </a:ext>
              </a:extLst>
            </a:blip>
            <a:stretch>
              <a:fillRect/>
            </a:stretch>
          </a:blipFill>
        </p:spPr>
        <p:txBody>
          <a:bodyPr/>
          <a:lstStyle/>
          <a:p>
            <a:endParaRPr lang="en-US"/>
          </a:p>
        </p:txBody>
      </p:sp>
      <p:sp>
        <p:nvSpPr>
          <p:cNvPr id="9" name="TextBox 9"/>
          <p:cNvSpPr txBox="1"/>
          <p:nvPr/>
        </p:nvSpPr>
        <p:spPr>
          <a:xfrm>
            <a:off x="2715497" y="3103382"/>
            <a:ext cx="9970191" cy="2040118"/>
          </a:xfrm>
          <a:prstGeom prst="rect">
            <a:avLst/>
          </a:prstGeom>
        </p:spPr>
        <p:txBody>
          <a:bodyPr lIns="0" tIns="0" rIns="0" bIns="0" rtlCol="0" anchor="t">
            <a:spAutoFit/>
          </a:bodyPr>
          <a:lstStyle/>
          <a:p>
            <a:pPr algn="l">
              <a:lnSpc>
                <a:spcPts val="16702"/>
              </a:lnSpc>
            </a:pPr>
            <a:r>
              <a:rPr lang="en-US" sz="11930">
                <a:solidFill>
                  <a:srgbClr val="FFFFFF"/>
                </a:solidFill>
                <a:latin typeface="Garet"/>
                <a:ea typeface="Garet"/>
                <a:cs typeface="Garet"/>
                <a:sym typeface="Garet"/>
              </a:rPr>
              <a:t>THANK</a:t>
            </a:r>
          </a:p>
        </p:txBody>
      </p:sp>
      <p:sp>
        <p:nvSpPr>
          <p:cNvPr id="10" name="TextBox 10"/>
          <p:cNvSpPr txBox="1"/>
          <p:nvPr/>
        </p:nvSpPr>
        <p:spPr>
          <a:xfrm>
            <a:off x="3851405" y="4839783"/>
            <a:ext cx="13238180" cy="2040118"/>
          </a:xfrm>
          <a:prstGeom prst="rect">
            <a:avLst/>
          </a:prstGeom>
        </p:spPr>
        <p:txBody>
          <a:bodyPr lIns="0" tIns="0" rIns="0" bIns="0" rtlCol="0" anchor="t">
            <a:spAutoFit/>
          </a:bodyPr>
          <a:lstStyle/>
          <a:p>
            <a:pPr algn="l">
              <a:lnSpc>
                <a:spcPts val="16702"/>
              </a:lnSpc>
            </a:pPr>
            <a:r>
              <a:rPr lang="en-US" sz="11930" b="1">
                <a:solidFill>
                  <a:srgbClr val="FFFFFF"/>
                </a:solidFill>
                <a:latin typeface="Garet Bold"/>
                <a:ea typeface="Garet Bold"/>
                <a:cs typeface="Garet Bold"/>
                <a:sym typeface="Garet Bold"/>
              </a:rPr>
              <a:t>YOU</a:t>
            </a:r>
          </a:p>
        </p:txBody>
      </p:sp>
      <p:sp>
        <p:nvSpPr>
          <p:cNvPr id="11" name="TextBox 11"/>
          <p:cNvSpPr txBox="1"/>
          <p:nvPr/>
        </p:nvSpPr>
        <p:spPr>
          <a:xfrm rot="-5400000">
            <a:off x="-1508470" y="4899472"/>
            <a:ext cx="5309893" cy="488056"/>
          </a:xfrm>
          <a:prstGeom prst="rect">
            <a:avLst/>
          </a:prstGeom>
        </p:spPr>
        <p:txBody>
          <a:bodyPr lIns="0" tIns="0" rIns="0" bIns="0" rtlCol="0" anchor="t">
            <a:spAutoFit/>
          </a:bodyPr>
          <a:lstStyle/>
          <a:p>
            <a:pPr algn="ctr">
              <a:lnSpc>
                <a:spcPts val="3838"/>
              </a:lnSpc>
            </a:pPr>
            <a:r>
              <a:rPr lang="en-US" sz="3146" spc="2111">
                <a:solidFill>
                  <a:srgbClr val="F6F6E9"/>
                </a:solidFill>
                <a:latin typeface="Garet"/>
                <a:ea typeface="Garet"/>
                <a:cs typeface="Garet"/>
                <a:sym typeface="Garet"/>
              </a:rPr>
              <a:t>GEN Z</a:t>
            </a:r>
          </a:p>
        </p:txBody>
      </p:sp>
      <p:sp>
        <p:nvSpPr>
          <p:cNvPr id="12" name="AutoShape 12"/>
          <p:cNvSpPr/>
          <p:nvPr/>
        </p:nvSpPr>
        <p:spPr>
          <a:xfrm flipV="1">
            <a:off x="1151238" y="7041730"/>
            <a:ext cx="0" cy="1532304"/>
          </a:xfrm>
          <a:prstGeom prst="line">
            <a:avLst/>
          </a:prstGeom>
          <a:ln w="19050" cap="flat">
            <a:solidFill>
              <a:srgbClr val="FFFFFF"/>
            </a:solidFill>
            <a:prstDash val="solid"/>
            <a:headEnd type="none" w="sm" len="sm"/>
            <a:tailEnd type="none" w="sm" len="sm"/>
          </a:ln>
        </p:spPr>
        <p:txBody>
          <a:bodyPr/>
          <a:lstStyle/>
          <a:p>
            <a:endParaRPr lang="en-US"/>
          </a:p>
        </p:txBody>
      </p:sp>
      <p:sp>
        <p:nvSpPr>
          <p:cNvPr id="13" name="AutoShape 13"/>
          <p:cNvSpPr/>
          <p:nvPr/>
        </p:nvSpPr>
        <p:spPr>
          <a:xfrm flipV="1">
            <a:off x="1141713" y="1712966"/>
            <a:ext cx="0" cy="1532304"/>
          </a:xfrm>
          <a:prstGeom prst="line">
            <a:avLst/>
          </a:prstGeom>
          <a:ln w="19050" cap="flat">
            <a:solidFill>
              <a:srgbClr val="FFFFFF"/>
            </a:solidFill>
            <a:prstDash val="solid"/>
            <a:headEnd type="none" w="sm" len="sm"/>
            <a:tailEnd type="none" w="sm" len="sm"/>
          </a:ln>
        </p:spPr>
        <p:txBody>
          <a:bodyPr/>
          <a:lstStyle/>
          <a:p>
            <a:endParaRPr lang="en-US"/>
          </a:p>
        </p:txBody>
      </p:sp>
      <p:sp>
        <p:nvSpPr>
          <p:cNvPr id="14" name="TextBox 14"/>
          <p:cNvSpPr txBox="1"/>
          <p:nvPr/>
        </p:nvSpPr>
        <p:spPr>
          <a:xfrm>
            <a:off x="2715497" y="2228312"/>
            <a:ext cx="4099274" cy="864462"/>
          </a:xfrm>
          <a:prstGeom prst="rect">
            <a:avLst/>
          </a:prstGeom>
        </p:spPr>
        <p:txBody>
          <a:bodyPr lIns="0" tIns="0" rIns="0" bIns="0" rtlCol="0" anchor="t">
            <a:spAutoFit/>
          </a:bodyPr>
          <a:lstStyle/>
          <a:p>
            <a:pPr algn="l">
              <a:lnSpc>
                <a:spcPts val="3360"/>
              </a:lnSpc>
            </a:pPr>
            <a:r>
              <a:rPr lang="en-US" sz="2400">
                <a:solidFill>
                  <a:srgbClr val="FFFFFF"/>
                </a:solidFill>
                <a:latin typeface="Telegraf"/>
                <a:ea typeface="Telegraf"/>
                <a:cs typeface="Telegraf"/>
                <a:sym typeface="Telegraf"/>
              </a:rPr>
              <a:t>AI </a:t>
            </a:r>
          </a:p>
          <a:p>
            <a:pPr algn="l">
              <a:lnSpc>
                <a:spcPts val="3360"/>
              </a:lnSpc>
              <a:spcBef>
                <a:spcPct val="0"/>
              </a:spcBef>
            </a:pPr>
            <a:r>
              <a:rPr lang="en-US" sz="2400">
                <a:solidFill>
                  <a:srgbClr val="FFFFFF"/>
                </a:solidFill>
                <a:latin typeface="Telegraf"/>
                <a:ea typeface="Telegraf"/>
                <a:cs typeface="Telegraf"/>
                <a:sym typeface="Telegraf"/>
              </a:rPr>
              <a:t>PERSONALIZATION</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283</TotalTime>
  <Words>3596</Words>
  <Application>Microsoft Macintosh PowerPoint</Application>
  <PresentationFormat>Custom</PresentationFormat>
  <Paragraphs>368</Paragraphs>
  <Slides>20</Slides>
  <Notes>20</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20</vt:i4>
      </vt:variant>
    </vt:vector>
  </HeadingPairs>
  <TitlesOfParts>
    <vt:vector size="37" baseType="lpstr">
      <vt:lpstr>Kitchakan Bold</vt:lpstr>
      <vt:lpstr>HK Grotesk</vt:lpstr>
      <vt:lpstr>Inter</vt:lpstr>
      <vt:lpstr>Futura Bold</vt:lpstr>
      <vt:lpstr>Telegraf</vt:lpstr>
      <vt:lpstr>Futura</vt:lpstr>
      <vt:lpstr>Times New Roman</vt:lpstr>
      <vt:lpstr>Aptos</vt:lpstr>
      <vt:lpstr>Garet</vt:lpstr>
      <vt:lpstr>Inter Bold</vt:lpstr>
      <vt:lpstr>Arial</vt:lpstr>
      <vt:lpstr>Courier New</vt:lpstr>
      <vt:lpstr>Inter Italics</vt:lpstr>
      <vt:lpstr>Symbol</vt:lpstr>
      <vt:lpstr>Calibri</vt:lpstr>
      <vt:lpstr>Garet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News Corp Gen Z Consumer Insight</dc:title>
  <cp:lastModifiedBy>Lashawn Fofung</cp:lastModifiedBy>
  <cp:revision>41</cp:revision>
  <dcterms:created xsi:type="dcterms:W3CDTF">2006-08-16T00:00:00Z</dcterms:created>
  <dcterms:modified xsi:type="dcterms:W3CDTF">2025-10-15T21:16:03Z</dcterms:modified>
  <dc:identifier>DAG1GDmMIUc</dc:identifier>
</cp:coreProperties>
</file>